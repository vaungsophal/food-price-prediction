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 spc="260">
                <a:solidFill>
                  <a:srgbClr val="2F5D46"/>
                </a:solidFill>
                <a:latin typeface="Consolas"/>
              </a:rPr>
              <a:t>FINAL PROJECT  ·  ARTIFICIAL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0" b="1" i="0">
                <a:solidFill>
                  <a:srgbClr val="191E19"/>
                </a:solidFill>
                <a:latin typeface="Georgia"/>
              </a:rPr>
              <a:t>What 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61488"/>
            <a:ext cx="10545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0" b="0" i="1">
                <a:solidFill>
                  <a:srgbClr val="2F5D46"/>
                </a:solidFill>
                <a:latin typeface="Georgia"/>
              </a:rPr>
              <a:t>will ask next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977639"/>
            <a:ext cx="2926080" cy="0"/>
          </a:xfrm>
          <a:prstGeom prst="line">
            <a:avLst/>
          </a:prstGeom>
          <a:ln w="19050">
            <a:solidFill>
              <a:srgbClr val="4D806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429768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700" b="0" i="0">
                <a:solidFill>
                  <a:srgbClr val="5C625A"/>
                </a:solidFill>
                <a:latin typeface="Segoe UI"/>
              </a:rPr>
              <a:t>Forecasting food commodity prices in Cambodia — from World Food Programme price monitoring to a web app and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 spc="160">
                <a:solidFill>
                  <a:srgbClr val="5C625A"/>
                </a:solidFill>
                <a:latin typeface="Consolas"/>
              </a:rPr>
              <a:t>46 COMMODITIES   ·   76 MARKETS   ·   XGBOOST, PORTED TO TYPESCRIPT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An early warning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only works if it arrives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5029200" cy="361188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5720" cy="3611880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487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200">
                <a:solidFill>
                  <a:srgbClr val="6B2545"/>
                </a:solidFill>
                <a:latin typeface="Consolas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852928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191E19"/>
                </a:solidFill>
                <a:latin typeface="Georgia"/>
              </a:rPr>
              <a:t>No simple food-price forecast exists.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922776"/>
            <a:ext cx="128016" cy="128016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3858768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Prices are public, but hard to use.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636008"/>
            <a:ext cx="128016" cy="128016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4572000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People need warning before prices rise.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5349240"/>
            <a:ext cx="128016" cy="128016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81328" y="5285232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A CSV is not enough for everyday users.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36792" y="2194560"/>
            <a:ext cx="5029200" cy="361188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36792" y="2194560"/>
            <a:ext cx="45720" cy="3611880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2552" y="2487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200">
                <a:solidFill>
                  <a:srgbClr val="2F5D46"/>
                </a:solidFill>
                <a:latin typeface="Consolas"/>
              </a:rPr>
              <a:t>SOLUTION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2852928"/>
            <a:ext cx="4297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 i="0">
                <a:solidFill>
                  <a:srgbClr val="191E19"/>
                </a:solidFill>
                <a:latin typeface="Georgia"/>
              </a:rPr>
              <a:t>Make the forecast easy to reach.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02552" y="3922776"/>
            <a:ext cx="128016" cy="128016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3858768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46 commodities and 76 markets.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02552" y="4636008"/>
            <a:ext cx="128016" cy="128016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95160" y="4572000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Choose a food and market.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02552" y="5349240"/>
            <a:ext cx="128016" cy="128016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5285232"/>
            <a:ext cx="40050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See price history, trend and forecast.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9008" y="370332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200" b="0" i="0">
                <a:solidFill>
                  <a:srgbClr val="2F5D46"/>
                </a:solidFill>
                <a:latin typeface="Consola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199632"/>
            <a:ext cx="96313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60">
                <a:solidFill>
                  <a:srgbClr val="5C625A"/>
                </a:solidFill>
                <a:latin typeface="Consolas"/>
              </a:rPr>
              <a:t>Core claim: this project does not invent new food-price data; it makes public data predictive, accessible and honest about uncertainty.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Twenty-three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of market visits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212848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WFP Global Food Prices — Cambodia (HDX)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OBSERVATIONS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715768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85,107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218688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2003-01-15 to 2026-03-15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4904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COMMODITIES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721608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50 raw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5196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MARKETS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224528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86 raw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5488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727448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usdprice — price per unit in USD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2103120"/>
            <a:ext cx="4480560" cy="356616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0" y="2103120"/>
            <a:ext cx="45720" cy="3566160"/>
          </a:xfrm>
          <a:prstGeom prst="rect">
            <a:avLst/>
          </a:prstGeom>
          <a:solidFill>
            <a:srgbClr val="D99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4231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200">
                <a:solidFill>
                  <a:srgbClr val="5C625A"/>
                </a:solidFill>
                <a:latin typeface="Consolas"/>
              </a:rPr>
              <a:t>FILTERING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5292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91E19"/>
                </a:solidFill>
                <a:latin typeface="Consolas"/>
              </a:rPr>
              <a:t>85,107 rows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09067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everything WFP has recorded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310128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DCD9C9"/>
                </a:solidFill>
                <a:latin typeface="Consolas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54787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91E19"/>
                </a:solidFill>
                <a:latin typeface="Consolas"/>
              </a:rPr>
              <a:t>from 2019 onward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78561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older reporting is sparse and pre-dollarisation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005072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DCD9C9"/>
                </a:solidFill>
                <a:latin typeface="Consolas"/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24281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191E19"/>
                </a:solidFill>
                <a:latin typeface="Consolas"/>
              </a:rPr>
              <a:t>commodities with 300+ 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4805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a series needs history to have a lag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4700016"/>
            <a:ext cx="274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DCD9C9"/>
                </a:solidFill>
                <a:latin typeface="Consolas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49377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 i="0">
                <a:solidFill>
                  <a:srgbClr val="2F5D46"/>
                </a:solidFill>
                <a:latin typeface="Consolas"/>
              </a:rPr>
              <a:t>67,654 modelled rows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17550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46 commodities · 76 markets · 3,280 series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FRAMING IT AS A LEARNING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The split is the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whole experiment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191E19"/>
                </a:solidFill>
                <a:latin typeface="Segoe UI"/>
              </a:rPr>
              <a:t>Each (commodity, market, pricetype) forms a time series. The model predicts the next observation in that series from its own recent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29000"/>
            <a:ext cx="5120640" cy="214884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429000"/>
            <a:ext cx="45720" cy="2148840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200">
                <a:solidFill>
                  <a:srgbClr val="6B2545"/>
                </a:solidFill>
                <a:latin typeface="Consolas"/>
              </a:rPr>
              <a:t>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069080"/>
            <a:ext cx="4389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50" b="0" i="0">
                <a:solidFill>
                  <a:srgbClr val="5C625A"/>
                </a:solidFill>
                <a:latin typeface="Segoe UI"/>
              </a:rPr>
              <a:t>A random train/test split lets the model learn from June to predict April. Prices are autocorrelated, so it scores brilliantly and forecasts nothing. The split has to be chronological.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148840"/>
            <a:ext cx="4663440" cy="342900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2148840"/>
            <a:ext cx="45720" cy="3429000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245059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200">
                <a:solidFill>
                  <a:srgbClr val="5C625A"/>
                </a:solidFill>
                <a:latin typeface="Consolas"/>
              </a:rPr>
              <a:t>CHRONOLOGICAL HOLD-OUT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9260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Cut 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92608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2025-04-15  (85th percentile of dates)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5478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Train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5478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57,878 rows  ·  everything before the cut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169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169664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9,776 rows  ·  everything 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79145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Never seen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791456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the test period, by any model, at any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Ten features,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inside each series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80">
                <a:solidFill>
                  <a:srgbClr val="2F5D46"/>
                </a:solidFill>
                <a:latin typeface="Consolas"/>
              </a:rPr>
              <a:t>PRICE HISTORY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542032"/>
            <a:ext cx="3200400" cy="0"/>
          </a:xfrm>
          <a:prstGeom prst="line">
            <a:avLst/>
          </a:prstGeom>
          <a:ln w="19050">
            <a:solidFill>
              <a:srgbClr val="2F5D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24912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lag_1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the previous reported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9544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lag_3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438144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the price three reports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94176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rolling_mean_3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22776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mean of the last three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24028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80">
                <a:solidFill>
                  <a:srgbClr val="A06D05"/>
                </a:solidFill>
                <a:latin typeface="Consolas"/>
              </a:rPr>
              <a:t>CALENDAR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26280" y="2542032"/>
            <a:ext cx="3200400" cy="0"/>
          </a:xfrm>
          <a:prstGeom prst="line">
            <a:avLst/>
          </a:prstGeom>
          <a:ln w="19050">
            <a:solidFill>
              <a:srgbClr val="A06D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26280" y="2724912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953512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1-12, seasonality of harvest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3209544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quarter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438144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1-4, coarser seasonality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240280"/>
            <a:ext cx="3429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80">
                <a:solidFill>
                  <a:srgbClr val="6B2545"/>
                </a:solidFill>
                <a:latin typeface="Consolas"/>
              </a:rPr>
              <a:t>IDENTITY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229600" y="2542032"/>
            <a:ext cx="3200400" cy="0"/>
          </a:xfrm>
          <a:prstGeom prst="line">
            <a:avLst/>
          </a:prstGeom>
          <a:ln w="19050">
            <a:solidFill>
              <a:srgbClr val="6B25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0" y="2724912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commodity_enc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953512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which food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09544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market_enc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438144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which 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94176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admin1_enc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922776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which province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178808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category_enc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407408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cereals, meat, pulses 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663440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91E19"/>
                </a:solidFill>
                <a:latin typeface="Consolas"/>
              </a:rPr>
              <a:t>pricetype_enc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9204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retail or wholesale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212080"/>
            <a:ext cx="10545775" cy="91440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212080"/>
            <a:ext cx="45720" cy="914400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8720" y="5458968"/>
            <a:ext cx="97228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i="0">
                <a:solidFill>
                  <a:srgbClr val="5C625A"/>
                </a:solidFill>
                <a:latin typeface="Segoe UI"/>
              </a:rPr>
              <a:t>Lags are computed within each series (grouped shift), never across them — a rice price in Battambang can never leak into a pork price in Phnom Penh. Rows without three prior observations are dropped rather than imputed.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Beating “tomorrow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equals today”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50" b="0" i="0">
                <a:solidFill>
                  <a:srgbClr val="5C625A"/>
                </a:solidFill>
                <a:latin typeface="Segoe UI"/>
              </a:rPr>
              <a:t>The naive baseline — predict the last price — already scores R² 0.92, because prices are sticky. It is the number any model has to beat to be worth deploying.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60">
                <a:solidFill>
                  <a:srgbClr val="5C625A"/>
                </a:solidFill>
                <a:latin typeface="Consolas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0632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000" b="0" i="0" spc="160">
                <a:solidFill>
                  <a:srgbClr val="5C625A"/>
                </a:solidFill>
                <a:latin typeface="Consolas"/>
              </a:rPr>
              <a:t>MAE (USD)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30632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000" b="0" i="0" spc="160">
                <a:solidFill>
                  <a:srgbClr val="5C625A"/>
                </a:solidFill>
                <a:latin typeface="Consolas"/>
              </a:rPr>
              <a:t>RMSE (USD)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3063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000" b="0" i="0" spc="160">
                <a:solidFill>
                  <a:srgbClr val="5C625A"/>
                </a:solidFill>
                <a:latin typeface="Consolas"/>
              </a:rPr>
              <a:t>R²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355848"/>
            <a:ext cx="10545775" cy="0"/>
          </a:xfrm>
          <a:prstGeom prst="line">
            <a:avLst/>
          </a:prstGeom>
          <a:ln w="12700">
            <a:solidFill>
              <a:srgbClr val="5C6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5661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0" i="0">
                <a:solidFill>
                  <a:srgbClr val="191E19"/>
                </a:solidFill>
                <a:latin typeface="Segoe UI"/>
              </a:rPr>
              <a:t>Naive baseline (lag_1)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58444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Consolas"/>
              </a:rPr>
              <a:t>0.1799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58444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Consolas"/>
              </a:rPr>
              <a:t>0.4088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58444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Consolas"/>
              </a:rPr>
              <a:t>0.9239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708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0" i="0">
                <a:solidFill>
                  <a:srgbClr val="191E19"/>
                </a:solidFill>
                <a:latin typeface="Segoe UI"/>
              </a:rPr>
              <a:t>Random Forest (retrained)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3891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Consolas"/>
              </a:rPr>
              <a:t>0.1690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3891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Consolas"/>
              </a:rPr>
              <a:t>0.3352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3891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Consolas"/>
              </a:rPr>
              <a:t>0.9489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065776"/>
            <a:ext cx="10874959" cy="658368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755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1" i="0">
                <a:solidFill>
                  <a:srgbClr val="2F5D46"/>
                </a:solidFill>
                <a:latin typeface="Segoe UI"/>
              </a:rPr>
              <a:t>XGBoost (final model)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9379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1" i="0">
                <a:solidFill>
                  <a:srgbClr val="2F5D46"/>
                </a:solidFill>
                <a:latin typeface="Consolas"/>
              </a:rPr>
              <a:t>0.1641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519379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1" i="0">
                <a:solidFill>
                  <a:srgbClr val="2F5D46"/>
                </a:solidFill>
                <a:latin typeface="Consolas"/>
              </a:rPr>
              <a:t>0.3303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519379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500" b="1" i="0">
                <a:solidFill>
                  <a:srgbClr val="2F5D46"/>
                </a:solidFill>
                <a:latin typeface="Consolas"/>
              </a:rPr>
              <a:t>0.9504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199632"/>
            <a:ext cx="96313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60">
                <a:solidFill>
                  <a:srgbClr val="5C625A"/>
                </a:solidFill>
                <a:latin typeface="Consolas"/>
              </a:rPr>
              <a:t>Random Forest reproduced locally from the notebook's settings (n=300, depth 15, seed 42).
XGBoost figures come from the trained price_model.pkl itself, evaluated on the held-out period.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The model earns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its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3291840" cy="228600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377440"/>
            <a:ext cx="45720" cy="2286000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 i="0">
                <a:solidFill>
                  <a:srgbClr val="2F5D46"/>
                </a:solidFill>
                <a:latin typeface="Consolas"/>
              </a:rPr>
              <a:t>$0.164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118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40">
                <a:solidFill>
                  <a:srgbClr val="5C625A"/>
                </a:solidFill>
                <a:latin typeface="Consolas"/>
              </a:rPr>
              <a:t>MEAN ABSOLUTE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9319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C625A"/>
                </a:solidFill>
                <a:latin typeface="Segoe UI"/>
              </a:rPr>
              <a:t>on held-out 2025-26 prices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377440"/>
            <a:ext cx="3291840" cy="228600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377440"/>
            <a:ext cx="45720" cy="2286000"/>
          </a:xfrm>
          <a:prstGeom prst="rect">
            <a:avLst/>
          </a:prstGeom>
          <a:solidFill>
            <a:srgbClr val="4D8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 i="0">
                <a:solidFill>
                  <a:srgbClr val="4D8065"/>
                </a:solidFill>
                <a:latin typeface="Consolas"/>
              </a:rPr>
              <a:t>0.950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6118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40">
                <a:solidFill>
                  <a:srgbClr val="5C625A"/>
                </a:solidFill>
                <a:latin typeface="Consolas"/>
              </a:rPr>
              <a:t>R² ON THE TEST 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9319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C625A"/>
                </a:solidFill>
                <a:latin typeface="Segoe UI"/>
              </a:rPr>
              <a:t>variance explained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377440"/>
            <a:ext cx="3291840" cy="228600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2377440"/>
            <a:ext cx="45720" cy="2286000"/>
          </a:xfrm>
          <a:prstGeom prst="rect">
            <a:avLst/>
          </a:prstGeom>
          <a:solidFill>
            <a:srgbClr val="A06D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74320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 i="0">
                <a:solidFill>
                  <a:srgbClr val="A06D05"/>
                </a:solidFill>
                <a:latin typeface="Consolas"/>
              </a:rPr>
              <a:t>8.8%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6118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40">
                <a:solidFill>
                  <a:srgbClr val="5C625A"/>
                </a:solidFill>
                <a:latin typeface="Consolas"/>
              </a:rPr>
              <a:t>BETTER THAN NAIVE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319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C625A"/>
                </a:solidFill>
                <a:latin typeface="Segoe UI"/>
              </a:rPr>
              <a:t>MAE reduction vs. last price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0292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50" b="0" i="0">
                <a:solidFill>
                  <a:srgbClr val="191E19"/>
                </a:solidFill>
                <a:latin typeface="Segoe UI"/>
              </a:rPr>
              <a:t>An average miss of about sixteen US cents on a basket whose prices mostly sit between $0.30 and $3.00 — accurate enough to plan around, not precise enough to trade on. Both halves of that sentence matter.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It learned to 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a very good smoother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rolling_mean_3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2377440"/>
            <a:ext cx="3366672" cy="256032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5360" y="23591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Consolas"/>
              </a:rPr>
              <a:t>68.2%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lag_1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2852928"/>
            <a:ext cx="1475928" cy="256032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4616" y="283464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Consolas"/>
              </a:rPr>
              <a:t>29.9%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category_enc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3328416"/>
            <a:ext cx="18288" cy="256032"/>
          </a:xfrm>
          <a:prstGeom prst="rect">
            <a:avLst/>
          </a:prstGeom>
          <a:solidFill>
            <a:srgbClr val="4D8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6976" y="33101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Consolas"/>
              </a:rPr>
              <a:t>0.4%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85616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commodity_enc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803904"/>
            <a:ext cx="18288" cy="256032"/>
          </a:xfrm>
          <a:prstGeom prst="rect">
            <a:avLst/>
          </a:prstGeom>
          <a:solidFill>
            <a:srgbClr val="4D8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36976" y="37856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Consolas"/>
              </a:rPr>
              <a:t>0.4%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61104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lag_3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4279392"/>
            <a:ext cx="18288" cy="256032"/>
          </a:xfrm>
          <a:prstGeom prst="rect">
            <a:avLst/>
          </a:prstGeom>
          <a:solidFill>
            <a:srgbClr val="4D8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6976" y="426110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Consolas"/>
              </a:rPr>
              <a:t>0.3%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36592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91E19"/>
                </a:solidFill>
                <a:latin typeface="Consolas"/>
              </a:rPr>
              <a:t>quarter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4754880"/>
            <a:ext cx="18288" cy="256032"/>
          </a:xfrm>
          <a:prstGeom prst="rect">
            <a:avLst/>
          </a:prstGeom>
          <a:solidFill>
            <a:srgbClr val="4D80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36976" y="4736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Consolas"/>
              </a:rPr>
              <a:t>0.2%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2240280"/>
            <a:ext cx="3108960" cy="361188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2240280"/>
            <a:ext cx="45720" cy="3611880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2542032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60">
                <a:solidFill>
                  <a:srgbClr val="6B2545"/>
                </a:solidFill>
                <a:latin typeface="Consolas"/>
              </a:rPr>
              <a:t>THE HONEST READING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926080"/>
            <a:ext cx="25146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900" b="1" i="0">
                <a:solidFill>
                  <a:srgbClr val="191E19"/>
                </a:solidFill>
                <a:latin typeface="Georgia"/>
              </a:rPr>
              <a:t>98% of the model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400" b="0" i="0">
                <a:solidFill>
                  <a:srgbClr val="191E19"/>
                </a:solidFill>
                <a:latin typeface="Segoe UI"/>
              </a:rPr>
              <a:t>rests on two features: the recent mean and the last price.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5C625A"/>
                </a:solidFill>
                <a:latin typeface="Segoe UI"/>
              </a:rPr>
              <a:t>Commodity, market, province and season together account for barely two percent. This is a well-calibrated smoother, not a market oracle — and saying so is part of the result.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199632"/>
            <a:ext cx="96313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60">
                <a:solidFill>
                  <a:srgbClr val="5C625A"/>
                </a:solidFill>
                <a:latin typeface="Consolas"/>
              </a:rPr>
              <a:t>Gain-based feature importance from the trained booster.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FROM NOTEBOOK TO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The model fit.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The libraries didn’t.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191E19"/>
                </a:solidFill>
                <a:latin typeface="Segoe UI"/>
              </a:rPr>
              <a:t>A notebook that only runs in Colab isn't a product. Deploying to Vercel's free tier meant meeting a hard limit: 250 MB unzipped per serverless function.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783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191E19"/>
                </a:solidFill>
                <a:latin typeface="Consolas"/>
              </a:rPr>
              <a:t>xgboost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3246120"/>
            <a:ext cx="2048256" cy="219456"/>
          </a:xfrm>
          <a:prstGeom prst="rect">
            <a:avLst/>
          </a:prstGeom>
          <a:solidFill>
            <a:srgbClr val="DCD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32186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84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935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191E19"/>
                </a:solidFill>
                <a:latin typeface="Consolas"/>
              </a:rPr>
              <a:t>scipy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3611880"/>
            <a:ext cx="2706624" cy="219456"/>
          </a:xfrm>
          <a:prstGeom prst="rect">
            <a:avLst/>
          </a:prstGeom>
          <a:solidFill>
            <a:srgbClr val="DCD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35844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111 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95935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191E19"/>
                </a:solidFill>
                <a:latin typeface="Consolas"/>
              </a:rPr>
              <a:t>numpy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3977640"/>
            <a:ext cx="1414272" cy="219456"/>
          </a:xfrm>
          <a:prstGeom prst="rect">
            <a:avLst/>
          </a:prstGeom>
          <a:solidFill>
            <a:srgbClr val="DCD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4592" y="395020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58 MB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2511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191E19"/>
                </a:solidFill>
                <a:latin typeface="Consolas"/>
              </a:rPr>
              <a:t>pandas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4343400"/>
            <a:ext cx="1024128" cy="219456"/>
          </a:xfrm>
          <a:prstGeom prst="rect">
            <a:avLst/>
          </a:prstGeom>
          <a:solidFill>
            <a:srgbClr val="DCD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431596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42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908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191E19"/>
                </a:solidFill>
                <a:latin typeface="Consolas"/>
              </a:rPr>
              <a:t>scikit-learn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4709160"/>
            <a:ext cx="780288" cy="219456"/>
          </a:xfrm>
          <a:prstGeom prst="rect">
            <a:avLst/>
          </a:prstGeom>
          <a:solidFill>
            <a:srgbClr val="DCD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40608" y="468172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32 MB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68880" y="5111496"/>
            <a:ext cx="8778240" cy="0"/>
          </a:xfrm>
          <a:prstGeom prst="line">
            <a:avLst/>
          </a:prstGeom>
          <a:ln w="12700">
            <a:solidFill>
              <a:srgbClr val="DCD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525780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1" i="0">
                <a:solidFill>
                  <a:srgbClr val="191E19"/>
                </a:solidFill>
                <a:latin typeface="Consolas"/>
              </a:rPr>
              <a:t>TOTAL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5248656"/>
            <a:ext cx="7973568" cy="292608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52176" y="5276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1" i="0">
                <a:solidFill>
                  <a:srgbClr val="6B2545"/>
                </a:solidFill>
                <a:latin typeface="Consolas"/>
              </a:rPr>
              <a:t>327 MB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564880" y="3063240"/>
            <a:ext cx="0" cy="2578608"/>
          </a:xfrm>
          <a:prstGeom prst="line">
            <a:avLst/>
          </a:prstGeom>
          <a:ln w="19050">
            <a:solidFill>
              <a:srgbClr val="191E1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73040" y="276148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050" b="0" i="0" spc="140">
                <a:solidFill>
                  <a:srgbClr val="191E19"/>
                </a:solidFill>
                <a:latin typeface="Consolas"/>
              </a:rPr>
              <a:t>250 MB  ·  VERCEL HOBBY LIMIT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The deploy fails before a single prediction is ever 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A boosted tree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just a lot of if-statements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5120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50" b="0" i="0">
                <a:solidFill>
                  <a:srgbClr val="191E19"/>
                </a:solidFill>
                <a:latin typeface="Segoe UI"/>
              </a:rPr>
              <a:t>Training needs XGBoost. Predicting does not. Inference is: walk each tree comparing one feature to one threshold, sum the leaf weights, add the base score. Fifteen lines in any language.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148840"/>
            <a:ext cx="4937760" cy="352044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148840"/>
            <a:ext cx="45720" cy="3520440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39572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function rawPredict(features: number[]): number {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64718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let total = BASE_SCORE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89864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for (const tree of TREES) {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15010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  let node =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4015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  while (tree.l[node] !== -1) {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65302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    node = features[tree.f[node]] &lt; tree.t[node]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90448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      ? tree.l[node]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15594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      : tree.r[node]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440740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 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46588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  total += tree.w[node]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91032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516178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  return total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541324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191E19"/>
                </a:solidFill>
                <a:latin typeface="Consolas"/>
              </a:rPr>
              <a:t>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74903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 i="0">
                <a:solidFill>
                  <a:srgbClr val="2F5D46"/>
                </a:solidFill>
                <a:latin typeface="Consolas"/>
              </a:rPr>
              <a:t>400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7939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trees traversed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374903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 i="0">
                <a:solidFill>
                  <a:srgbClr val="2F5D46"/>
                </a:solidFill>
                <a:latin typeface="Consolas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427939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features each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74903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 i="0">
                <a:solidFill>
                  <a:srgbClr val="2F5D46"/>
                </a:solidFill>
                <a:latin typeface="Consolas"/>
              </a:rPr>
              <a:t>2.4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7939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of JSON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374903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600" b="1" i="0">
                <a:solidFill>
                  <a:srgbClr val="2F5D46"/>
                </a:solidFill>
                <a:latin typeface="Consola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27939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5C625A"/>
                </a:solidFill>
                <a:latin typeface="Segoe UI"/>
              </a:rPr>
              <a:t>ML dependencies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9834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 i="0">
                <a:solidFill>
                  <a:srgbClr val="5C625A"/>
                </a:solidFill>
                <a:latin typeface="Segoe UI"/>
              </a:rPr>
              <a:t>The model exports to JSON: tree arrays, encoder maps, feature order, and a 24-point price history per series. The deployed function ships none of the Python stack.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Two languages,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one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50" b="0" i="0">
                <a:solidFill>
                  <a:srgbClr val="191E19"/>
                </a:solidFill>
                <a:latin typeface="Segoe UI"/>
              </a:rPr>
              <a:t>A port is only worth anything if it agrees with the original. The test suite pins the TypeScript traversal to the Python model's own answer for a known series — a wrong feature order or a flipped comparison changes that number, and nothing else would catch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2148840"/>
            <a:ext cx="5029200" cy="3703320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148840"/>
            <a:ext cx="45720" cy="3703320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450592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 spc="160">
                <a:solidFill>
                  <a:srgbClr val="5C625A"/>
                </a:solidFill>
                <a:latin typeface="Consolas"/>
              </a:rPr>
              <a:t>REFERENCE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34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commodity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8346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191E19"/>
                </a:solidFill>
                <a:latin typeface="Segoe UI"/>
              </a:rPr>
              <a:t>Rice (mixed, low quality)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918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2918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191E19"/>
                </a:solidFill>
                <a:latin typeface="Segoe UI"/>
              </a:rPr>
              <a:t>Phnom Penh  ·  Wholesale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7490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last recorded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7490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191E19"/>
                </a:solidFill>
                <a:latin typeface="Segoe UI"/>
              </a:rPr>
              <a:t>2022-06  ·  $0.44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675120" y="4251960"/>
            <a:ext cx="4297680" cy="0"/>
          </a:xfrm>
          <a:prstGeom prst="line">
            <a:avLst/>
          </a:prstGeom>
          <a:ln w="12700">
            <a:solidFill>
              <a:srgbClr val="DCD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675120" y="446227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python  xgboost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440740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5C625A"/>
                </a:solidFill>
                <a:latin typeface="Consolas"/>
              </a:rPr>
              <a:t>0.458068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99262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5C625A"/>
                </a:solidFill>
                <a:latin typeface="Consolas"/>
              </a:rPr>
              <a:t>typescript  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493776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 i="0">
                <a:solidFill>
                  <a:srgbClr val="2F5D46"/>
                </a:solidFill>
                <a:latin typeface="Consolas"/>
              </a:rPr>
              <a:t>0.458068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56869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5D46"/>
                </a:solidFill>
                <a:latin typeface="Consolas"/>
              </a:rPr>
              <a:t>agree to 1e-5  ·  asserted on every test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34340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 i="0">
                <a:solidFill>
                  <a:srgbClr val="5C625A"/>
                </a:solidFill>
                <a:latin typeface="Segoe UI"/>
              </a:rPr>
              <a:t>17 tests cover the traversal, fuzzy matching, forecast periods and every failure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A forecast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can actually open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5577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 i="0">
                <a:solidFill>
                  <a:srgbClr val="191E19"/>
                </a:solidFill>
                <a:latin typeface="Segoe UI"/>
              </a:rPr>
              <a:t>The model is not left in the notebook. Nuxt serves the same prediction engine through a web page and API routes.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92424"/>
            <a:ext cx="54864" cy="438912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33756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 i="0">
                <a:solidFill>
                  <a:srgbClr val="191E19"/>
                </a:solidFill>
                <a:latin typeface="Segoe UI"/>
              </a:rPr>
              <a:t>Browser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337560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80" b="0" i="0">
                <a:solidFill>
                  <a:srgbClr val="5C625A"/>
                </a:solidFill>
                <a:latin typeface="Segoe UI"/>
              </a:rPr>
              <a:t>Choose a commodity and market, then see the latest price, forecast and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0792"/>
            <a:ext cx="54864" cy="438912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95928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 i="0">
                <a:solidFill>
                  <a:srgbClr val="191E19"/>
                </a:solidFill>
                <a:latin typeface="Segoe UI"/>
              </a:rPr>
              <a:t>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995928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80" b="0" i="0">
                <a:solidFill>
                  <a:srgbClr val="5C625A"/>
                </a:solidFill>
                <a:latin typeface="Segoe UI"/>
              </a:rPr>
              <a:t>/api/predict returns the same forecast for the web UI and outside clients.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709160"/>
            <a:ext cx="54864" cy="438912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5429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50" b="1" i="0">
                <a:solidFill>
                  <a:srgbClr val="191E19"/>
                </a:solidFill>
                <a:latin typeface="Segoe UI"/>
              </a:rPr>
              <a:t>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654296"/>
            <a:ext cx="3886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80" b="0" i="0">
                <a:solidFill>
                  <a:srgbClr val="5C625A"/>
                </a:solidFill>
                <a:latin typeface="Segoe UI"/>
              </a:rPr>
              <a:t>Vercel only receives the Nuxt app and JSON artifacts, not Python ML libraries.</a:t>
            </a:r>
          </a:p>
        </p:txBody>
      </p:sp>
      <p:pic>
        <p:nvPicPr>
          <p:cNvPr id="17" name="Picture 16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48640"/>
            <a:ext cx="5070451" cy="5715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6199632"/>
            <a:ext cx="96313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60">
                <a:solidFill>
                  <a:srgbClr val="5C625A"/>
                </a:solidFill>
                <a:latin typeface="Consolas"/>
              </a:rPr>
              <a:t>One trained model, one TypeScript engine, one focused web product.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DESIGN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The forecast must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look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12</a:t>
            </a:r>
          </a:p>
        </p:txBody>
      </p:sp>
      <p:pic>
        <p:nvPicPr>
          <p:cNvPr id="7" name="Picture 6" descr="chart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6583680" cy="32422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2148840"/>
            <a:ext cx="3520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 i="0">
                <a:solidFill>
                  <a:srgbClr val="191E19"/>
                </a:solidFill>
                <a:latin typeface="Segoe UI"/>
              </a:rPr>
              <a:t>A normal line chart can accidentally overpromise. If the predicted point looks exactly like a real observation, the audience reads it as fact.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3776472"/>
            <a:ext cx="146304" cy="146304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370332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191E19"/>
                </a:solidFill>
                <a:latin typeface="Segoe UI"/>
              </a:rPr>
              <a:t>Solid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94106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20" b="0" i="0">
                <a:solidFill>
                  <a:srgbClr val="5C625A"/>
                </a:solidFill>
                <a:latin typeface="Segoe UI"/>
              </a:rPr>
              <a:t>prices actually recorded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4379976"/>
            <a:ext cx="146304" cy="146304"/>
          </a:xfrm>
          <a:prstGeom prst="rect">
            <a:avLst/>
          </a:prstGeom>
          <a:solidFill>
            <a:srgbClr val="A06D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4306824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191E19"/>
                </a:solidFill>
                <a:latin typeface="Segoe UI"/>
              </a:rPr>
              <a:t>Dashed segment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544568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20" b="0" i="0">
                <a:solidFill>
                  <a:srgbClr val="5C625A"/>
                </a:solidFill>
                <a:latin typeface="Segoe UI"/>
              </a:rPr>
              <a:t>model estimate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4983480"/>
            <a:ext cx="146304" cy="146304"/>
          </a:xfrm>
          <a:prstGeom prst="rect">
            <a:avLst/>
          </a:prstGeom>
          <a:solidFill>
            <a:srgbClr val="5C62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4910328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191E19"/>
                </a:solidFill>
                <a:latin typeface="Segoe UI"/>
              </a:rPr>
              <a:t>Hollow 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5148072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20" b="0" i="0">
                <a:solidFill>
                  <a:srgbClr val="5C625A"/>
                </a:solidFill>
                <a:latin typeface="Segoe UI"/>
              </a:rPr>
              <a:t>not an observed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5586984"/>
            <a:ext cx="146304" cy="146304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5513832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191E19"/>
                </a:solidFill>
                <a:latin typeface="Segoe UI"/>
              </a:rPr>
              <a:t>Stale warning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575157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20" b="0" i="0">
                <a:solidFill>
                  <a:srgbClr val="5C625A"/>
                </a:solidFill>
                <a:latin typeface="Segoe UI"/>
              </a:rPr>
              <a:t>shown when the latest real data is 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199632"/>
            <a:ext cx="96313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60">
                <a:solidFill>
                  <a:srgbClr val="5C625A"/>
                </a:solidFill>
                <a:latin typeface="Consolas"/>
              </a:rPr>
              <a:t>The visual design protects the user from confusing an estimate with official market data.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 spc="200">
                <a:solidFill>
                  <a:srgbClr val="5C625A"/>
                </a:solidFill>
                <a:latin typeface="Consolas"/>
              </a:rPr>
              <a:t>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32688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 i="0">
                <a:solidFill>
                  <a:srgbClr val="191E19"/>
                </a:solidFill>
                <a:latin typeface="Georgia"/>
              </a:rPr>
              <a:t>Strong result,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99616"/>
            <a:ext cx="105457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0" i="1">
                <a:solidFill>
                  <a:srgbClr val="2F5D46"/>
                </a:solidFill>
                <a:latin typeface="Georgia"/>
              </a:rPr>
              <a:t>clear 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10058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50" b="0" i="0">
                <a:solidFill>
                  <a:srgbClr val="191E19"/>
                </a:solidFill>
                <a:latin typeface="Segoe UI"/>
              </a:rPr>
              <a:t>The model performs well, but the honest boundary is important: it forecasts from recent prices, so shocks and stale series remain hard.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10545775" cy="804672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063240"/>
            <a:ext cx="45720" cy="804672"/>
          </a:xfrm>
          <a:prstGeom prst="rect">
            <a:avLst/>
          </a:prstGeom>
          <a:solidFill>
            <a:srgbClr val="2F5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46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WHAT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218688"/>
            <a:ext cx="74980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91E19"/>
                </a:solidFill>
                <a:latin typeface="Segoe UI"/>
              </a:rPr>
              <a:t>R2 = 0.950; average error about $0.164 on held-out prices.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23360"/>
            <a:ext cx="10545775" cy="804672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023360"/>
            <a:ext cx="45720" cy="804672"/>
          </a:xfrm>
          <a:prstGeom prst="rect">
            <a:avLst/>
          </a:prstGeom>
          <a:solidFill>
            <a:srgbClr val="6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206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WHAT IS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178808"/>
            <a:ext cx="74980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91E19"/>
                </a:solidFill>
                <a:latin typeface="Segoe UI"/>
              </a:rPr>
              <a:t>Fuel cost, rainfall, import pressure, holidays and local shocks are not in the model.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983480"/>
            <a:ext cx="10545775" cy="804672"/>
          </a:xfrm>
          <a:prstGeom prst="rect">
            <a:avLst/>
          </a:prstGeom>
          <a:solidFill>
            <a:srgbClr val="FCFBF7"/>
          </a:solidFill>
          <a:ln w="12700">
            <a:solidFill>
              <a:srgbClr val="DCD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983480"/>
            <a:ext cx="45720" cy="804672"/>
          </a:xfrm>
          <a:prstGeom prst="rect">
            <a:avLst/>
          </a:prstGeom>
          <a:solidFill>
            <a:srgbClr val="A06D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1663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WHAT I WOULD ADD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74980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91E19"/>
                </a:solidFill>
                <a:latin typeface="Segoe UI"/>
              </a:rPr>
              <a:t>Prediction intervals, external economic/weather features and scheduled monthly retraining.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99632"/>
            <a:ext cx="96313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60">
                <a:solidFill>
                  <a:srgbClr val="5C625A"/>
                </a:solidFill>
                <a:latin typeface="Consolas"/>
              </a:rPr>
              <a:t>This is a credible forecasting prototype, not a replacement for field data or official price monitoring.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 spc="240">
                <a:solidFill>
                  <a:srgbClr val="2F5D46"/>
                </a:solidFill>
                <a:latin typeface="Consolas"/>
              </a:rPr>
              <a:t>FINAL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000" b="1" i="0">
                <a:solidFill>
                  <a:srgbClr val="191E19"/>
                </a:solidFill>
                <a:latin typeface="Georgia"/>
              </a:rPr>
              <a:t>Public data becomes useful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87168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000" b="0" i="1">
                <a:solidFill>
                  <a:srgbClr val="2F5D46"/>
                </a:solidFill>
                <a:latin typeface="Georgia"/>
              </a:rPr>
              <a:t>when it answers tomorrow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520440"/>
            <a:ext cx="2926080" cy="0"/>
          </a:xfrm>
          <a:prstGeom prst="line">
            <a:avLst/>
          </a:prstGeom>
          <a:ln w="19050">
            <a:solidFill>
              <a:srgbClr val="4D806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3886200"/>
            <a:ext cx="78638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800" b="0" i="0">
                <a:solidFill>
                  <a:srgbClr val="191E19"/>
                </a:solidFill>
                <a:latin typeface="Segoe UI"/>
              </a:rPr>
              <a:t>Cambodia already has valuable food-price records. This project shows how AI can turn those records into a small, explainable forecasting tool that ordinary users can reach from a browser.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5780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523036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191E19"/>
                </a:solidFill>
                <a:latin typeface="Segoe UI"/>
              </a:rPr>
              <a:t>WFP Cambodia food prices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2356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559612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191E19"/>
                </a:solidFill>
                <a:latin typeface="Segoe UI"/>
              </a:rPr>
              <a:t>XGBoost regression, tested chronologically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spc="140">
                <a:solidFill>
                  <a:srgbClr val="5C625A"/>
                </a:solidFill>
                <a:latin typeface="Consolas"/>
              </a:rPr>
              <a:t>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596188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191E19"/>
                </a:solidFill>
                <a:latin typeface="Segoe UI"/>
              </a:rPr>
              <a:t>Nuxt web app and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20095" y="634593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950" b="0" i="0" spc="100">
                <a:solidFill>
                  <a:srgbClr val="5C625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