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45775" cy="274320"/>
          </a:xfrm>
          <a:prstGeom prst="rect">
            <a:avLst/>
          </a:prstGeom>
          <a:noFill/>
        </p:spPr>
        <p:txBody>
          <a:bodyPr wrap="square" anchor="t" lIns="0" rIns="0" tIns="0" bIns="0">
            <a:spAutoFit/>
          </a:bodyPr>
          <a:lstStyle/>
          <a:p>
            <a:pPr algn="l">
              <a:lnSpc>
                <a:spcPct val="130000"/>
              </a:lnSpc>
              <a:spcAft>
                <a:spcPts val="0"/>
              </a:spcAft>
            </a:pPr>
            <a:r>
              <a:rPr sz="1100" b="0" i="0" spc="260">
                <a:solidFill>
                  <a:srgbClr val="2F5D46"/>
                </a:solidFill>
                <a:latin typeface="Consolas"/>
              </a:rPr>
              <a:t>FINAL PROJECT  ·  ARTIFICIAL INTELLIGENCE</a:t>
            </a:r>
          </a:p>
        </p:txBody>
      </p:sp>
      <p:sp>
        <p:nvSpPr>
          <p:cNvPr id="4" name="TextBox 3"/>
          <p:cNvSpPr txBox="1"/>
          <p:nvPr/>
        </p:nvSpPr>
        <p:spPr>
          <a:xfrm>
            <a:off x="822960" y="1874519"/>
            <a:ext cx="10545775" cy="1005840"/>
          </a:xfrm>
          <a:prstGeom prst="rect">
            <a:avLst/>
          </a:prstGeom>
          <a:noFill/>
        </p:spPr>
        <p:txBody>
          <a:bodyPr wrap="square" anchor="t" lIns="0" rIns="0" tIns="0" bIns="0">
            <a:spAutoFit/>
          </a:bodyPr>
          <a:lstStyle/>
          <a:p>
            <a:pPr algn="l">
              <a:lnSpc>
                <a:spcPct val="100000"/>
              </a:lnSpc>
              <a:spcAft>
                <a:spcPts val="0"/>
              </a:spcAft>
            </a:pPr>
            <a:r>
              <a:rPr sz="6200" b="1" i="0">
                <a:solidFill>
                  <a:srgbClr val="191E19"/>
                </a:solidFill>
                <a:latin typeface="Georgia"/>
              </a:rPr>
              <a:t>What the market</a:t>
            </a:r>
          </a:p>
        </p:txBody>
      </p:sp>
      <p:sp>
        <p:nvSpPr>
          <p:cNvPr id="5" name="TextBox 4"/>
          <p:cNvSpPr txBox="1"/>
          <p:nvPr/>
        </p:nvSpPr>
        <p:spPr>
          <a:xfrm>
            <a:off x="822960" y="2761488"/>
            <a:ext cx="10545775" cy="1005840"/>
          </a:xfrm>
          <a:prstGeom prst="rect">
            <a:avLst/>
          </a:prstGeom>
          <a:noFill/>
        </p:spPr>
        <p:txBody>
          <a:bodyPr wrap="square" anchor="t" lIns="0" rIns="0" tIns="0" bIns="0">
            <a:spAutoFit/>
          </a:bodyPr>
          <a:lstStyle/>
          <a:p>
            <a:pPr algn="l">
              <a:lnSpc>
                <a:spcPct val="100000"/>
              </a:lnSpc>
              <a:spcAft>
                <a:spcPts val="0"/>
              </a:spcAft>
            </a:pPr>
            <a:r>
              <a:rPr sz="6200" b="0" i="1">
                <a:solidFill>
                  <a:srgbClr val="2F5D46"/>
                </a:solidFill>
                <a:latin typeface="Georgia"/>
              </a:rPr>
              <a:t>will ask next</a:t>
            </a:r>
          </a:p>
        </p:txBody>
      </p:sp>
      <p:cxnSp>
        <p:nvCxnSpPr>
          <p:cNvPr id="6" name="Connector 5"/>
          <p:cNvCxnSpPr/>
          <p:nvPr/>
        </p:nvCxnSpPr>
        <p:spPr>
          <a:xfrm>
            <a:off x="822960" y="3977639"/>
            <a:ext cx="2926080" cy="0"/>
          </a:xfrm>
          <a:prstGeom prst="line">
            <a:avLst/>
          </a:prstGeom>
          <a:ln w="19050">
            <a:solidFill>
              <a:srgbClr val="4D806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297680"/>
            <a:ext cx="7040880" cy="914400"/>
          </a:xfrm>
          <a:prstGeom prst="rect">
            <a:avLst/>
          </a:prstGeom>
          <a:noFill/>
        </p:spPr>
        <p:txBody>
          <a:bodyPr wrap="square" anchor="t" lIns="0" rIns="0" tIns="0" bIns="0">
            <a:spAutoFit/>
          </a:bodyPr>
          <a:lstStyle/>
          <a:p>
            <a:pPr algn="l">
              <a:lnSpc>
                <a:spcPct val="145000"/>
              </a:lnSpc>
              <a:spcAft>
                <a:spcPts val="0"/>
              </a:spcAft>
            </a:pPr>
            <a:r>
              <a:rPr sz="1700" b="0" i="0">
                <a:solidFill>
                  <a:srgbClr val="5C625A"/>
                </a:solidFill>
                <a:latin typeface="Segoe UI"/>
              </a:rPr>
              <a:t>Forecasting food commodity prices in Cambodia — from World Food Programme price monitoring to a live web app and a Telegram bot.</a:t>
            </a:r>
          </a:p>
        </p:txBody>
      </p:sp>
      <p:sp>
        <p:nvSpPr>
          <p:cNvPr id="8" name="TextBox 7"/>
          <p:cNvSpPr txBox="1"/>
          <p:nvPr/>
        </p:nvSpPr>
        <p:spPr>
          <a:xfrm>
            <a:off x="822960" y="5806440"/>
            <a:ext cx="10545775" cy="274320"/>
          </a:xfrm>
          <a:prstGeom prst="rect">
            <a:avLst/>
          </a:prstGeom>
          <a:noFill/>
        </p:spPr>
        <p:txBody>
          <a:bodyPr wrap="square" anchor="t" lIns="0" rIns="0" tIns="0" bIns="0">
            <a:spAutoFit/>
          </a:bodyPr>
          <a:lstStyle/>
          <a:p>
            <a:pPr algn="l">
              <a:lnSpc>
                <a:spcPct val="130000"/>
              </a:lnSpc>
              <a:spcAft>
                <a:spcPts val="0"/>
              </a:spcAft>
            </a:pPr>
            <a:r>
              <a:rPr sz="1100" b="0" i="0" spc="160">
                <a:solidFill>
                  <a:srgbClr val="5C625A"/>
                </a:solidFill>
                <a:latin typeface="Consolas"/>
              </a:rPr>
              <a:t>46 COMMODITIES   ·   76 MARKETS   ·   XGBOOST, PORTED TO TYPESCRIPT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THE QUESTION</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A price is only useful</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before you pay it</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01</a:t>
            </a:r>
          </a:p>
        </p:txBody>
      </p:sp>
      <p:sp>
        <p:nvSpPr>
          <p:cNvPr id="7" name="TextBox 6"/>
          <p:cNvSpPr txBox="1"/>
          <p:nvPr/>
        </p:nvSpPr>
        <p:spPr>
          <a:xfrm>
            <a:off x="822960" y="2286000"/>
            <a:ext cx="5669280" cy="1463040"/>
          </a:xfrm>
          <a:prstGeom prst="rect">
            <a:avLst/>
          </a:prstGeom>
          <a:noFill/>
        </p:spPr>
        <p:txBody>
          <a:bodyPr wrap="square" anchor="t" lIns="0" rIns="0" tIns="0" bIns="0">
            <a:spAutoFit/>
          </a:bodyPr>
          <a:lstStyle/>
          <a:p>
            <a:pPr algn="l">
              <a:lnSpc>
                <a:spcPct val="150000"/>
              </a:lnSpc>
              <a:spcAft>
                <a:spcPts val="0"/>
              </a:spcAft>
            </a:pPr>
            <a:r>
              <a:rPr sz="1700" b="0" i="0">
                <a:solidFill>
                  <a:srgbClr val="191E19"/>
                </a:solidFill>
                <a:latin typeface="Segoe UI"/>
              </a:rPr>
              <a:t>The World Food Programme publishes what food cost in Cambodian markets — twenty-three years of it, updated monthly. What it does not publish is what food will cost next month.</a:t>
            </a:r>
          </a:p>
        </p:txBody>
      </p:sp>
      <p:sp>
        <p:nvSpPr>
          <p:cNvPr id="8" name="TextBox 7"/>
          <p:cNvSpPr txBox="1"/>
          <p:nvPr/>
        </p:nvSpPr>
        <p:spPr>
          <a:xfrm>
            <a:off x="822960" y="4114800"/>
            <a:ext cx="5669280" cy="1371600"/>
          </a:xfrm>
          <a:prstGeom prst="rect">
            <a:avLst/>
          </a:prstGeom>
          <a:noFill/>
        </p:spPr>
        <p:txBody>
          <a:bodyPr wrap="square" anchor="t" lIns="0" rIns="0" tIns="0" bIns="0">
            <a:spAutoFit/>
          </a:bodyPr>
          <a:lstStyle/>
          <a:p>
            <a:pPr algn="l">
              <a:lnSpc>
                <a:spcPct val="150000"/>
              </a:lnSpc>
              <a:spcAft>
                <a:spcPts val="0"/>
              </a:spcAft>
            </a:pPr>
            <a:r>
              <a:rPr sz="1600" b="0" i="0">
                <a:solidFill>
                  <a:srgbClr val="5C625A"/>
                </a:solidFill>
                <a:latin typeface="Segoe UI"/>
              </a:rPr>
              <a:t>That gap is the project: a trader deciding when to buy, a household budgeting for rice, an NGO sizing a food-assistance programme. All of them need the next number, not the last one.</a:t>
            </a:r>
          </a:p>
        </p:txBody>
      </p:sp>
      <p:sp>
        <p:nvSpPr>
          <p:cNvPr id="9" name="Rectangle 8"/>
          <p:cNvSpPr/>
          <p:nvPr/>
        </p:nvSpPr>
        <p:spPr>
          <a:xfrm>
            <a:off x="7040880" y="2194560"/>
            <a:ext cx="4297680" cy="310896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040880" y="2194560"/>
            <a:ext cx="45720" cy="310896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2560320"/>
            <a:ext cx="3657600" cy="274320"/>
          </a:xfrm>
          <a:prstGeom prst="rect">
            <a:avLst/>
          </a:prstGeom>
          <a:noFill/>
        </p:spPr>
        <p:txBody>
          <a:bodyPr wrap="square" anchor="t" lIns="0" rIns="0" tIns="0" bIns="0">
            <a:spAutoFit/>
          </a:bodyPr>
          <a:lstStyle/>
          <a:p>
            <a:pPr algn="l">
              <a:lnSpc>
                <a:spcPct val="130000"/>
              </a:lnSpc>
              <a:spcAft>
                <a:spcPts val="0"/>
              </a:spcAft>
            </a:pPr>
            <a:r>
              <a:rPr sz="1000" b="0" i="0" spc="200">
                <a:solidFill>
                  <a:srgbClr val="5C625A"/>
                </a:solidFill>
                <a:latin typeface="Consolas"/>
              </a:rPr>
              <a:t>SCOPE</a:t>
            </a:r>
          </a:p>
        </p:txBody>
      </p:sp>
      <p:sp>
        <p:nvSpPr>
          <p:cNvPr id="12" name="TextBox 11"/>
          <p:cNvSpPr txBox="1"/>
          <p:nvPr/>
        </p:nvSpPr>
        <p:spPr>
          <a:xfrm>
            <a:off x="7406640" y="3017520"/>
            <a:ext cx="3566160" cy="1828800"/>
          </a:xfrm>
          <a:prstGeom prst="rect">
            <a:avLst/>
          </a:prstGeom>
          <a:noFill/>
        </p:spPr>
        <p:txBody>
          <a:bodyPr wrap="square" anchor="t" lIns="0" rIns="0" tIns="0" bIns="0">
            <a:spAutoFit/>
          </a:bodyPr>
          <a:lstStyle/>
          <a:p>
            <a:pPr algn="l">
              <a:lnSpc>
                <a:spcPct val="140000"/>
              </a:lnSpc>
              <a:spcAft>
                <a:spcPts val="1000"/>
              </a:spcAft>
            </a:pPr>
            <a:r>
              <a:rPr sz="2000" b="1" i="0">
                <a:solidFill>
                  <a:srgbClr val="191E19"/>
                </a:solidFill>
                <a:latin typeface="Georgia"/>
              </a:rPr>
              <a:t>Predict the next reported price</a:t>
            </a:r>
          </a:p>
          <a:p>
            <a:pPr algn="l">
              <a:lnSpc>
                <a:spcPct val="140000"/>
              </a:lnSpc>
              <a:spcAft>
                <a:spcPts val="0"/>
              </a:spcAft>
            </a:pPr>
            <a:r>
              <a:rPr sz="1500" b="0" i="0">
                <a:solidFill>
                  <a:srgbClr val="5C625A"/>
                </a:solidFill>
                <a:latin typeface="Segoe UI"/>
              </a:rPr>
              <a:t>for a given commodity at a given market — and make that answer reachable in two clicks or one chat message.</a:t>
            </a:r>
          </a:p>
        </p:txBody>
      </p:sp>
      <p:sp>
        <p:nvSpPr>
          <p:cNvPr id="13" name="TextBox 12"/>
          <p:cNvSpPr txBox="1"/>
          <p:nvPr/>
        </p:nvSpPr>
        <p:spPr>
          <a:xfrm>
            <a:off x="822960" y="6199632"/>
            <a:ext cx="9631375" cy="457200"/>
          </a:xfrm>
          <a:prstGeom prst="rect">
            <a:avLst/>
          </a:prstGeom>
          <a:noFill/>
        </p:spPr>
        <p:txBody>
          <a:bodyPr wrap="square" anchor="t" lIns="0" rIns="0" tIns="0" bIns="0">
            <a:spAutoFit/>
          </a:bodyPr>
          <a:lstStyle/>
          <a:p>
            <a:pPr algn="l">
              <a:lnSpc>
                <a:spcPct val="135000"/>
              </a:lnSpc>
              <a:spcAft>
                <a:spcPts val="0"/>
              </a:spcAft>
            </a:pPr>
            <a:r>
              <a:rPr sz="950" b="0" i="0" spc="60">
                <a:solidFill>
                  <a:srgbClr val="5C625A"/>
                </a:solidFill>
                <a:latin typeface="Consolas"/>
              </a:rPr>
              <a:t>Not a trading signal. A next-period estimate with its uncertainty made visible.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THE DATA</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Twenty-three years</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of market visits</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02</a:t>
            </a:r>
          </a:p>
        </p:txBody>
      </p:sp>
      <p:sp>
        <p:nvSpPr>
          <p:cNvPr id="7" name="TextBox 6"/>
          <p:cNvSpPr txBox="1"/>
          <p:nvPr/>
        </p:nvSpPr>
        <p:spPr>
          <a:xfrm>
            <a:off x="822960" y="2240280"/>
            <a:ext cx="155448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SOURCE</a:t>
            </a:r>
          </a:p>
        </p:txBody>
      </p:sp>
      <p:sp>
        <p:nvSpPr>
          <p:cNvPr id="8" name="TextBox 7"/>
          <p:cNvSpPr txBox="1"/>
          <p:nvPr/>
        </p:nvSpPr>
        <p:spPr>
          <a:xfrm>
            <a:off x="2560320" y="2212848"/>
            <a:ext cx="3931920" cy="310896"/>
          </a:xfrm>
          <a:prstGeom prst="rect">
            <a:avLst/>
          </a:prstGeom>
          <a:noFill/>
        </p:spPr>
        <p:txBody>
          <a:bodyPr wrap="square" anchor="t" lIns="0" rIns="0" tIns="0" bIns="0">
            <a:spAutoFit/>
          </a:bodyPr>
          <a:lstStyle/>
          <a:p>
            <a:pPr algn="l">
              <a:lnSpc>
                <a:spcPct val="130000"/>
              </a:lnSpc>
              <a:spcAft>
                <a:spcPts val="0"/>
              </a:spcAft>
            </a:pPr>
            <a:r>
              <a:rPr sz="1500" b="0" i="0">
                <a:solidFill>
                  <a:srgbClr val="191E19"/>
                </a:solidFill>
                <a:latin typeface="Segoe UI"/>
              </a:rPr>
              <a:t>WFP Global Food Prices — Cambodia (HDX)</a:t>
            </a:r>
          </a:p>
        </p:txBody>
      </p:sp>
      <p:sp>
        <p:nvSpPr>
          <p:cNvPr id="9" name="TextBox 8"/>
          <p:cNvSpPr txBox="1"/>
          <p:nvPr/>
        </p:nvSpPr>
        <p:spPr>
          <a:xfrm>
            <a:off x="822960" y="2743200"/>
            <a:ext cx="155448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OBSERVATIONS</a:t>
            </a:r>
          </a:p>
        </p:txBody>
      </p:sp>
      <p:sp>
        <p:nvSpPr>
          <p:cNvPr id="10" name="TextBox 9"/>
          <p:cNvSpPr txBox="1"/>
          <p:nvPr/>
        </p:nvSpPr>
        <p:spPr>
          <a:xfrm>
            <a:off x="2560320" y="2715768"/>
            <a:ext cx="3931920" cy="310896"/>
          </a:xfrm>
          <a:prstGeom prst="rect">
            <a:avLst/>
          </a:prstGeom>
          <a:noFill/>
        </p:spPr>
        <p:txBody>
          <a:bodyPr wrap="square" anchor="t" lIns="0" rIns="0" tIns="0" bIns="0">
            <a:spAutoFit/>
          </a:bodyPr>
          <a:lstStyle/>
          <a:p>
            <a:pPr algn="l">
              <a:lnSpc>
                <a:spcPct val="130000"/>
              </a:lnSpc>
              <a:spcAft>
                <a:spcPts val="0"/>
              </a:spcAft>
            </a:pPr>
            <a:r>
              <a:rPr sz="1500" b="0" i="0">
                <a:solidFill>
                  <a:srgbClr val="191E19"/>
                </a:solidFill>
                <a:latin typeface="Segoe UI"/>
              </a:rPr>
              <a:t>85,107</a:t>
            </a:r>
          </a:p>
        </p:txBody>
      </p:sp>
      <p:sp>
        <p:nvSpPr>
          <p:cNvPr id="11" name="TextBox 10"/>
          <p:cNvSpPr txBox="1"/>
          <p:nvPr/>
        </p:nvSpPr>
        <p:spPr>
          <a:xfrm>
            <a:off x="822960" y="3246120"/>
            <a:ext cx="155448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RANGE</a:t>
            </a:r>
          </a:p>
        </p:txBody>
      </p:sp>
      <p:sp>
        <p:nvSpPr>
          <p:cNvPr id="12" name="TextBox 11"/>
          <p:cNvSpPr txBox="1"/>
          <p:nvPr/>
        </p:nvSpPr>
        <p:spPr>
          <a:xfrm>
            <a:off x="2560320" y="3218688"/>
            <a:ext cx="3931920" cy="310896"/>
          </a:xfrm>
          <a:prstGeom prst="rect">
            <a:avLst/>
          </a:prstGeom>
          <a:noFill/>
        </p:spPr>
        <p:txBody>
          <a:bodyPr wrap="square" anchor="t" lIns="0" rIns="0" tIns="0" bIns="0">
            <a:spAutoFit/>
          </a:bodyPr>
          <a:lstStyle/>
          <a:p>
            <a:pPr algn="l">
              <a:lnSpc>
                <a:spcPct val="130000"/>
              </a:lnSpc>
              <a:spcAft>
                <a:spcPts val="0"/>
              </a:spcAft>
            </a:pPr>
            <a:r>
              <a:rPr sz="1500" b="0" i="0">
                <a:solidFill>
                  <a:srgbClr val="191E19"/>
                </a:solidFill>
                <a:latin typeface="Segoe UI"/>
              </a:rPr>
              <a:t>2003-01-15 to 2026-03-15</a:t>
            </a:r>
          </a:p>
        </p:txBody>
      </p:sp>
      <p:sp>
        <p:nvSpPr>
          <p:cNvPr id="13" name="TextBox 12"/>
          <p:cNvSpPr txBox="1"/>
          <p:nvPr/>
        </p:nvSpPr>
        <p:spPr>
          <a:xfrm>
            <a:off x="822960" y="3749040"/>
            <a:ext cx="155448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COMMODITIES</a:t>
            </a:r>
          </a:p>
        </p:txBody>
      </p:sp>
      <p:sp>
        <p:nvSpPr>
          <p:cNvPr id="14" name="TextBox 13"/>
          <p:cNvSpPr txBox="1"/>
          <p:nvPr/>
        </p:nvSpPr>
        <p:spPr>
          <a:xfrm>
            <a:off x="2560320" y="3721608"/>
            <a:ext cx="3931920" cy="310896"/>
          </a:xfrm>
          <a:prstGeom prst="rect">
            <a:avLst/>
          </a:prstGeom>
          <a:noFill/>
        </p:spPr>
        <p:txBody>
          <a:bodyPr wrap="square" anchor="t" lIns="0" rIns="0" tIns="0" bIns="0">
            <a:spAutoFit/>
          </a:bodyPr>
          <a:lstStyle/>
          <a:p>
            <a:pPr algn="l">
              <a:lnSpc>
                <a:spcPct val="130000"/>
              </a:lnSpc>
              <a:spcAft>
                <a:spcPts val="0"/>
              </a:spcAft>
            </a:pPr>
            <a:r>
              <a:rPr sz="1500" b="0" i="0">
                <a:solidFill>
                  <a:srgbClr val="191E19"/>
                </a:solidFill>
                <a:latin typeface="Segoe UI"/>
              </a:rPr>
              <a:t>50 raw</a:t>
            </a:r>
          </a:p>
        </p:txBody>
      </p:sp>
      <p:sp>
        <p:nvSpPr>
          <p:cNvPr id="15" name="TextBox 14"/>
          <p:cNvSpPr txBox="1"/>
          <p:nvPr/>
        </p:nvSpPr>
        <p:spPr>
          <a:xfrm>
            <a:off x="822960" y="4251960"/>
            <a:ext cx="155448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MARKETS</a:t>
            </a:r>
          </a:p>
        </p:txBody>
      </p:sp>
      <p:sp>
        <p:nvSpPr>
          <p:cNvPr id="16" name="TextBox 15"/>
          <p:cNvSpPr txBox="1"/>
          <p:nvPr/>
        </p:nvSpPr>
        <p:spPr>
          <a:xfrm>
            <a:off x="2560320" y="4224528"/>
            <a:ext cx="3931920" cy="310896"/>
          </a:xfrm>
          <a:prstGeom prst="rect">
            <a:avLst/>
          </a:prstGeom>
          <a:noFill/>
        </p:spPr>
        <p:txBody>
          <a:bodyPr wrap="square" anchor="t" lIns="0" rIns="0" tIns="0" bIns="0">
            <a:spAutoFit/>
          </a:bodyPr>
          <a:lstStyle/>
          <a:p>
            <a:pPr algn="l">
              <a:lnSpc>
                <a:spcPct val="130000"/>
              </a:lnSpc>
              <a:spcAft>
                <a:spcPts val="0"/>
              </a:spcAft>
            </a:pPr>
            <a:r>
              <a:rPr sz="1500" b="0" i="0">
                <a:solidFill>
                  <a:srgbClr val="191E19"/>
                </a:solidFill>
                <a:latin typeface="Segoe UI"/>
              </a:rPr>
              <a:t>86 raw</a:t>
            </a:r>
          </a:p>
        </p:txBody>
      </p:sp>
      <p:sp>
        <p:nvSpPr>
          <p:cNvPr id="17" name="TextBox 16"/>
          <p:cNvSpPr txBox="1"/>
          <p:nvPr/>
        </p:nvSpPr>
        <p:spPr>
          <a:xfrm>
            <a:off x="822960" y="4754880"/>
            <a:ext cx="155448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TARGET</a:t>
            </a:r>
          </a:p>
        </p:txBody>
      </p:sp>
      <p:sp>
        <p:nvSpPr>
          <p:cNvPr id="18" name="TextBox 17"/>
          <p:cNvSpPr txBox="1"/>
          <p:nvPr/>
        </p:nvSpPr>
        <p:spPr>
          <a:xfrm>
            <a:off x="2560320" y="4727448"/>
            <a:ext cx="3931920" cy="310896"/>
          </a:xfrm>
          <a:prstGeom prst="rect">
            <a:avLst/>
          </a:prstGeom>
          <a:noFill/>
        </p:spPr>
        <p:txBody>
          <a:bodyPr wrap="square" anchor="t" lIns="0" rIns="0" tIns="0" bIns="0">
            <a:spAutoFit/>
          </a:bodyPr>
          <a:lstStyle/>
          <a:p>
            <a:pPr algn="l">
              <a:lnSpc>
                <a:spcPct val="130000"/>
              </a:lnSpc>
              <a:spcAft>
                <a:spcPts val="0"/>
              </a:spcAft>
            </a:pPr>
            <a:r>
              <a:rPr sz="1500" b="0" i="0">
                <a:solidFill>
                  <a:srgbClr val="191E19"/>
                </a:solidFill>
                <a:latin typeface="Segoe UI"/>
              </a:rPr>
              <a:t>usdprice — price per unit in USD</a:t>
            </a:r>
          </a:p>
        </p:txBody>
      </p:sp>
      <p:sp>
        <p:nvSpPr>
          <p:cNvPr id="19" name="Rectangle 18"/>
          <p:cNvSpPr/>
          <p:nvPr/>
        </p:nvSpPr>
        <p:spPr>
          <a:xfrm>
            <a:off x="6858000" y="2103120"/>
            <a:ext cx="4480560" cy="356616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0" y="2103120"/>
            <a:ext cx="45720" cy="3566160"/>
          </a:xfrm>
          <a:prstGeom prst="rect">
            <a:avLst/>
          </a:prstGeom>
          <a:solidFill>
            <a:srgbClr val="D99A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0" y="2423160"/>
            <a:ext cx="3749039" cy="274320"/>
          </a:xfrm>
          <a:prstGeom prst="rect">
            <a:avLst/>
          </a:prstGeom>
          <a:noFill/>
        </p:spPr>
        <p:txBody>
          <a:bodyPr wrap="square" anchor="t" lIns="0" rIns="0" tIns="0" bIns="0">
            <a:spAutoFit/>
          </a:bodyPr>
          <a:lstStyle/>
          <a:p>
            <a:pPr algn="l">
              <a:lnSpc>
                <a:spcPct val="130000"/>
              </a:lnSpc>
              <a:spcAft>
                <a:spcPts val="0"/>
              </a:spcAft>
            </a:pPr>
            <a:r>
              <a:rPr sz="1000" b="0" i="0" spc="200">
                <a:solidFill>
                  <a:srgbClr val="5C625A"/>
                </a:solidFill>
                <a:latin typeface="Consolas"/>
              </a:rPr>
              <a:t>FILTERING</a:t>
            </a:r>
          </a:p>
        </p:txBody>
      </p:sp>
      <p:sp>
        <p:nvSpPr>
          <p:cNvPr id="22" name="TextBox 21"/>
          <p:cNvSpPr txBox="1"/>
          <p:nvPr/>
        </p:nvSpPr>
        <p:spPr>
          <a:xfrm>
            <a:off x="7223760" y="2852928"/>
            <a:ext cx="3749039" cy="274320"/>
          </a:xfrm>
          <a:prstGeom prst="rect">
            <a:avLst/>
          </a:prstGeom>
          <a:noFill/>
        </p:spPr>
        <p:txBody>
          <a:bodyPr wrap="square" anchor="t" lIns="0" rIns="0" tIns="0" bIns="0">
            <a:spAutoFit/>
          </a:bodyPr>
          <a:lstStyle/>
          <a:p>
            <a:pPr algn="l">
              <a:lnSpc>
                <a:spcPct val="130000"/>
              </a:lnSpc>
              <a:spcAft>
                <a:spcPts val="0"/>
              </a:spcAft>
            </a:pPr>
            <a:r>
              <a:rPr sz="1400" b="0" i="0">
                <a:solidFill>
                  <a:srgbClr val="191E19"/>
                </a:solidFill>
                <a:latin typeface="Consolas"/>
              </a:rPr>
              <a:t>85,107 rows</a:t>
            </a:r>
          </a:p>
        </p:txBody>
      </p:sp>
      <p:sp>
        <p:nvSpPr>
          <p:cNvPr id="23" name="TextBox 22"/>
          <p:cNvSpPr txBox="1"/>
          <p:nvPr/>
        </p:nvSpPr>
        <p:spPr>
          <a:xfrm>
            <a:off x="7223760" y="3090672"/>
            <a:ext cx="3749039"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everything WFP has recorded</a:t>
            </a:r>
          </a:p>
        </p:txBody>
      </p:sp>
      <p:sp>
        <p:nvSpPr>
          <p:cNvPr id="24" name="TextBox 23"/>
          <p:cNvSpPr txBox="1"/>
          <p:nvPr/>
        </p:nvSpPr>
        <p:spPr>
          <a:xfrm>
            <a:off x="7223760" y="3310128"/>
            <a:ext cx="274320" cy="182880"/>
          </a:xfrm>
          <a:prstGeom prst="rect">
            <a:avLst/>
          </a:prstGeom>
          <a:noFill/>
        </p:spPr>
        <p:txBody>
          <a:bodyPr wrap="square" anchor="t" lIns="0" rIns="0" tIns="0" bIns="0">
            <a:spAutoFit/>
          </a:bodyPr>
          <a:lstStyle/>
          <a:p>
            <a:pPr algn="l">
              <a:lnSpc>
                <a:spcPct val="130000"/>
              </a:lnSpc>
              <a:spcAft>
                <a:spcPts val="0"/>
              </a:spcAft>
            </a:pPr>
            <a:r>
              <a:rPr sz="1100" b="0" i="0">
                <a:solidFill>
                  <a:srgbClr val="DCD9C9"/>
                </a:solidFill>
                <a:latin typeface="Consolas"/>
              </a:rPr>
              <a:t>↓</a:t>
            </a:r>
          </a:p>
        </p:txBody>
      </p:sp>
      <p:sp>
        <p:nvSpPr>
          <p:cNvPr id="25" name="TextBox 24"/>
          <p:cNvSpPr txBox="1"/>
          <p:nvPr/>
        </p:nvSpPr>
        <p:spPr>
          <a:xfrm>
            <a:off x="7223760" y="3547872"/>
            <a:ext cx="3749039" cy="274320"/>
          </a:xfrm>
          <a:prstGeom prst="rect">
            <a:avLst/>
          </a:prstGeom>
          <a:noFill/>
        </p:spPr>
        <p:txBody>
          <a:bodyPr wrap="square" anchor="t" lIns="0" rIns="0" tIns="0" bIns="0">
            <a:spAutoFit/>
          </a:bodyPr>
          <a:lstStyle/>
          <a:p>
            <a:pPr algn="l">
              <a:lnSpc>
                <a:spcPct val="130000"/>
              </a:lnSpc>
              <a:spcAft>
                <a:spcPts val="0"/>
              </a:spcAft>
            </a:pPr>
            <a:r>
              <a:rPr sz="1400" b="0" i="0">
                <a:solidFill>
                  <a:srgbClr val="191E19"/>
                </a:solidFill>
                <a:latin typeface="Consolas"/>
              </a:rPr>
              <a:t>from 2019 onward</a:t>
            </a:r>
          </a:p>
        </p:txBody>
      </p:sp>
      <p:sp>
        <p:nvSpPr>
          <p:cNvPr id="26" name="TextBox 25"/>
          <p:cNvSpPr txBox="1"/>
          <p:nvPr/>
        </p:nvSpPr>
        <p:spPr>
          <a:xfrm>
            <a:off x="7223760" y="3785616"/>
            <a:ext cx="3749039"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older reporting is sparse and pre-dollarisation</a:t>
            </a:r>
          </a:p>
        </p:txBody>
      </p:sp>
      <p:sp>
        <p:nvSpPr>
          <p:cNvPr id="27" name="TextBox 26"/>
          <p:cNvSpPr txBox="1"/>
          <p:nvPr/>
        </p:nvSpPr>
        <p:spPr>
          <a:xfrm>
            <a:off x="7223760" y="4005072"/>
            <a:ext cx="274320" cy="182880"/>
          </a:xfrm>
          <a:prstGeom prst="rect">
            <a:avLst/>
          </a:prstGeom>
          <a:noFill/>
        </p:spPr>
        <p:txBody>
          <a:bodyPr wrap="square" anchor="t" lIns="0" rIns="0" tIns="0" bIns="0">
            <a:spAutoFit/>
          </a:bodyPr>
          <a:lstStyle/>
          <a:p>
            <a:pPr algn="l">
              <a:lnSpc>
                <a:spcPct val="130000"/>
              </a:lnSpc>
              <a:spcAft>
                <a:spcPts val="0"/>
              </a:spcAft>
            </a:pPr>
            <a:r>
              <a:rPr sz="1100" b="0" i="0">
                <a:solidFill>
                  <a:srgbClr val="DCD9C9"/>
                </a:solidFill>
                <a:latin typeface="Consolas"/>
              </a:rPr>
              <a:t>↓</a:t>
            </a:r>
          </a:p>
        </p:txBody>
      </p:sp>
      <p:sp>
        <p:nvSpPr>
          <p:cNvPr id="28" name="TextBox 27"/>
          <p:cNvSpPr txBox="1"/>
          <p:nvPr/>
        </p:nvSpPr>
        <p:spPr>
          <a:xfrm>
            <a:off x="7223760" y="4242816"/>
            <a:ext cx="3749039" cy="274320"/>
          </a:xfrm>
          <a:prstGeom prst="rect">
            <a:avLst/>
          </a:prstGeom>
          <a:noFill/>
        </p:spPr>
        <p:txBody>
          <a:bodyPr wrap="square" anchor="t" lIns="0" rIns="0" tIns="0" bIns="0">
            <a:spAutoFit/>
          </a:bodyPr>
          <a:lstStyle/>
          <a:p>
            <a:pPr algn="l">
              <a:lnSpc>
                <a:spcPct val="130000"/>
              </a:lnSpc>
              <a:spcAft>
                <a:spcPts val="0"/>
              </a:spcAft>
            </a:pPr>
            <a:r>
              <a:rPr sz="1400" b="0" i="0">
                <a:solidFill>
                  <a:srgbClr val="191E19"/>
                </a:solidFill>
                <a:latin typeface="Consolas"/>
              </a:rPr>
              <a:t>commodities with 300+ rows</a:t>
            </a:r>
          </a:p>
        </p:txBody>
      </p:sp>
      <p:sp>
        <p:nvSpPr>
          <p:cNvPr id="29" name="TextBox 28"/>
          <p:cNvSpPr txBox="1"/>
          <p:nvPr/>
        </p:nvSpPr>
        <p:spPr>
          <a:xfrm>
            <a:off x="7223760" y="4480560"/>
            <a:ext cx="3749039"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a series needs history to have a lag</a:t>
            </a:r>
          </a:p>
        </p:txBody>
      </p:sp>
      <p:sp>
        <p:nvSpPr>
          <p:cNvPr id="30" name="TextBox 29"/>
          <p:cNvSpPr txBox="1"/>
          <p:nvPr/>
        </p:nvSpPr>
        <p:spPr>
          <a:xfrm>
            <a:off x="7223760" y="4700016"/>
            <a:ext cx="274320" cy="182880"/>
          </a:xfrm>
          <a:prstGeom prst="rect">
            <a:avLst/>
          </a:prstGeom>
          <a:noFill/>
        </p:spPr>
        <p:txBody>
          <a:bodyPr wrap="square" anchor="t" lIns="0" rIns="0" tIns="0" bIns="0">
            <a:spAutoFit/>
          </a:bodyPr>
          <a:lstStyle/>
          <a:p>
            <a:pPr algn="l">
              <a:lnSpc>
                <a:spcPct val="130000"/>
              </a:lnSpc>
              <a:spcAft>
                <a:spcPts val="0"/>
              </a:spcAft>
            </a:pPr>
            <a:r>
              <a:rPr sz="1100" b="0" i="0">
                <a:solidFill>
                  <a:srgbClr val="DCD9C9"/>
                </a:solidFill>
                <a:latin typeface="Consolas"/>
              </a:rPr>
              <a:t>↓</a:t>
            </a:r>
          </a:p>
        </p:txBody>
      </p:sp>
      <p:sp>
        <p:nvSpPr>
          <p:cNvPr id="31" name="TextBox 30"/>
          <p:cNvSpPr txBox="1"/>
          <p:nvPr/>
        </p:nvSpPr>
        <p:spPr>
          <a:xfrm>
            <a:off x="7223760" y="4937760"/>
            <a:ext cx="3749039" cy="274320"/>
          </a:xfrm>
          <a:prstGeom prst="rect">
            <a:avLst/>
          </a:prstGeom>
          <a:noFill/>
        </p:spPr>
        <p:txBody>
          <a:bodyPr wrap="square" anchor="t" lIns="0" rIns="0" tIns="0" bIns="0">
            <a:spAutoFit/>
          </a:bodyPr>
          <a:lstStyle/>
          <a:p>
            <a:pPr algn="l">
              <a:lnSpc>
                <a:spcPct val="130000"/>
              </a:lnSpc>
              <a:spcAft>
                <a:spcPts val="0"/>
              </a:spcAft>
            </a:pPr>
            <a:r>
              <a:rPr sz="1400" b="1" i="0">
                <a:solidFill>
                  <a:srgbClr val="2F5D46"/>
                </a:solidFill>
                <a:latin typeface="Consolas"/>
              </a:rPr>
              <a:t>67,654 modelled rows</a:t>
            </a:r>
          </a:p>
        </p:txBody>
      </p:sp>
      <p:sp>
        <p:nvSpPr>
          <p:cNvPr id="32" name="TextBox 31"/>
          <p:cNvSpPr txBox="1"/>
          <p:nvPr/>
        </p:nvSpPr>
        <p:spPr>
          <a:xfrm>
            <a:off x="7223760" y="5175504"/>
            <a:ext cx="3749039"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46 commodities · 76 markets · 4,035 series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FRAMING IT AS A LEARNING PROBLEM</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The split is the</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whole experiment</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03</a:t>
            </a:r>
          </a:p>
        </p:txBody>
      </p:sp>
      <p:sp>
        <p:nvSpPr>
          <p:cNvPr id="7" name="TextBox 6"/>
          <p:cNvSpPr txBox="1"/>
          <p:nvPr/>
        </p:nvSpPr>
        <p:spPr>
          <a:xfrm>
            <a:off x="822960" y="2240280"/>
            <a:ext cx="5120640" cy="1097280"/>
          </a:xfrm>
          <a:prstGeom prst="rect">
            <a:avLst/>
          </a:prstGeom>
          <a:noFill/>
        </p:spPr>
        <p:txBody>
          <a:bodyPr wrap="square" anchor="t" lIns="0" rIns="0" tIns="0" bIns="0">
            <a:spAutoFit/>
          </a:bodyPr>
          <a:lstStyle/>
          <a:p>
            <a:pPr algn="l">
              <a:lnSpc>
                <a:spcPct val="150000"/>
              </a:lnSpc>
              <a:spcAft>
                <a:spcPts val="0"/>
              </a:spcAft>
            </a:pPr>
            <a:r>
              <a:rPr sz="1600" b="0" i="0">
                <a:solidFill>
                  <a:srgbClr val="191E19"/>
                </a:solidFill>
                <a:latin typeface="Segoe UI"/>
              </a:rPr>
              <a:t>Each (commodity, market, pricetype) forms a time series. The model predicts the next observation in that series from its own recent history.</a:t>
            </a:r>
          </a:p>
        </p:txBody>
      </p:sp>
      <p:sp>
        <p:nvSpPr>
          <p:cNvPr id="8" name="Rectangle 7"/>
          <p:cNvSpPr/>
          <p:nvPr/>
        </p:nvSpPr>
        <p:spPr>
          <a:xfrm>
            <a:off x="822960" y="3429000"/>
            <a:ext cx="5120640" cy="214884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429000"/>
            <a:ext cx="45720" cy="2148840"/>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703320"/>
            <a:ext cx="4389120" cy="274320"/>
          </a:xfrm>
          <a:prstGeom prst="rect">
            <a:avLst/>
          </a:prstGeom>
          <a:noFill/>
        </p:spPr>
        <p:txBody>
          <a:bodyPr wrap="square" anchor="t" lIns="0" rIns="0" tIns="0" bIns="0">
            <a:spAutoFit/>
          </a:bodyPr>
          <a:lstStyle/>
          <a:p>
            <a:pPr algn="l">
              <a:lnSpc>
                <a:spcPct val="130000"/>
              </a:lnSpc>
              <a:spcAft>
                <a:spcPts val="0"/>
              </a:spcAft>
            </a:pPr>
            <a:r>
              <a:rPr sz="1000" b="0" i="0" spc="200">
                <a:solidFill>
                  <a:srgbClr val="6B2545"/>
                </a:solidFill>
                <a:latin typeface="Consolas"/>
              </a:rPr>
              <a:t>THE TRAP</a:t>
            </a:r>
          </a:p>
        </p:txBody>
      </p:sp>
      <p:sp>
        <p:nvSpPr>
          <p:cNvPr id="11" name="TextBox 10"/>
          <p:cNvSpPr txBox="1"/>
          <p:nvPr/>
        </p:nvSpPr>
        <p:spPr>
          <a:xfrm>
            <a:off x="1188720" y="4069080"/>
            <a:ext cx="4389120" cy="1280160"/>
          </a:xfrm>
          <a:prstGeom prst="rect">
            <a:avLst/>
          </a:prstGeom>
          <a:noFill/>
        </p:spPr>
        <p:txBody>
          <a:bodyPr wrap="square" anchor="t" lIns="0" rIns="0" tIns="0" bIns="0">
            <a:spAutoFit/>
          </a:bodyPr>
          <a:lstStyle/>
          <a:p>
            <a:pPr algn="l">
              <a:lnSpc>
                <a:spcPct val="145000"/>
              </a:lnSpc>
              <a:spcAft>
                <a:spcPts val="0"/>
              </a:spcAft>
            </a:pPr>
            <a:r>
              <a:rPr sz="1450" b="0" i="0">
                <a:solidFill>
                  <a:srgbClr val="5C625A"/>
                </a:solidFill>
                <a:latin typeface="Segoe UI"/>
              </a:rPr>
              <a:t>A random train/test split lets the model learn from June to predict April. Prices are autocorrelated, so it scores brilliantly and forecasts nothing. The split has to be chronological.</a:t>
            </a:r>
          </a:p>
        </p:txBody>
      </p:sp>
      <p:sp>
        <p:nvSpPr>
          <p:cNvPr id="12" name="Rectangle 11"/>
          <p:cNvSpPr/>
          <p:nvPr/>
        </p:nvSpPr>
        <p:spPr>
          <a:xfrm>
            <a:off x="6675120" y="2148840"/>
            <a:ext cx="4663440" cy="342900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75120" y="2148840"/>
            <a:ext cx="45720" cy="342900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0" y="2450592"/>
            <a:ext cx="3931920" cy="274320"/>
          </a:xfrm>
          <a:prstGeom prst="rect">
            <a:avLst/>
          </a:prstGeom>
          <a:noFill/>
        </p:spPr>
        <p:txBody>
          <a:bodyPr wrap="square" anchor="t" lIns="0" rIns="0" tIns="0" bIns="0">
            <a:spAutoFit/>
          </a:bodyPr>
          <a:lstStyle/>
          <a:p>
            <a:pPr algn="l">
              <a:lnSpc>
                <a:spcPct val="130000"/>
              </a:lnSpc>
              <a:spcAft>
                <a:spcPts val="0"/>
              </a:spcAft>
            </a:pPr>
            <a:r>
              <a:rPr sz="1000" b="0" i="0" spc="200">
                <a:solidFill>
                  <a:srgbClr val="5C625A"/>
                </a:solidFill>
                <a:latin typeface="Consolas"/>
              </a:rPr>
              <a:t>CHRONOLOGICAL HOLD-OUT</a:t>
            </a:r>
          </a:p>
        </p:txBody>
      </p:sp>
      <p:sp>
        <p:nvSpPr>
          <p:cNvPr id="15" name="TextBox 14"/>
          <p:cNvSpPr txBox="1"/>
          <p:nvPr/>
        </p:nvSpPr>
        <p:spPr>
          <a:xfrm>
            <a:off x="7040880" y="2926080"/>
            <a:ext cx="1371600" cy="274320"/>
          </a:xfrm>
          <a:prstGeom prst="rect">
            <a:avLst/>
          </a:prstGeom>
          <a:noFill/>
        </p:spPr>
        <p:txBody>
          <a:bodyPr wrap="square" anchor="t" lIns="0" rIns="0" tIns="0" bIns="0">
            <a:spAutoFit/>
          </a:bodyPr>
          <a:lstStyle/>
          <a:p>
            <a:pPr algn="l">
              <a:lnSpc>
                <a:spcPct val="130000"/>
              </a:lnSpc>
              <a:spcAft>
                <a:spcPts val="0"/>
              </a:spcAft>
            </a:pPr>
            <a:r>
              <a:rPr sz="1350" b="0" i="0">
                <a:solidFill>
                  <a:srgbClr val="5C625A"/>
                </a:solidFill>
                <a:latin typeface="Segoe UI"/>
              </a:rPr>
              <a:t>Cut point</a:t>
            </a:r>
          </a:p>
        </p:txBody>
      </p:sp>
      <p:sp>
        <p:nvSpPr>
          <p:cNvPr id="16" name="TextBox 15"/>
          <p:cNvSpPr txBox="1"/>
          <p:nvPr/>
        </p:nvSpPr>
        <p:spPr>
          <a:xfrm>
            <a:off x="8458200" y="2926080"/>
            <a:ext cx="2651760" cy="548640"/>
          </a:xfrm>
          <a:prstGeom prst="rect">
            <a:avLst/>
          </a:prstGeom>
          <a:noFill/>
        </p:spPr>
        <p:txBody>
          <a:bodyPr wrap="square" anchor="t" lIns="0" rIns="0" tIns="0" bIns="0">
            <a:spAutoFit/>
          </a:bodyPr>
          <a:lstStyle/>
          <a:p>
            <a:pPr algn="l">
              <a:lnSpc>
                <a:spcPct val="135000"/>
              </a:lnSpc>
              <a:spcAft>
                <a:spcPts val="0"/>
              </a:spcAft>
            </a:pPr>
            <a:r>
              <a:rPr sz="1250" b="0" i="0">
                <a:solidFill>
                  <a:srgbClr val="191E19"/>
                </a:solidFill>
                <a:latin typeface="Consolas"/>
              </a:rPr>
              <a:t>2025-04-15  (85th percentile of dates)</a:t>
            </a:r>
          </a:p>
        </p:txBody>
      </p:sp>
      <p:sp>
        <p:nvSpPr>
          <p:cNvPr id="17" name="TextBox 16"/>
          <p:cNvSpPr txBox="1"/>
          <p:nvPr/>
        </p:nvSpPr>
        <p:spPr>
          <a:xfrm>
            <a:off x="7040880" y="3547872"/>
            <a:ext cx="1371600" cy="274320"/>
          </a:xfrm>
          <a:prstGeom prst="rect">
            <a:avLst/>
          </a:prstGeom>
          <a:noFill/>
        </p:spPr>
        <p:txBody>
          <a:bodyPr wrap="square" anchor="t" lIns="0" rIns="0" tIns="0" bIns="0">
            <a:spAutoFit/>
          </a:bodyPr>
          <a:lstStyle/>
          <a:p>
            <a:pPr algn="l">
              <a:lnSpc>
                <a:spcPct val="130000"/>
              </a:lnSpc>
              <a:spcAft>
                <a:spcPts val="0"/>
              </a:spcAft>
            </a:pPr>
            <a:r>
              <a:rPr sz="1350" b="0" i="0">
                <a:solidFill>
                  <a:srgbClr val="5C625A"/>
                </a:solidFill>
                <a:latin typeface="Segoe UI"/>
              </a:rPr>
              <a:t>Train</a:t>
            </a:r>
          </a:p>
        </p:txBody>
      </p:sp>
      <p:sp>
        <p:nvSpPr>
          <p:cNvPr id="18" name="TextBox 17"/>
          <p:cNvSpPr txBox="1"/>
          <p:nvPr/>
        </p:nvSpPr>
        <p:spPr>
          <a:xfrm>
            <a:off x="8458200" y="3547872"/>
            <a:ext cx="2651760" cy="548640"/>
          </a:xfrm>
          <a:prstGeom prst="rect">
            <a:avLst/>
          </a:prstGeom>
          <a:noFill/>
        </p:spPr>
        <p:txBody>
          <a:bodyPr wrap="square" anchor="t" lIns="0" rIns="0" tIns="0" bIns="0">
            <a:spAutoFit/>
          </a:bodyPr>
          <a:lstStyle/>
          <a:p>
            <a:pPr algn="l">
              <a:lnSpc>
                <a:spcPct val="135000"/>
              </a:lnSpc>
              <a:spcAft>
                <a:spcPts val="0"/>
              </a:spcAft>
            </a:pPr>
            <a:r>
              <a:rPr sz="1250" b="0" i="0">
                <a:solidFill>
                  <a:srgbClr val="191E19"/>
                </a:solidFill>
                <a:latin typeface="Consolas"/>
              </a:rPr>
              <a:t>57,878 rows  ·  everything before the cut</a:t>
            </a:r>
          </a:p>
        </p:txBody>
      </p:sp>
      <p:sp>
        <p:nvSpPr>
          <p:cNvPr id="19" name="TextBox 18"/>
          <p:cNvSpPr txBox="1"/>
          <p:nvPr/>
        </p:nvSpPr>
        <p:spPr>
          <a:xfrm>
            <a:off x="7040880" y="4169664"/>
            <a:ext cx="1371600" cy="274320"/>
          </a:xfrm>
          <a:prstGeom prst="rect">
            <a:avLst/>
          </a:prstGeom>
          <a:noFill/>
        </p:spPr>
        <p:txBody>
          <a:bodyPr wrap="square" anchor="t" lIns="0" rIns="0" tIns="0" bIns="0">
            <a:spAutoFit/>
          </a:bodyPr>
          <a:lstStyle/>
          <a:p>
            <a:pPr algn="l">
              <a:lnSpc>
                <a:spcPct val="130000"/>
              </a:lnSpc>
              <a:spcAft>
                <a:spcPts val="0"/>
              </a:spcAft>
            </a:pPr>
            <a:r>
              <a:rPr sz="1350" b="0" i="0">
                <a:solidFill>
                  <a:srgbClr val="5C625A"/>
                </a:solidFill>
                <a:latin typeface="Segoe UI"/>
              </a:rPr>
              <a:t>Test</a:t>
            </a:r>
          </a:p>
        </p:txBody>
      </p:sp>
      <p:sp>
        <p:nvSpPr>
          <p:cNvPr id="20" name="TextBox 19"/>
          <p:cNvSpPr txBox="1"/>
          <p:nvPr/>
        </p:nvSpPr>
        <p:spPr>
          <a:xfrm>
            <a:off x="8458200" y="4169664"/>
            <a:ext cx="2651760" cy="548640"/>
          </a:xfrm>
          <a:prstGeom prst="rect">
            <a:avLst/>
          </a:prstGeom>
          <a:noFill/>
        </p:spPr>
        <p:txBody>
          <a:bodyPr wrap="square" anchor="t" lIns="0" rIns="0" tIns="0" bIns="0">
            <a:spAutoFit/>
          </a:bodyPr>
          <a:lstStyle/>
          <a:p>
            <a:pPr algn="l">
              <a:lnSpc>
                <a:spcPct val="135000"/>
              </a:lnSpc>
              <a:spcAft>
                <a:spcPts val="0"/>
              </a:spcAft>
            </a:pPr>
            <a:r>
              <a:rPr sz="1250" b="0" i="0">
                <a:solidFill>
                  <a:srgbClr val="191E19"/>
                </a:solidFill>
                <a:latin typeface="Consolas"/>
              </a:rPr>
              <a:t>9,776 rows  ·  everything after</a:t>
            </a:r>
          </a:p>
        </p:txBody>
      </p:sp>
      <p:sp>
        <p:nvSpPr>
          <p:cNvPr id="21" name="TextBox 20"/>
          <p:cNvSpPr txBox="1"/>
          <p:nvPr/>
        </p:nvSpPr>
        <p:spPr>
          <a:xfrm>
            <a:off x="7040880" y="4791456"/>
            <a:ext cx="1371600" cy="274320"/>
          </a:xfrm>
          <a:prstGeom prst="rect">
            <a:avLst/>
          </a:prstGeom>
          <a:noFill/>
        </p:spPr>
        <p:txBody>
          <a:bodyPr wrap="square" anchor="t" lIns="0" rIns="0" tIns="0" bIns="0">
            <a:spAutoFit/>
          </a:bodyPr>
          <a:lstStyle/>
          <a:p>
            <a:pPr algn="l">
              <a:lnSpc>
                <a:spcPct val="130000"/>
              </a:lnSpc>
              <a:spcAft>
                <a:spcPts val="0"/>
              </a:spcAft>
            </a:pPr>
            <a:r>
              <a:rPr sz="1350" b="0" i="0">
                <a:solidFill>
                  <a:srgbClr val="5C625A"/>
                </a:solidFill>
                <a:latin typeface="Segoe UI"/>
              </a:rPr>
              <a:t>Never seen</a:t>
            </a:r>
          </a:p>
        </p:txBody>
      </p:sp>
      <p:sp>
        <p:nvSpPr>
          <p:cNvPr id="22" name="TextBox 21"/>
          <p:cNvSpPr txBox="1"/>
          <p:nvPr/>
        </p:nvSpPr>
        <p:spPr>
          <a:xfrm>
            <a:off x="8458200" y="4791456"/>
            <a:ext cx="2651760" cy="548640"/>
          </a:xfrm>
          <a:prstGeom prst="rect">
            <a:avLst/>
          </a:prstGeom>
          <a:noFill/>
        </p:spPr>
        <p:txBody>
          <a:bodyPr wrap="square" anchor="t" lIns="0" rIns="0" tIns="0" bIns="0">
            <a:spAutoFit/>
          </a:bodyPr>
          <a:lstStyle/>
          <a:p>
            <a:pPr algn="l">
              <a:lnSpc>
                <a:spcPct val="135000"/>
              </a:lnSpc>
              <a:spcAft>
                <a:spcPts val="0"/>
              </a:spcAft>
            </a:pPr>
            <a:r>
              <a:rPr sz="1250" b="0" i="0">
                <a:solidFill>
                  <a:srgbClr val="191E19"/>
                </a:solidFill>
                <a:latin typeface="Consolas"/>
              </a:rPr>
              <a:t>the test period, by any model, at any point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FEATURE ENGINEERING</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Ten features, built</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inside each series</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04</a:t>
            </a:r>
          </a:p>
        </p:txBody>
      </p:sp>
      <p:sp>
        <p:nvSpPr>
          <p:cNvPr id="7" name="TextBox 6"/>
          <p:cNvSpPr txBox="1"/>
          <p:nvPr/>
        </p:nvSpPr>
        <p:spPr>
          <a:xfrm>
            <a:off x="822960" y="2240280"/>
            <a:ext cx="3429000" cy="274320"/>
          </a:xfrm>
          <a:prstGeom prst="rect">
            <a:avLst/>
          </a:prstGeom>
          <a:noFill/>
        </p:spPr>
        <p:txBody>
          <a:bodyPr wrap="square" anchor="t" lIns="0" rIns="0" tIns="0" bIns="0">
            <a:spAutoFit/>
          </a:bodyPr>
          <a:lstStyle/>
          <a:p>
            <a:pPr algn="l">
              <a:lnSpc>
                <a:spcPct val="130000"/>
              </a:lnSpc>
              <a:spcAft>
                <a:spcPts val="0"/>
              </a:spcAft>
            </a:pPr>
            <a:r>
              <a:rPr sz="1000" b="0" i="0" spc="180">
                <a:solidFill>
                  <a:srgbClr val="2F5D46"/>
                </a:solidFill>
                <a:latin typeface="Consolas"/>
              </a:rPr>
              <a:t>PRICE HISTORY</a:t>
            </a:r>
          </a:p>
        </p:txBody>
      </p:sp>
      <p:cxnSp>
        <p:nvCxnSpPr>
          <p:cNvPr id="8" name="Connector 7"/>
          <p:cNvCxnSpPr/>
          <p:nvPr/>
        </p:nvCxnSpPr>
        <p:spPr>
          <a:xfrm>
            <a:off x="822960" y="2542032"/>
            <a:ext cx="3200400" cy="0"/>
          </a:xfrm>
          <a:prstGeom prst="line">
            <a:avLst/>
          </a:prstGeom>
          <a:ln w="19050">
            <a:solidFill>
              <a:srgbClr val="2F5D4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724912"/>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lag_1</a:t>
            </a:r>
          </a:p>
        </p:txBody>
      </p:sp>
      <p:sp>
        <p:nvSpPr>
          <p:cNvPr id="10" name="TextBox 9"/>
          <p:cNvSpPr txBox="1"/>
          <p:nvPr/>
        </p:nvSpPr>
        <p:spPr>
          <a:xfrm>
            <a:off x="822960" y="2953512"/>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the previous reported price</a:t>
            </a:r>
          </a:p>
        </p:txBody>
      </p:sp>
      <p:sp>
        <p:nvSpPr>
          <p:cNvPr id="11" name="TextBox 10"/>
          <p:cNvSpPr txBox="1"/>
          <p:nvPr/>
        </p:nvSpPr>
        <p:spPr>
          <a:xfrm>
            <a:off x="822960" y="3209544"/>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lag_3</a:t>
            </a:r>
          </a:p>
        </p:txBody>
      </p:sp>
      <p:sp>
        <p:nvSpPr>
          <p:cNvPr id="12" name="TextBox 11"/>
          <p:cNvSpPr txBox="1"/>
          <p:nvPr/>
        </p:nvSpPr>
        <p:spPr>
          <a:xfrm>
            <a:off x="822960" y="3438144"/>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the price three reports back</a:t>
            </a:r>
          </a:p>
        </p:txBody>
      </p:sp>
      <p:sp>
        <p:nvSpPr>
          <p:cNvPr id="13" name="TextBox 12"/>
          <p:cNvSpPr txBox="1"/>
          <p:nvPr/>
        </p:nvSpPr>
        <p:spPr>
          <a:xfrm>
            <a:off x="822960" y="3694176"/>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rolling_mean_3</a:t>
            </a:r>
          </a:p>
        </p:txBody>
      </p:sp>
      <p:sp>
        <p:nvSpPr>
          <p:cNvPr id="14" name="TextBox 13"/>
          <p:cNvSpPr txBox="1"/>
          <p:nvPr/>
        </p:nvSpPr>
        <p:spPr>
          <a:xfrm>
            <a:off x="822960" y="3922776"/>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mean of the last three</a:t>
            </a:r>
          </a:p>
        </p:txBody>
      </p:sp>
      <p:sp>
        <p:nvSpPr>
          <p:cNvPr id="15" name="TextBox 14"/>
          <p:cNvSpPr txBox="1"/>
          <p:nvPr/>
        </p:nvSpPr>
        <p:spPr>
          <a:xfrm>
            <a:off x="4526280" y="2240280"/>
            <a:ext cx="3429000" cy="274320"/>
          </a:xfrm>
          <a:prstGeom prst="rect">
            <a:avLst/>
          </a:prstGeom>
          <a:noFill/>
        </p:spPr>
        <p:txBody>
          <a:bodyPr wrap="square" anchor="t" lIns="0" rIns="0" tIns="0" bIns="0">
            <a:spAutoFit/>
          </a:bodyPr>
          <a:lstStyle/>
          <a:p>
            <a:pPr algn="l">
              <a:lnSpc>
                <a:spcPct val="130000"/>
              </a:lnSpc>
              <a:spcAft>
                <a:spcPts val="0"/>
              </a:spcAft>
            </a:pPr>
            <a:r>
              <a:rPr sz="1000" b="0" i="0" spc="180">
                <a:solidFill>
                  <a:srgbClr val="A06D05"/>
                </a:solidFill>
                <a:latin typeface="Consolas"/>
              </a:rPr>
              <a:t>CALENDAR</a:t>
            </a:r>
          </a:p>
        </p:txBody>
      </p:sp>
      <p:cxnSp>
        <p:nvCxnSpPr>
          <p:cNvPr id="16" name="Connector 15"/>
          <p:cNvCxnSpPr/>
          <p:nvPr/>
        </p:nvCxnSpPr>
        <p:spPr>
          <a:xfrm>
            <a:off x="4526280" y="2542032"/>
            <a:ext cx="3200400" cy="0"/>
          </a:xfrm>
          <a:prstGeom prst="line">
            <a:avLst/>
          </a:prstGeom>
          <a:ln w="19050">
            <a:solidFill>
              <a:srgbClr val="A06D0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526280" y="2724912"/>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month</a:t>
            </a:r>
          </a:p>
        </p:txBody>
      </p:sp>
      <p:sp>
        <p:nvSpPr>
          <p:cNvPr id="18" name="TextBox 17"/>
          <p:cNvSpPr txBox="1"/>
          <p:nvPr/>
        </p:nvSpPr>
        <p:spPr>
          <a:xfrm>
            <a:off x="4526280" y="2953512"/>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1-12, seasonality of harvest</a:t>
            </a:r>
          </a:p>
        </p:txBody>
      </p:sp>
      <p:sp>
        <p:nvSpPr>
          <p:cNvPr id="19" name="TextBox 18"/>
          <p:cNvSpPr txBox="1"/>
          <p:nvPr/>
        </p:nvSpPr>
        <p:spPr>
          <a:xfrm>
            <a:off x="4526280" y="3209544"/>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quarter</a:t>
            </a:r>
          </a:p>
        </p:txBody>
      </p:sp>
      <p:sp>
        <p:nvSpPr>
          <p:cNvPr id="20" name="TextBox 19"/>
          <p:cNvSpPr txBox="1"/>
          <p:nvPr/>
        </p:nvSpPr>
        <p:spPr>
          <a:xfrm>
            <a:off x="4526280" y="3438144"/>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1-4, coarser seasonality</a:t>
            </a:r>
          </a:p>
        </p:txBody>
      </p:sp>
      <p:sp>
        <p:nvSpPr>
          <p:cNvPr id="21" name="TextBox 20"/>
          <p:cNvSpPr txBox="1"/>
          <p:nvPr/>
        </p:nvSpPr>
        <p:spPr>
          <a:xfrm>
            <a:off x="8229600" y="2240280"/>
            <a:ext cx="3429000" cy="274320"/>
          </a:xfrm>
          <a:prstGeom prst="rect">
            <a:avLst/>
          </a:prstGeom>
          <a:noFill/>
        </p:spPr>
        <p:txBody>
          <a:bodyPr wrap="square" anchor="t" lIns="0" rIns="0" tIns="0" bIns="0">
            <a:spAutoFit/>
          </a:bodyPr>
          <a:lstStyle/>
          <a:p>
            <a:pPr algn="l">
              <a:lnSpc>
                <a:spcPct val="130000"/>
              </a:lnSpc>
              <a:spcAft>
                <a:spcPts val="0"/>
              </a:spcAft>
            </a:pPr>
            <a:r>
              <a:rPr sz="1000" b="0" i="0" spc="180">
                <a:solidFill>
                  <a:srgbClr val="6B2545"/>
                </a:solidFill>
                <a:latin typeface="Consolas"/>
              </a:rPr>
              <a:t>IDENTITY</a:t>
            </a:r>
          </a:p>
        </p:txBody>
      </p:sp>
      <p:cxnSp>
        <p:nvCxnSpPr>
          <p:cNvPr id="22" name="Connector 21"/>
          <p:cNvCxnSpPr/>
          <p:nvPr/>
        </p:nvCxnSpPr>
        <p:spPr>
          <a:xfrm>
            <a:off x="8229600" y="2542032"/>
            <a:ext cx="3200400" cy="0"/>
          </a:xfrm>
          <a:prstGeom prst="line">
            <a:avLst/>
          </a:prstGeom>
          <a:ln w="19050">
            <a:solidFill>
              <a:srgbClr val="6B254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229600" y="2724912"/>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commodity_enc</a:t>
            </a:r>
          </a:p>
        </p:txBody>
      </p:sp>
      <p:sp>
        <p:nvSpPr>
          <p:cNvPr id="24" name="TextBox 23"/>
          <p:cNvSpPr txBox="1"/>
          <p:nvPr/>
        </p:nvSpPr>
        <p:spPr>
          <a:xfrm>
            <a:off x="8229600" y="2953512"/>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which food</a:t>
            </a:r>
          </a:p>
        </p:txBody>
      </p:sp>
      <p:sp>
        <p:nvSpPr>
          <p:cNvPr id="25" name="TextBox 24"/>
          <p:cNvSpPr txBox="1"/>
          <p:nvPr/>
        </p:nvSpPr>
        <p:spPr>
          <a:xfrm>
            <a:off x="8229600" y="3209544"/>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market_enc</a:t>
            </a:r>
          </a:p>
        </p:txBody>
      </p:sp>
      <p:sp>
        <p:nvSpPr>
          <p:cNvPr id="26" name="TextBox 25"/>
          <p:cNvSpPr txBox="1"/>
          <p:nvPr/>
        </p:nvSpPr>
        <p:spPr>
          <a:xfrm>
            <a:off x="8229600" y="3438144"/>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which market</a:t>
            </a:r>
          </a:p>
        </p:txBody>
      </p:sp>
      <p:sp>
        <p:nvSpPr>
          <p:cNvPr id="27" name="TextBox 26"/>
          <p:cNvSpPr txBox="1"/>
          <p:nvPr/>
        </p:nvSpPr>
        <p:spPr>
          <a:xfrm>
            <a:off x="8229600" y="3694176"/>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admin1_enc</a:t>
            </a:r>
          </a:p>
        </p:txBody>
      </p:sp>
      <p:sp>
        <p:nvSpPr>
          <p:cNvPr id="28" name="TextBox 27"/>
          <p:cNvSpPr txBox="1"/>
          <p:nvPr/>
        </p:nvSpPr>
        <p:spPr>
          <a:xfrm>
            <a:off x="8229600" y="3922776"/>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which province</a:t>
            </a:r>
          </a:p>
        </p:txBody>
      </p:sp>
      <p:sp>
        <p:nvSpPr>
          <p:cNvPr id="29" name="TextBox 28"/>
          <p:cNvSpPr txBox="1"/>
          <p:nvPr/>
        </p:nvSpPr>
        <p:spPr>
          <a:xfrm>
            <a:off x="8229600" y="4178808"/>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category_enc</a:t>
            </a:r>
          </a:p>
        </p:txBody>
      </p:sp>
      <p:sp>
        <p:nvSpPr>
          <p:cNvPr id="30" name="TextBox 29"/>
          <p:cNvSpPr txBox="1"/>
          <p:nvPr/>
        </p:nvSpPr>
        <p:spPr>
          <a:xfrm>
            <a:off x="8229600" y="4407408"/>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cereals, meat, pulses …</a:t>
            </a:r>
          </a:p>
        </p:txBody>
      </p:sp>
      <p:sp>
        <p:nvSpPr>
          <p:cNvPr id="31" name="TextBox 30"/>
          <p:cNvSpPr txBox="1"/>
          <p:nvPr/>
        </p:nvSpPr>
        <p:spPr>
          <a:xfrm>
            <a:off x="8229600" y="4663440"/>
            <a:ext cx="3429000" cy="256032"/>
          </a:xfrm>
          <a:prstGeom prst="rect">
            <a:avLst/>
          </a:prstGeom>
          <a:noFill/>
        </p:spPr>
        <p:txBody>
          <a:bodyPr wrap="square" anchor="t" lIns="0" rIns="0" tIns="0" bIns="0">
            <a:spAutoFit/>
          </a:bodyPr>
          <a:lstStyle/>
          <a:p>
            <a:pPr algn="l">
              <a:lnSpc>
                <a:spcPct val="130000"/>
              </a:lnSpc>
              <a:spcAft>
                <a:spcPts val="0"/>
              </a:spcAft>
            </a:pPr>
            <a:r>
              <a:rPr sz="1300" b="0" i="0">
                <a:solidFill>
                  <a:srgbClr val="191E19"/>
                </a:solidFill>
                <a:latin typeface="Consolas"/>
              </a:rPr>
              <a:t>pricetype_enc</a:t>
            </a:r>
          </a:p>
        </p:txBody>
      </p:sp>
      <p:sp>
        <p:nvSpPr>
          <p:cNvPr id="32" name="TextBox 31"/>
          <p:cNvSpPr txBox="1"/>
          <p:nvPr/>
        </p:nvSpPr>
        <p:spPr>
          <a:xfrm>
            <a:off x="8229600" y="4892040"/>
            <a:ext cx="315468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retail or wholesale</a:t>
            </a:r>
          </a:p>
        </p:txBody>
      </p:sp>
      <p:sp>
        <p:nvSpPr>
          <p:cNvPr id="33" name="Rectangle 32"/>
          <p:cNvSpPr/>
          <p:nvPr/>
        </p:nvSpPr>
        <p:spPr>
          <a:xfrm>
            <a:off x="822960" y="5212080"/>
            <a:ext cx="10545775" cy="91440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22960" y="5212080"/>
            <a:ext cx="45720" cy="91440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88720" y="5458968"/>
            <a:ext cx="9722815" cy="640080"/>
          </a:xfrm>
          <a:prstGeom prst="rect">
            <a:avLst/>
          </a:prstGeom>
          <a:noFill/>
        </p:spPr>
        <p:txBody>
          <a:bodyPr wrap="square" anchor="t" lIns="0" rIns="0" tIns="0" bIns="0">
            <a:spAutoFit/>
          </a:bodyPr>
          <a:lstStyle/>
          <a:p>
            <a:pPr algn="l">
              <a:lnSpc>
                <a:spcPct val="140000"/>
              </a:lnSpc>
              <a:spcAft>
                <a:spcPts val="0"/>
              </a:spcAft>
            </a:pPr>
            <a:r>
              <a:rPr sz="1350" b="0" i="0">
                <a:solidFill>
                  <a:srgbClr val="5C625A"/>
                </a:solidFill>
                <a:latin typeface="Segoe UI"/>
              </a:rPr>
              <a:t>Lags are computed within each series (grouped shift), never across them — a rice price in Battambang can never leak into a pork price in Phnom Penh. Rows without three prior observations are dropped rather than imputed.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MODEL COMPARISON</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Beating “tomorrow</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equals today”</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05</a:t>
            </a:r>
          </a:p>
        </p:txBody>
      </p:sp>
      <p:sp>
        <p:nvSpPr>
          <p:cNvPr id="7" name="TextBox 6"/>
          <p:cNvSpPr txBox="1"/>
          <p:nvPr/>
        </p:nvSpPr>
        <p:spPr>
          <a:xfrm>
            <a:off x="822960" y="2194560"/>
            <a:ext cx="10058400" cy="731520"/>
          </a:xfrm>
          <a:prstGeom prst="rect">
            <a:avLst/>
          </a:prstGeom>
          <a:noFill/>
        </p:spPr>
        <p:txBody>
          <a:bodyPr wrap="square" anchor="t" lIns="0" rIns="0" tIns="0" bIns="0">
            <a:spAutoFit/>
          </a:bodyPr>
          <a:lstStyle/>
          <a:p>
            <a:pPr algn="l">
              <a:lnSpc>
                <a:spcPct val="145000"/>
              </a:lnSpc>
              <a:spcAft>
                <a:spcPts val="0"/>
              </a:spcAft>
            </a:pPr>
            <a:r>
              <a:rPr sz="1550" b="0" i="0">
                <a:solidFill>
                  <a:srgbClr val="5C625A"/>
                </a:solidFill>
                <a:latin typeface="Segoe UI"/>
              </a:rPr>
              <a:t>The naive baseline — predict the last price — already scores R² 0.92, because prices are sticky. It is the number any model has to beat to be worth deploying.</a:t>
            </a:r>
          </a:p>
        </p:txBody>
      </p:sp>
      <p:sp>
        <p:nvSpPr>
          <p:cNvPr id="8" name="TextBox 7"/>
          <p:cNvSpPr txBox="1"/>
          <p:nvPr/>
        </p:nvSpPr>
        <p:spPr>
          <a:xfrm>
            <a:off x="822960" y="3063240"/>
            <a:ext cx="4206240" cy="274320"/>
          </a:xfrm>
          <a:prstGeom prst="rect">
            <a:avLst/>
          </a:prstGeom>
          <a:noFill/>
        </p:spPr>
        <p:txBody>
          <a:bodyPr wrap="square" anchor="t" lIns="0" rIns="0" tIns="0" bIns="0">
            <a:spAutoFit/>
          </a:bodyPr>
          <a:lstStyle/>
          <a:p>
            <a:pPr algn="l">
              <a:lnSpc>
                <a:spcPct val="130000"/>
              </a:lnSpc>
              <a:spcAft>
                <a:spcPts val="0"/>
              </a:spcAft>
            </a:pPr>
            <a:r>
              <a:rPr sz="1000" b="0" i="0" spc="160">
                <a:solidFill>
                  <a:srgbClr val="5C625A"/>
                </a:solidFill>
                <a:latin typeface="Consolas"/>
              </a:rPr>
              <a:t>MODEL</a:t>
            </a:r>
          </a:p>
        </p:txBody>
      </p:sp>
      <p:sp>
        <p:nvSpPr>
          <p:cNvPr id="9" name="TextBox 8"/>
          <p:cNvSpPr txBox="1"/>
          <p:nvPr/>
        </p:nvSpPr>
        <p:spPr>
          <a:xfrm>
            <a:off x="5486400" y="3063240"/>
            <a:ext cx="1737360" cy="274320"/>
          </a:xfrm>
          <a:prstGeom prst="rect">
            <a:avLst/>
          </a:prstGeom>
          <a:noFill/>
        </p:spPr>
        <p:txBody>
          <a:bodyPr wrap="square" anchor="t" lIns="0" rIns="0" tIns="0" bIns="0">
            <a:spAutoFit/>
          </a:bodyPr>
          <a:lstStyle/>
          <a:p>
            <a:pPr algn="r">
              <a:lnSpc>
                <a:spcPct val="130000"/>
              </a:lnSpc>
              <a:spcAft>
                <a:spcPts val="0"/>
              </a:spcAft>
            </a:pPr>
            <a:r>
              <a:rPr sz="1000" b="0" i="0" spc="160">
                <a:solidFill>
                  <a:srgbClr val="5C625A"/>
                </a:solidFill>
                <a:latin typeface="Consolas"/>
              </a:rPr>
              <a:t>MAE (USD)</a:t>
            </a:r>
          </a:p>
        </p:txBody>
      </p:sp>
      <p:sp>
        <p:nvSpPr>
          <p:cNvPr id="10" name="TextBox 9"/>
          <p:cNvSpPr txBox="1"/>
          <p:nvPr/>
        </p:nvSpPr>
        <p:spPr>
          <a:xfrm>
            <a:off x="7406640" y="3063240"/>
            <a:ext cx="1737360" cy="274320"/>
          </a:xfrm>
          <a:prstGeom prst="rect">
            <a:avLst/>
          </a:prstGeom>
          <a:noFill/>
        </p:spPr>
        <p:txBody>
          <a:bodyPr wrap="square" anchor="t" lIns="0" rIns="0" tIns="0" bIns="0">
            <a:spAutoFit/>
          </a:bodyPr>
          <a:lstStyle/>
          <a:p>
            <a:pPr algn="r">
              <a:lnSpc>
                <a:spcPct val="130000"/>
              </a:lnSpc>
              <a:spcAft>
                <a:spcPts val="0"/>
              </a:spcAft>
            </a:pPr>
            <a:r>
              <a:rPr sz="1000" b="0" i="0" spc="160">
                <a:solidFill>
                  <a:srgbClr val="5C625A"/>
                </a:solidFill>
                <a:latin typeface="Consolas"/>
              </a:rPr>
              <a:t>RMSE (USD)</a:t>
            </a:r>
          </a:p>
        </p:txBody>
      </p:sp>
      <p:sp>
        <p:nvSpPr>
          <p:cNvPr id="11" name="TextBox 10"/>
          <p:cNvSpPr txBox="1"/>
          <p:nvPr/>
        </p:nvSpPr>
        <p:spPr>
          <a:xfrm>
            <a:off x="9326880" y="3063240"/>
            <a:ext cx="2011680" cy="274320"/>
          </a:xfrm>
          <a:prstGeom prst="rect">
            <a:avLst/>
          </a:prstGeom>
          <a:noFill/>
        </p:spPr>
        <p:txBody>
          <a:bodyPr wrap="square" anchor="t" lIns="0" rIns="0" tIns="0" bIns="0">
            <a:spAutoFit/>
          </a:bodyPr>
          <a:lstStyle/>
          <a:p>
            <a:pPr algn="r">
              <a:lnSpc>
                <a:spcPct val="130000"/>
              </a:lnSpc>
              <a:spcAft>
                <a:spcPts val="0"/>
              </a:spcAft>
            </a:pPr>
            <a:r>
              <a:rPr sz="1000" b="0" i="0" spc="160">
                <a:solidFill>
                  <a:srgbClr val="5C625A"/>
                </a:solidFill>
                <a:latin typeface="Consolas"/>
              </a:rPr>
              <a:t>R²</a:t>
            </a:r>
          </a:p>
        </p:txBody>
      </p:sp>
      <p:cxnSp>
        <p:nvCxnSpPr>
          <p:cNvPr id="12" name="Connector 11"/>
          <p:cNvCxnSpPr/>
          <p:nvPr/>
        </p:nvCxnSpPr>
        <p:spPr>
          <a:xfrm>
            <a:off x="822960" y="3355848"/>
            <a:ext cx="10545775" cy="0"/>
          </a:xfrm>
          <a:prstGeom prst="line">
            <a:avLst/>
          </a:prstGeom>
          <a:ln w="12700">
            <a:solidFill>
              <a:srgbClr val="5C62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566160"/>
            <a:ext cx="4206240" cy="365760"/>
          </a:xfrm>
          <a:prstGeom prst="rect">
            <a:avLst/>
          </a:prstGeom>
          <a:noFill/>
        </p:spPr>
        <p:txBody>
          <a:bodyPr wrap="square" anchor="t" lIns="0" rIns="0" tIns="0" bIns="0">
            <a:spAutoFit/>
          </a:bodyPr>
          <a:lstStyle/>
          <a:p>
            <a:pPr algn="l">
              <a:lnSpc>
                <a:spcPct val="130000"/>
              </a:lnSpc>
              <a:spcAft>
                <a:spcPts val="0"/>
              </a:spcAft>
            </a:pPr>
            <a:r>
              <a:rPr sz="1550" b="0" i="0">
                <a:solidFill>
                  <a:srgbClr val="191E19"/>
                </a:solidFill>
                <a:latin typeface="Segoe UI"/>
              </a:rPr>
              <a:t>Naive baseline (lag_1)</a:t>
            </a:r>
          </a:p>
        </p:txBody>
      </p:sp>
      <p:sp>
        <p:nvSpPr>
          <p:cNvPr id="14" name="TextBox 13"/>
          <p:cNvSpPr txBox="1"/>
          <p:nvPr/>
        </p:nvSpPr>
        <p:spPr>
          <a:xfrm>
            <a:off x="5486400" y="3584448"/>
            <a:ext cx="1737360" cy="365760"/>
          </a:xfrm>
          <a:prstGeom prst="rect">
            <a:avLst/>
          </a:prstGeom>
          <a:noFill/>
        </p:spPr>
        <p:txBody>
          <a:bodyPr wrap="square" anchor="t" lIns="0" rIns="0" tIns="0" bIns="0">
            <a:spAutoFit/>
          </a:bodyPr>
          <a:lstStyle/>
          <a:p>
            <a:pPr algn="r">
              <a:lnSpc>
                <a:spcPct val="130000"/>
              </a:lnSpc>
              <a:spcAft>
                <a:spcPts val="0"/>
              </a:spcAft>
            </a:pPr>
            <a:r>
              <a:rPr sz="1500" b="0" i="0">
                <a:solidFill>
                  <a:srgbClr val="191E19"/>
                </a:solidFill>
                <a:latin typeface="Consolas"/>
              </a:rPr>
              <a:t>0.1799</a:t>
            </a:r>
          </a:p>
        </p:txBody>
      </p:sp>
      <p:sp>
        <p:nvSpPr>
          <p:cNvPr id="15" name="TextBox 14"/>
          <p:cNvSpPr txBox="1"/>
          <p:nvPr/>
        </p:nvSpPr>
        <p:spPr>
          <a:xfrm>
            <a:off x="7406640" y="3584448"/>
            <a:ext cx="1737360" cy="365760"/>
          </a:xfrm>
          <a:prstGeom prst="rect">
            <a:avLst/>
          </a:prstGeom>
          <a:noFill/>
        </p:spPr>
        <p:txBody>
          <a:bodyPr wrap="square" anchor="t" lIns="0" rIns="0" tIns="0" bIns="0">
            <a:spAutoFit/>
          </a:bodyPr>
          <a:lstStyle/>
          <a:p>
            <a:pPr algn="r">
              <a:lnSpc>
                <a:spcPct val="130000"/>
              </a:lnSpc>
              <a:spcAft>
                <a:spcPts val="0"/>
              </a:spcAft>
            </a:pPr>
            <a:r>
              <a:rPr sz="1500" b="0" i="0">
                <a:solidFill>
                  <a:srgbClr val="191E19"/>
                </a:solidFill>
                <a:latin typeface="Consolas"/>
              </a:rPr>
              <a:t>0.4088</a:t>
            </a:r>
          </a:p>
        </p:txBody>
      </p:sp>
      <p:sp>
        <p:nvSpPr>
          <p:cNvPr id="16" name="TextBox 15"/>
          <p:cNvSpPr txBox="1"/>
          <p:nvPr/>
        </p:nvSpPr>
        <p:spPr>
          <a:xfrm>
            <a:off x="9326880" y="3584448"/>
            <a:ext cx="2011680" cy="365760"/>
          </a:xfrm>
          <a:prstGeom prst="rect">
            <a:avLst/>
          </a:prstGeom>
          <a:noFill/>
        </p:spPr>
        <p:txBody>
          <a:bodyPr wrap="square" anchor="t" lIns="0" rIns="0" tIns="0" bIns="0">
            <a:spAutoFit/>
          </a:bodyPr>
          <a:lstStyle/>
          <a:p>
            <a:pPr algn="r">
              <a:lnSpc>
                <a:spcPct val="130000"/>
              </a:lnSpc>
              <a:spcAft>
                <a:spcPts val="0"/>
              </a:spcAft>
            </a:pPr>
            <a:r>
              <a:rPr sz="1500" b="0" i="0">
                <a:solidFill>
                  <a:srgbClr val="191E19"/>
                </a:solidFill>
                <a:latin typeface="Consolas"/>
              </a:rPr>
              <a:t>0.9239</a:t>
            </a:r>
          </a:p>
        </p:txBody>
      </p:sp>
      <p:sp>
        <p:nvSpPr>
          <p:cNvPr id="17" name="TextBox 16"/>
          <p:cNvSpPr txBox="1"/>
          <p:nvPr/>
        </p:nvSpPr>
        <p:spPr>
          <a:xfrm>
            <a:off x="822960" y="4370832"/>
            <a:ext cx="4206240" cy="365760"/>
          </a:xfrm>
          <a:prstGeom prst="rect">
            <a:avLst/>
          </a:prstGeom>
          <a:noFill/>
        </p:spPr>
        <p:txBody>
          <a:bodyPr wrap="square" anchor="t" lIns="0" rIns="0" tIns="0" bIns="0">
            <a:spAutoFit/>
          </a:bodyPr>
          <a:lstStyle/>
          <a:p>
            <a:pPr algn="l">
              <a:lnSpc>
                <a:spcPct val="130000"/>
              </a:lnSpc>
              <a:spcAft>
                <a:spcPts val="0"/>
              </a:spcAft>
            </a:pPr>
            <a:r>
              <a:rPr sz="1550" b="0" i="0">
                <a:solidFill>
                  <a:srgbClr val="191E19"/>
                </a:solidFill>
                <a:latin typeface="Segoe UI"/>
              </a:rPr>
              <a:t>Random Forest (reproduced)</a:t>
            </a:r>
          </a:p>
        </p:txBody>
      </p:sp>
      <p:sp>
        <p:nvSpPr>
          <p:cNvPr id="18" name="TextBox 17"/>
          <p:cNvSpPr txBox="1"/>
          <p:nvPr/>
        </p:nvSpPr>
        <p:spPr>
          <a:xfrm>
            <a:off x="5486400" y="4389120"/>
            <a:ext cx="1737360" cy="365760"/>
          </a:xfrm>
          <a:prstGeom prst="rect">
            <a:avLst/>
          </a:prstGeom>
          <a:noFill/>
        </p:spPr>
        <p:txBody>
          <a:bodyPr wrap="square" anchor="t" lIns="0" rIns="0" tIns="0" bIns="0">
            <a:spAutoFit/>
          </a:bodyPr>
          <a:lstStyle/>
          <a:p>
            <a:pPr algn="r">
              <a:lnSpc>
                <a:spcPct val="130000"/>
              </a:lnSpc>
              <a:spcAft>
                <a:spcPts val="0"/>
              </a:spcAft>
            </a:pPr>
            <a:r>
              <a:rPr sz="1500" b="0" i="0">
                <a:solidFill>
                  <a:srgbClr val="191E19"/>
                </a:solidFill>
                <a:latin typeface="Consolas"/>
              </a:rPr>
              <a:t>0.1690</a:t>
            </a:r>
          </a:p>
        </p:txBody>
      </p:sp>
      <p:sp>
        <p:nvSpPr>
          <p:cNvPr id="19" name="TextBox 18"/>
          <p:cNvSpPr txBox="1"/>
          <p:nvPr/>
        </p:nvSpPr>
        <p:spPr>
          <a:xfrm>
            <a:off x="7406640" y="4389120"/>
            <a:ext cx="1737360" cy="365760"/>
          </a:xfrm>
          <a:prstGeom prst="rect">
            <a:avLst/>
          </a:prstGeom>
          <a:noFill/>
        </p:spPr>
        <p:txBody>
          <a:bodyPr wrap="square" anchor="t" lIns="0" rIns="0" tIns="0" bIns="0">
            <a:spAutoFit/>
          </a:bodyPr>
          <a:lstStyle/>
          <a:p>
            <a:pPr algn="r">
              <a:lnSpc>
                <a:spcPct val="130000"/>
              </a:lnSpc>
              <a:spcAft>
                <a:spcPts val="0"/>
              </a:spcAft>
            </a:pPr>
            <a:r>
              <a:rPr sz="1500" b="0" i="0">
                <a:solidFill>
                  <a:srgbClr val="191E19"/>
                </a:solidFill>
                <a:latin typeface="Consolas"/>
              </a:rPr>
              <a:t>0.3352</a:t>
            </a:r>
          </a:p>
        </p:txBody>
      </p:sp>
      <p:sp>
        <p:nvSpPr>
          <p:cNvPr id="20" name="TextBox 19"/>
          <p:cNvSpPr txBox="1"/>
          <p:nvPr/>
        </p:nvSpPr>
        <p:spPr>
          <a:xfrm>
            <a:off x="9326880" y="4389120"/>
            <a:ext cx="2011680" cy="365760"/>
          </a:xfrm>
          <a:prstGeom prst="rect">
            <a:avLst/>
          </a:prstGeom>
          <a:noFill/>
        </p:spPr>
        <p:txBody>
          <a:bodyPr wrap="square" anchor="t" lIns="0" rIns="0" tIns="0" bIns="0">
            <a:spAutoFit/>
          </a:bodyPr>
          <a:lstStyle/>
          <a:p>
            <a:pPr algn="r">
              <a:lnSpc>
                <a:spcPct val="130000"/>
              </a:lnSpc>
              <a:spcAft>
                <a:spcPts val="0"/>
              </a:spcAft>
            </a:pPr>
            <a:r>
              <a:rPr sz="1500" b="0" i="0">
                <a:solidFill>
                  <a:srgbClr val="191E19"/>
                </a:solidFill>
                <a:latin typeface="Consolas"/>
              </a:rPr>
              <a:t>0.9489</a:t>
            </a:r>
          </a:p>
        </p:txBody>
      </p:sp>
      <p:sp>
        <p:nvSpPr>
          <p:cNvPr id="21" name="Rectangle 20"/>
          <p:cNvSpPr/>
          <p:nvPr/>
        </p:nvSpPr>
        <p:spPr>
          <a:xfrm>
            <a:off x="658368" y="5065776"/>
            <a:ext cx="10874959" cy="658368"/>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175504"/>
            <a:ext cx="4206240" cy="365760"/>
          </a:xfrm>
          <a:prstGeom prst="rect">
            <a:avLst/>
          </a:prstGeom>
          <a:noFill/>
        </p:spPr>
        <p:txBody>
          <a:bodyPr wrap="square" anchor="t" lIns="0" rIns="0" tIns="0" bIns="0">
            <a:spAutoFit/>
          </a:bodyPr>
          <a:lstStyle/>
          <a:p>
            <a:pPr algn="l">
              <a:lnSpc>
                <a:spcPct val="130000"/>
              </a:lnSpc>
              <a:spcAft>
                <a:spcPts val="0"/>
              </a:spcAft>
            </a:pPr>
            <a:r>
              <a:rPr sz="1550" b="1" i="0">
                <a:solidFill>
                  <a:srgbClr val="2F5D46"/>
                </a:solidFill>
                <a:latin typeface="Segoe UI"/>
              </a:rPr>
              <a:t>XGBoost (final model)</a:t>
            </a:r>
          </a:p>
        </p:txBody>
      </p:sp>
      <p:sp>
        <p:nvSpPr>
          <p:cNvPr id="23" name="TextBox 22"/>
          <p:cNvSpPr txBox="1"/>
          <p:nvPr/>
        </p:nvSpPr>
        <p:spPr>
          <a:xfrm>
            <a:off x="5486400" y="5193792"/>
            <a:ext cx="1737360" cy="365760"/>
          </a:xfrm>
          <a:prstGeom prst="rect">
            <a:avLst/>
          </a:prstGeom>
          <a:noFill/>
        </p:spPr>
        <p:txBody>
          <a:bodyPr wrap="square" anchor="t" lIns="0" rIns="0" tIns="0" bIns="0">
            <a:spAutoFit/>
          </a:bodyPr>
          <a:lstStyle/>
          <a:p>
            <a:pPr algn="r">
              <a:lnSpc>
                <a:spcPct val="130000"/>
              </a:lnSpc>
              <a:spcAft>
                <a:spcPts val="0"/>
              </a:spcAft>
            </a:pPr>
            <a:r>
              <a:rPr sz="1500" b="1" i="0">
                <a:solidFill>
                  <a:srgbClr val="2F5D46"/>
                </a:solidFill>
                <a:latin typeface="Consolas"/>
              </a:rPr>
              <a:t>0.1642</a:t>
            </a:r>
          </a:p>
        </p:txBody>
      </p:sp>
      <p:sp>
        <p:nvSpPr>
          <p:cNvPr id="24" name="TextBox 23"/>
          <p:cNvSpPr txBox="1"/>
          <p:nvPr/>
        </p:nvSpPr>
        <p:spPr>
          <a:xfrm>
            <a:off x="7406640" y="5193792"/>
            <a:ext cx="1737360" cy="365760"/>
          </a:xfrm>
          <a:prstGeom prst="rect">
            <a:avLst/>
          </a:prstGeom>
          <a:noFill/>
        </p:spPr>
        <p:txBody>
          <a:bodyPr wrap="square" anchor="t" lIns="0" rIns="0" tIns="0" bIns="0">
            <a:spAutoFit/>
          </a:bodyPr>
          <a:lstStyle/>
          <a:p>
            <a:pPr algn="r">
              <a:lnSpc>
                <a:spcPct val="130000"/>
              </a:lnSpc>
              <a:spcAft>
                <a:spcPts val="0"/>
              </a:spcAft>
            </a:pPr>
            <a:r>
              <a:rPr sz="1500" b="1" i="0">
                <a:solidFill>
                  <a:srgbClr val="2F5D46"/>
                </a:solidFill>
                <a:latin typeface="Consolas"/>
              </a:rPr>
              <a:t>0.3295</a:t>
            </a:r>
          </a:p>
        </p:txBody>
      </p:sp>
      <p:sp>
        <p:nvSpPr>
          <p:cNvPr id="25" name="TextBox 24"/>
          <p:cNvSpPr txBox="1"/>
          <p:nvPr/>
        </p:nvSpPr>
        <p:spPr>
          <a:xfrm>
            <a:off x="9326880" y="5193792"/>
            <a:ext cx="2011680" cy="365760"/>
          </a:xfrm>
          <a:prstGeom prst="rect">
            <a:avLst/>
          </a:prstGeom>
          <a:noFill/>
        </p:spPr>
        <p:txBody>
          <a:bodyPr wrap="square" anchor="t" lIns="0" rIns="0" tIns="0" bIns="0">
            <a:spAutoFit/>
          </a:bodyPr>
          <a:lstStyle/>
          <a:p>
            <a:pPr algn="r">
              <a:lnSpc>
                <a:spcPct val="130000"/>
              </a:lnSpc>
              <a:spcAft>
                <a:spcPts val="0"/>
              </a:spcAft>
            </a:pPr>
            <a:r>
              <a:rPr sz="1500" b="1" i="0">
                <a:solidFill>
                  <a:srgbClr val="2F5D46"/>
                </a:solidFill>
                <a:latin typeface="Consolas"/>
              </a:rPr>
              <a:t>0.9506</a:t>
            </a:r>
          </a:p>
        </p:txBody>
      </p:sp>
      <p:sp>
        <p:nvSpPr>
          <p:cNvPr id="26" name="TextBox 25"/>
          <p:cNvSpPr txBox="1"/>
          <p:nvPr/>
        </p:nvSpPr>
        <p:spPr>
          <a:xfrm>
            <a:off x="822960" y="6199632"/>
            <a:ext cx="9631375" cy="457200"/>
          </a:xfrm>
          <a:prstGeom prst="rect">
            <a:avLst/>
          </a:prstGeom>
          <a:noFill/>
        </p:spPr>
        <p:txBody>
          <a:bodyPr wrap="square" anchor="t" lIns="0" rIns="0" tIns="0" bIns="0">
            <a:spAutoFit/>
          </a:bodyPr>
          <a:lstStyle/>
          <a:p>
            <a:pPr algn="l">
              <a:lnSpc>
                <a:spcPct val="135000"/>
              </a:lnSpc>
              <a:spcAft>
                <a:spcPts val="0"/>
              </a:spcAft>
            </a:pPr>
            <a:r>
              <a:rPr sz="950" b="0" i="0" spc="60">
                <a:solidFill>
                  <a:srgbClr val="5C625A"/>
                </a:solidFill>
                <a:latin typeface="Consolas"/>
              </a:rPr>
              <a:t>Random Forest reproduced locally from the notebook's settings (n=300, depth 15, seed 42).
XGBoost figures come from the trained price_model.pkl itself, evaluated on the held-out period.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RESULT</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The model earns</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its place</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06</a:t>
            </a:r>
          </a:p>
        </p:txBody>
      </p:sp>
      <p:sp>
        <p:nvSpPr>
          <p:cNvPr id="7" name="Rectangle 6"/>
          <p:cNvSpPr/>
          <p:nvPr/>
        </p:nvSpPr>
        <p:spPr>
          <a:xfrm>
            <a:off x="822960" y="2377440"/>
            <a:ext cx="3291840" cy="228600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377440"/>
            <a:ext cx="45720" cy="228600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2743200"/>
            <a:ext cx="2743200" cy="822960"/>
          </a:xfrm>
          <a:prstGeom prst="rect">
            <a:avLst/>
          </a:prstGeom>
          <a:noFill/>
        </p:spPr>
        <p:txBody>
          <a:bodyPr wrap="square" anchor="t" lIns="0" rIns="0" tIns="0" bIns="0">
            <a:spAutoFit/>
          </a:bodyPr>
          <a:lstStyle/>
          <a:p>
            <a:pPr algn="l">
              <a:lnSpc>
                <a:spcPct val="130000"/>
              </a:lnSpc>
              <a:spcAft>
                <a:spcPts val="0"/>
              </a:spcAft>
            </a:pPr>
            <a:r>
              <a:rPr sz="4000" b="1" i="0">
                <a:solidFill>
                  <a:srgbClr val="2F5D46"/>
                </a:solidFill>
                <a:latin typeface="Consolas"/>
              </a:rPr>
              <a:t>$0.164</a:t>
            </a:r>
          </a:p>
        </p:txBody>
      </p:sp>
      <p:sp>
        <p:nvSpPr>
          <p:cNvPr id="10" name="TextBox 9"/>
          <p:cNvSpPr txBox="1"/>
          <p:nvPr/>
        </p:nvSpPr>
        <p:spPr>
          <a:xfrm>
            <a:off x="1188720" y="3611880"/>
            <a:ext cx="2743200" cy="274320"/>
          </a:xfrm>
          <a:prstGeom prst="rect">
            <a:avLst/>
          </a:prstGeom>
          <a:noFill/>
        </p:spPr>
        <p:txBody>
          <a:bodyPr wrap="square" anchor="t" lIns="0" rIns="0" tIns="0" bIns="0">
            <a:spAutoFit/>
          </a:bodyPr>
          <a:lstStyle/>
          <a:p>
            <a:pPr algn="l">
              <a:lnSpc>
                <a:spcPct val="130000"/>
              </a:lnSpc>
              <a:spcAft>
                <a:spcPts val="0"/>
              </a:spcAft>
            </a:pPr>
            <a:r>
              <a:rPr sz="950" b="0" i="0" spc="140">
                <a:solidFill>
                  <a:srgbClr val="5C625A"/>
                </a:solidFill>
                <a:latin typeface="Consolas"/>
              </a:rPr>
              <a:t>MEAN ABSOLUTE ERROR</a:t>
            </a:r>
          </a:p>
        </p:txBody>
      </p:sp>
      <p:sp>
        <p:nvSpPr>
          <p:cNvPr id="11" name="TextBox 10"/>
          <p:cNvSpPr txBox="1"/>
          <p:nvPr/>
        </p:nvSpPr>
        <p:spPr>
          <a:xfrm>
            <a:off x="1188720" y="3931920"/>
            <a:ext cx="2651760" cy="457200"/>
          </a:xfrm>
          <a:prstGeom prst="rect">
            <a:avLst/>
          </a:prstGeom>
          <a:noFill/>
        </p:spPr>
        <p:txBody>
          <a:bodyPr wrap="square" anchor="t" lIns="0" rIns="0" tIns="0" bIns="0">
            <a:spAutoFit/>
          </a:bodyPr>
          <a:lstStyle/>
          <a:p>
            <a:pPr algn="l">
              <a:lnSpc>
                <a:spcPct val="135000"/>
              </a:lnSpc>
              <a:spcAft>
                <a:spcPts val="0"/>
              </a:spcAft>
            </a:pPr>
            <a:r>
              <a:rPr sz="1300" b="0" i="0">
                <a:solidFill>
                  <a:srgbClr val="5C625A"/>
                </a:solidFill>
                <a:latin typeface="Segoe UI"/>
              </a:rPr>
              <a:t>on held-out 2025-26 prices</a:t>
            </a:r>
          </a:p>
        </p:txBody>
      </p:sp>
      <p:sp>
        <p:nvSpPr>
          <p:cNvPr id="12" name="Rectangle 11"/>
          <p:cNvSpPr/>
          <p:nvPr/>
        </p:nvSpPr>
        <p:spPr>
          <a:xfrm>
            <a:off x="4343400" y="2377440"/>
            <a:ext cx="3291840" cy="228600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2377440"/>
            <a:ext cx="45720" cy="2286000"/>
          </a:xfrm>
          <a:prstGeom prst="rect">
            <a:avLst/>
          </a:prstGeom>
          <a:solidFill>
            <a:srgbClr val="4D80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9160" y="2743200"/>
            <a:ext cx="2743200" cy="822960"/>
          </a:xfrm>
          <a:prstGeom prst="rect">
            <a:avLst/>
          </a:prstGeom>
          <a:noFill/>
        </p:spPr>
        <p:txBody>
          <a:bodyPr wrap="square" anchor="t" lIns="0" rIns="0" tIns="0" bIns="0">
            <a:spAutoFit/>
          </a:bodyPr>
          <a:lstStyle/>
          <a:p>
            <a:pPr algn="l">
              <a:lnSpc>
                <a:spcPct val="130000"/>
              </a:lnSpc>
              <a:spcAft>
                <a:spcPts val="0"/>
              </a:spcAft>
            </a:pPr>
            <a:r>
              <a:rPr sz="4000" b="1" i="0">
                <a:solidFill>
                  <a:srgbClr val="4D8065"/>
                </a:solidFill>
                <a:latin typeface="Consolas"/>
              </a:rPr>
              <a:t>0.951</a:t>
            </a:r>
          </a:p>
        </p:txBody>
      </p:sp>
      <p:sp>
        <p:nvSpPr>
          <p:cNvPr id="15" name="TextBox 14"/>
          <p:cNvSpPr txBox="1"/>
          <p:nvPr/>
        </p:nvSpPr>
        <p:spPr>
          <a:xfrm>
            <a:off x="4709160" y="3611880"/>
            <a:ext cx="2743200" cy="274320"/>
          </a:xfrm>
          <a:prstGeom prst="rect">
            <a:avLst/>
          </a:prstGeom>
          <a:noFill/>
        </p:spPr>
        <p:txBody>
          <a:bodyPr wrap="square" anchor="t" lIns="0" rIns="0" tIns="0" bIns="0">
            <a:spAutoFit/>
          </a:bodyPr>
          <a:lstStyle/>
          <a:p>
            <a:pPr algn="l">
              <a:lnSpc>
                <a:spcPct val="130000"/>
              </a:lnSpc>
              <a:spcAft>
                <a:spcPts val="0"/>
              </a:spcAft>
            </a:pPr>
            <a:r>
              <a:rPr sz="950" b="0" i="0" spc="140">
                <a:solidFill>
                  <a:srgbClr val="5C625A"/>
                </a:solidFill>
                <a:latin typeface="Consolas"/>
              </a:rPr>
              <a:t>R² ON THE TEST PERIOD</a:t>
            </a:r>
          </a:p>
        </p:txBody>
      </p:sp>
      <p:sp>
        <p:nvSpPr>
          <p:cNvPr id="16" name="TextBox 15"/>
          <p:cNvSpPr txBox="1"/>
          <p:nvPr/>
        </p:nvSpPr>
        <p:spPr>
          <a:xfrm>
            <a:off x="4709160" y="3931920"/>
            <a:ext cx="2651760" cy="457200"/>
          </a:xfrm>
          <a:prstGeom prst="rect">
            <a:avLst/>
          </a:prstGeom>
          <a:noFill/>
        </p:spPr>
        <p:txBody>
          <a:bodyPr wrap="square" anchor="t" lIns="0" rIns="0" tIns="0" bIns="0">
            <a:spAutoFit/>
          </a:bodyPr>
          <a:lstStyle/>
          <a:p>
            <a:pPr algn="l">
              <a:lnSpc>
                <a:spcPct val="135000"/>
              </a:lnSpc>
              <a:spcAft>
                <a:spcPts val="0"/>
              </a:spcAft>
            </a:pPr>
            <a:r>
              <a:rPr sz="1300" b="0" i="0">
                <a:solidFill>
                  <a:srgbClr val="5C625A"/>
                </a:solidFill>
                <a:latin typeface="Segoe UI"/>
              </a:rPr>
              <a:t>variance explained</a:t>
            </a:r>
          </a:p>
        </p:txBody>
      </p:sp>
      <p:sp>
        <p:nvSpPr>
          <p:cNvPr id="17" name="Rectangle 16"/>
          <p:cNvSpPr/>
          <p:nvPr/>
        </p:nvSpPr>
        <p:spPr>
          <a:xfrm>
            <a:off x="7863840" y="2377440"/>
            <a:ext cx="3291840" cy="228600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863840" y="2377440"/>
            <a:ext cx="45720" cy="2286000"/>
          </a:xfrm>
          <a:prstGeom prst="rect">
            <a:avLst/>
          </a:prstGeom>
          <a:solidFill>
            <a:srgbClr val="A06D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2743200"/>
            <a:ext cx="2743200" cy="822960"/>
          </a:xfrm>
          <a:prstGeom prst="rect">
            <a:avLst/>
          </a:prstGeom>
          <a:noFill/>
        </p:spPr>
        <p:txBody>
          <a:bodyPr wrap="square" anchor="t" lIns="0" rIns="0" tIns="0" bIns="0">
            <a:spAutoFit/>
          </a:bodyPr>
          <a:lstStyle/>
          <a:p>
            <a:pPr algn="l">
              <a:lnSpc>
                <a:spcPct val="130000"/>
              </a:lnSpc>
              <a:spcAft>
                <a:spcPts val="0"/>
              </a:spcAft>
            </a:pPr>
            <a:r>
              <a:rPr sz="4000" b="1" i="0">
                <a:solidFill>
                  <a:srgbClr val="A06D05"/>
                </a:solidFill>
                <a:latin typeface="Consolas"/>
              </a:rPr>
              <a:t>8.7%</a:t>
            </a:r>
          </a:p>
        </p:txBody>
      </p:sp>
      <p:sp>
        <p:nvSpPr>
          <p:cNvPr id="20" name="TextBox 19"/>
          <p:cNvSpPr txBox="1"/>
          <p:nvPr/>
        </p:nvSpPr>
        <p:spPr>
          <a:xfrm>
            <a:off x="8229600" y="3611880"/>
            <a:ext cx="2743200" cy="274320"/>
          </a:xfrm>
          <a:prstGeom prst="rect">
            <a:avLst/>
          </a:prstGeom>
          <a:noFill/>
        </p:spPr>
        <p:txBody>
          <a:bodyPr wrap="square" anchor="t" lIns="0" rIns="0" tIns="0" bIns="0">
            <a:spAutoFit/>
          </a:bodyPr>
          <a:lstStyle/>
          <a:p>
            <a:pPr algn="l">
              <a:lnSpc>
                <a:spcPct val="130000"/>
              </a:lnSpc>
              <a:spcAft>
                <a:spcPts val="0"/>
              </a:spcAft>
            </a:pPr>
            <a:r>
              <a:rPr sz="950" b="0" i="0" spc="140">
                <a:solidFill>
                  <a:srgbClr val="5C625A"/>
                </a:solidFill>
                <a:latin typeface="Consolas"/>
              </a:rPr>
              <a:t>BETTER THAN NAIVE</a:t>
            </a:r>
          </a:p>
        </p:txBody>
      </p:sp>
      <p:sp>
        <p:nvSpPr>
          <p:cNvPr id="21" name="TextBox 20"/>
          <p:cNvSpPr txBox="1"/>
          <p:nvPr/>
        </p:nvSpPr>
        <p:spPr>
          <a:xfrm>
            <a:off x="8229600" y="3931920"/>
            <a:ext cx="2651760" cy="457200"/>
          </a:xfrm>
          <a:prstGeom prst="rect">
            <a:avLst/>
          </a:prstGeom>
          <a:noFill/>
        </p:spPr>
        <p:txBody>
          <a:bodyPr wrap="square" anchor="t" lIns="0" rIns="0" tIns="0" bIns="0">
            <a:spAutoFit/>
          </a:bodyPr>
          <a:lstStyle/>
          <a:p>
            <a:pPr algn="l">
              <a:lnSpc>
                <a:spcPct val="135000"/>
              </a:lnSpc>
              <a:spcAft>
                <a:spcPts val="0"/>
              </a:spcAft>
            </a:pPr>
            <a:r>
              <a:rPr sz="1300" b="0" i="0">
                <a:solidFill>
                  <a:srgbClr val="5C625A"/>
                </a:solidFill>
                <a:latin typeface="Segoe UI"/>
              </a:rPr>
              <a:t>MAE reduction vs. last price</a:t>
            </a:r>
          </a:p>
        </p:txBody>
      </p:sp>
      <p:sp>
        <p:nvSpPr>
          <p:cNvPr id="22" name="TextBox 21"/>
          <p:cNvSpPr txBox="1"/>
          <p:nvPr/>
        </p:nvSpPr>
        <p:spPr>
          <a:xfrm>
            <a:off x="822960" y="5029200"/>
            <a:ext cx="10058400" cy="914400"/>
          </a:xfrm>
          <a:prstGeom prst="rect">
            <a:avLst/>
          </a:prstGeom>
          <a:noFill/>
        </p:spPr>
        <p:txBody>
          <a:bodyPr wrap="square" anchor="t" lIns="0" rIns="0" tIns="0" bIns="0">
            <a:spAutoFit/>
          </a:bodyPr>
          <a:lstStyle/>
          <a:p>
            <a:pPr algn="l">
              <a:lnSpc>
                <a:spcPct val="150000"/>
              </a:lnSpc>
              <a:spcAft>
                <a:spcPts val="0"/>
              </a:spcAft>
            </a:pPr>
            <a:r>
              <a:rPr sz="1550" b="0" i="0">
                <a:solidFill>
                  <a:srgbClr val="191E19"/>
                </a:solidFill>
                <a:latin typeface="Segoe UI"/>
              </a:rPr>
              <a:t>An average miss of about sixteen US cents on a basket whose prices mostly sit between $0.30 and $3.00 — accurate enough to plan around, not precise enough to trade on. Both halves of that sentence matter.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INTERPRETATION</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It learned to be</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a very good smoother</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07</a:t>
            </a:r>
          </a:p>
        </p:txBody>
      </p:sp>
      <p:sp>
        <p:nvSpPr>
          <p:cNvPr id="7" name="TextBox 6"/>
          <p:cNvSpPr txBox="1"/>
          <p:nvPr/>
        </p:nvSpPr>
        <p:spPr>
          <a:xfrm>
            <a:off x="822960" y="2359152"/>
            <a:ext cx="2148840" cy="274320"/>
          </a:xfrm>
          <a:prstGeom prst="rect">
            <a:avLst/>
          </a:prstGeom>
          <a:noFill/>
        </p:spPr>
        <p:txBody>
          <a:bodyPr wrap="square" anchor="t" lIns="0" rIns="0" tIns="0" bIns="0">
            <a:spAutoFit/>
          </a:bodyPr>
          <a:lstStyle/>
          <a:p>
            <a:pPr algn="r">
              <a:lnSpc>
                <a:spcPct val="130000"/>
              </a:lnSpc>
              <a:spcAft>
                <a:spcPts val="0"/>
              </a:spcAft>
            </a:pPr>
            <a:r>
              <a:rPr sz="1250" b="0" i="0">
                <a:solidFill>
                  <a:srgbClr val="191E19"/>
                </a:solidFill>
                <a:latin typeface="Consolas"/>
              </a:rPr>
              <a:t>rolling_mean_3</a:t>
            </a:r>
          </a:p>
        </p:txBody>
      </p:sp>
      <p:sp>
        <p:nvSpPr>
          <p:cNvPr id="8" name="Rectangle 7"/>
          <p:cNvSpPr/>
          <p:nvPr/>
        </p:nvSpPr>
        <p:spPr>
          <a:xfrm>
            <a:off x="3108960" y="2377440"/>
            <a:ext cx="2781523" cy="256032"/>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00211" y="2359152"/>
            <a:ext cx="914400"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Consolas"/>
              </a:rPr>
              <a:t>56.3%</a:t>
            </a:r>
          </a:p>
        </p:txBody>
      </p:sp>
      <p:sp>
        <p:nvSpPr>
          <p:cNvPr id="10" name="TextBox 9"/>
          <p:cNvSpPr txBox="1"/>
          <p:nvPr/>
        </p:nvSpPr>
        <p:spPr>
          <a:xfrm>
            <a:off x="822960" y="2834640"/>
            <a:ext cx="2148840" cy="274320"/>
          </a:xfrm>
          <a:prstGeom prst="rect">
            <a:avLst/>
          </a:prstGeom>
          <a:noFill/>
        </p:spPr>
        <p:txBody>
          <a:bodyPr wrap="square" anchor="t" lIns="0" rIns="0" tIns="0" bIns="0">
            <a:spAutoFit/>
          </a:bodyPr>
          <a:lstStyle/>
          <a:p>
            <a:pPr algn="r">
              <a:lnSpc>
                <a:spcPct val="130000"/>
              </a:lnSpc>
              <a:spcAft>
                <a:spcPts val="0"/>
              </a:spcAft>
            </a:pPr>
            <a:r>
              <a:rPr sz="1250" b="0" i="0">
                <a:solidFill>
                  <a:srgbClr val="191E19"/>
                </a:solidFill>
                <a:latin typeface="Consolas"/>
              </a:rPr>
              <a:t>lag_1</a:t>
            </a:r>
          </a:p>
        </p:txBody>
      </p:sp>
      <p:sp>
        <p:nvSpPr>
          <p:cNvPr id="11" name="Rectangle 10"/>
          <p:cNvSpPr/>
          <p:nvPr/>
        </p:nvSpPr>
        <p:spPr>
          <a:xfrm>
            <a:off x="3108960" y="2852928"/>
            <a:ext cx="2030794" cy="256032"/>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49482" y="2834640"/>
            <a:ext cx="914400"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Consolas"/>
              </a:rPr>
              <a:t>41.1%</a:t>
            </a:r>
          </a:p>
        </p:txBody>
      </p:sp>
      <p:sp>
        <p:nvSpPr>
          <p:cNvPr id="13" name="TextBox 12"/>
          <p:cNvSpPr txBox="1"/>
          <p:nvPr/>
        </p:nvSpPr>
        <p:spPr>
          <a:xfrm>
            <a:off x="822960" y="3310128"/>
            <a:ext cx="2148840" cy="274320"/>
          </a:xfrm>
          <a:prstGeom prst="rect">
            <a:avLst/>
          </a:prstGeom>
          <a:noFill/>
        </p:spPr>
        <p:txBody>
          <a:bodyPr wrap="square" anchor="t" lIns="0" rIns="0" tIns="0" bIns="0">
            <a:spAutoFit/>
          </a:bodyPr>
          <a:lstStyle/>
          <a:p>
            <a:pPr algn="r">
              <a:lnSpc>
                <a:spcPct val="130000"/>
              </a:lnSpc>
              <a:spcAft>
                <a:spcPts val="0"/>
              </a:spcAft>
            </a:pPr>
            <a:r>
              <a:rPr sz="1250" b="0" i="0">
                <a:solidFill>
                  <a:srgbClr val="191E19"/>
                </a:solidFill>
                <a:latin typeface="Consolas"/>
              </a:rPr>
              <a:t>lag_3</a:t>
            </a:r>
          </a:p>
        </p:txBody>
      </p:sp>
      <p:sp>
        <p:nvSpPr>
          <p:cNvPr id="14" name="Rectangle 13"/>
          <p:cNvSpPr/>
          <p:nvPr/>
        </p:nvSpPr>
        <p:spPr>
          <a:xfrm>
            <a:off x="3108960" y="3328416"/>
            <a:ext cx="43148" cy="256032"/>
          </a:xfrm>
          <a:prstGeom prst="rect">
            <a:avLst/>
          </a:prstGeom>
          <a:solidFill>
            <a:srgbClr val="4D80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61836" y="3310128"/>
            <a:ext cx="914400"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Consolas"/>
              </a:rPr>
              <a:t>0.9%</a:t>
            </a:r>
          </a:p>
        </p:txBody>
      </p:sp>
      <p:sp>
        <p:nvSpPr>
          <p:cNvPr id="16" name="TextBox 15"/>
          <p:cNvSpPr txBox="1"/>
          <p:nvPr/>
        </p:nvSpPr>
        <p:spPr>
          <a:xfrm>
            <a:off x="822960" y="3785616"/>
            <a:ext cx="2148840" cy="274320"/>
          </a:xfrm>
          <a:prstGeom prst="rect">
            <a:avLst/>
          </a:prstGeom>
          <a:noFill/>
        </p:spPr>
        <p:txBody>
          <a:bodyPr wrap="square" anchor="t" lIns="0" rIns="0" tIns="0" bIns="0">
            <a:spAutoFit/>
          </a:bodyPr>
          <a:lstStyle/>
          <a:p>
            <a:pPr algn="r">
              <a:lnSpc>
                <a:spcPct val="130000"/>
              </a:lnSpc>
              <a:spcAft>
                <a:spcPts val="0"/>
              </a:spcAft>
            </a:pPr>
            <a:r>
              <a:rPr sz="1250" b="0" i="0">
                <a:solidFill>
                  <a:srgbClr val="191E19"/>
                </a:solidFill>
                <a:latin typeface="Consolas"/>
              </a:rPr>
              <a:t>commodity_enc</a:t>
            </a:r>
          </a:p>
        </p:txBody>
      </p:sp>
      <p:sp>
        <p:nvSpPr>
          <p:cNvPr id="17" name="Rectangle 16"/>
          <p:cNvSpPr/>
          <p:nvPr/>
        </p:nvSpPr>
        <p:spPr>
          <a:xfrm>
            <a:off x="3108960" y="3803904"/>
            <a:ext cx="20361" cy="256032"/>
          </a:xfrm>
          <a:prstGeom prst="rect">
            <a:avLst/>
          </a:prstGeom>
          <a:solidFill>
            <a:srgbClr val="4D80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39049" y="3785616"/>
            <a:ext cx="914400"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Consolas"/>
              </a:rPr>
              <a:t>0.4%</a:t>
            </a:r>
          </a:p>
        </p:txBody>
      </p:sp>
      <p:sp>
        <p:nvSpPr>
          <p:cNvPr id="19" name="TextBox 18"/>
          <p:cNvSpPr txBox="1"/>
          <p:nvPr/>
        </p:nvSpPr>
        <p:spPr>
          <a:xfrm>
            <a:off x="822960" y="4261104"/>
            <a:ext cx="2148840" cy="274320"/>
          </a:xfrm>
          <a:prstGeom prst="rect">
            <a:avLst/>
          </a:prstGeom>
          <a:noFill/>
        </p:spPr>
        <p:txBody>
          <a:bodyPr wrap="square" anchor="t" lIns="0" rIns="0" tIns="0" bIns="0">
            <a:spAutoFit/>
          </a:bodyPr>
          <a:lstStyle/>
          <a:p>
            <a:pPr algn="r">
              <a:lnSpc>
                <a:spcPct val="130000"/>
              </a:lnSpc>
              <a:spcAft>
                <a:spcPts val="0"/>
              </a:spcAft>
            </a:pPr>
            <a:r>
              <a:rPr sz="1250" b="0" i="0">
                <a:solidFill>
                  <a:srgbClr val="191E19"/>
                </a:solidFill>
                <a:latin typeface="Consolas"/>
              </a:rPr>
              <a:t>category_enc</a:t>
            </a:r>
          </a:p>
        </p:txBody>
      </p:sp>
      <p:sp>
        <p:nvSpPr>
          <p:cNvPr id="20" name="Rectangle 19"/>
          <p:cNvSpPr/>
          <p:nvPr/>
        </p:nvSpPr>
        <p:spPr>
          <a:xfrm>
            <a:off x="3108960" y="4279392"/>
            <a:ext cx="19071" cy="256032"/>
          </a:xfrm>
          <a:prstGeom prst="rect">
            <a:avLst/>
          </a:prstGeom>
          <a:solidFill>
            <a:srgbClr val="4D80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37759" y="4261104"/>
            <a:ext cx="914400"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Consolas"/>
              </a:rPr>
              <a:t>0.4%</a:t>
            </a:r>
          </a:p>
        </p:txBody>
      </p:sp>
      <p:sp>
        <p:nvSpPr>
          <p:cNvPr id="22" name="TextBox 21"/>
          <p:cNvSpPr txBox="1"/>
          <p:nvPr/>
        </p:nvSpPr>
        <p:spPr>
          <a:xfrm>
            <a:off x="822960" y="4736592"/>
            <a:ext cx="2148840" cy="274320"/>
          </a:xfrm>
          <a:prstGeom prst="rect">
            <a:avLst/>
          </a:prstGeom>
          <a:noFill/>
        </p:spPr>
        <p:txBody>
          <a:bodyPr wrap="square" anchor="t" lIns="0" rIns="0" tIns="0" bIns="0">
            <a:spAutoFit/>
          </a:bodyPr>
          <a:lstStyle/>
          <a:p>
            <a:pPr algn="r">
              <a:lnSpc>
                <a:spcPct val="130000"/>
              </a:lnSpc>
              <a:spcAft>
                <a:spcPts val="0"/>
              </a:spcAft>
            </a:pPr>
            <a:r>
              <a:rPr sz="1250" b="0" i="0">
                <a:solidFill>
                  <a:srgbClr val="191E19"/>
                </a:solidFill>
                <a:latin typeface="Consolas"/>
              </a:rPr>
              <a:t>month</a:t>
            </a:r>
          </a:p>
        </p:txBody>
      </p:sp>
      <p:sp>
        <p:nvSpPr>
          <p:cNvPr id="23" name="Rectangle 22"/>
          <p:cNvSpPr/>
          <p:nvPr/>
        </p:nvSpPr>
        <p:spPr>
          <a:xfrm>
            <a:off x="3108960" y="4754880"/>
            <a:ext cx="18288" cy="256032"/>
          </a:xfrm>
          <a:prstGeom prst="rect">
            <a:avLst/>
          </a:prstGeom>
          <a:solidFill>
            <a:srgbClr val="4D80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36976" y="4736592"/>
            <a:ext cx="914400" cy="274320"/>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Consolas"/>
              </a:rPr>
              <a:t>0.2%</a:t>
            </a:r>
          </a:p>
        </p:txBody>
      </p:sp>
      <p:sp>
        <p:nvSpPr>
          <p:cNvPr id="25" name="Rectangle 24"/>
          <p:cNvSpPr/>
          <p:nvPr/>
        </p:nvSpPr>
        <p:spPr>
          <a:xfrm>
            <a:off x="8229600" y="2240280"/>
            <a:ext cx="3108960" cy="361188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229600" y="2240280"/>
            <a:ext cx="45720" cy="3611880"/>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49640" y="2542032"/>
            <a:ext cx="2560320" cy="274320"/>
          </a:xfrm>
          <a:prstGeom prst="rect">
            <a:avLst/>
          </a:prstGeom>
          <a:noFill/>
        </p:spPr>
        <p:txBody>
          <a:bodyPr wrap="square" anchor="t" lIns="0" rIns="0" tIns="0" bIns="0">
            <a:spAutoFit/>
          </a:bodyPr>
          <a:lstStyle/>
          <a:p>
            <a:pPr algn="l">
              <a:lnSpc>
                <a:spcPct val="130000"/>
              </a:lnSpc>
              <a:spcAft>
                <a:spcPts val="0"/>
              </a:spcAft>
            </a:pPr>
            <a:r>
              <a:rPr sz="950" b="0" i="0" spc="160">
                <a:solidFill>
                  <a:srgbClr val="6B2545"/>
                </a:solidFill>
                <a:latin typeface="Consolas"/>
              </a:rPr>
              <a:t>THE HONEST READING</a:t>
            </a:r>
          </a:p>
        </p:txBody>
      </p:sp>
      <p:sp>
        <p:nvSpPr>
          <p:cNvPr id="28" name="TextBox 27"/>
          <p:cNvSpPr txBox="1"/>
          <p:nvPr/>
        </p:nvSpPr>
        <p:spPr>
          <a:xfrm>
            <a:off x="8549640" y="2926080"/>
            <a:ext cx="2514600" cy="2651760"/>
          </a:xfrm>
          <a:prstGeom prst="rect">
            <a:avLst/>
          </a:prstGeom>
          <a:noFill/>
        </p:spPr>
        <p:txBody>
          <a:bodyPr wrap="square" anchor="t" lIns="0" rIns="0" tIns="0" bIns="0">
            <a:spAutoFit/>
          </a:bodyPr>
          <a:lstStyle/>
          <a:p>
            <a:pPr algn="l">
              <a:lnSpc>
                <a:spcPct val="135000"/>
              </a:lnSpc>
              <a:spcAft>
                <a:spcPts val="800"/>
              </a:spcAft>
            </a:pPr>
            <a:r>
              <a:rPr sz="1900" b="1" i="0">
                <a:solidFill>
                  <a:srgbClr val="191E19"/>
                </a:solidFill>
                <a:latin typeface="Georgia"/>
              </a:rPr>
              <a:t>97% of the model</a:t>
            </a:r>
          </a:p>
          <a:p>
            <a:pPr algn="l">
              <a:lnSpc>
                <a:spcPct val="135000"/>
              </a:lnSpc>
              <a:spcAft>
                <a:spcPts val="1200"/>
              </a:spcAft>
            </a:pPr>
            <a:r>
              <a:rPr sz="1400" b="0" i="0">
                <a:solidFill>
                  <a:srgbClr val="191E19"/>
                </a:solidFill>
                <a:latin typeface="Segoe UI"/>
              </a:rPr>
              <a:t>rests on two features: the recent mean and the last price.</a:t>
            </a:r>
          </a:p>
          <a:p>
            <a:pPr algn="l">
              <a:lnSpc>
                <a:spcPct val="135000"/>
              </a:lnSpc>
              <a:spcAft>
                <a:spcPts val="0"/>
              </a:spcAft>
            </a:pPr>
            <a:r>
              <a:rPr sz="1250" b="0" i="0">
                <a:solidFill>
                  <a:srgbClr val="5C625A"/>
                </a:solidFill>
                <a:latin typeface="Segoe UI"/>
              </a:rPr>
              <a:t>Commodity, market, province and season together account for barely two percent. This is a well-calibrated smoother, not a market oracle — and saying so is part of the result.</a:t>
            </a:r>
          </a:p>
        </p:txBody>
      </p:sp>
      <p:sp>
        <p:nvSpPr>
          <p:cNvPr id="29" name="TextBox 28"/>
          <p:cNvSpPr txBox="1"/>
          <p:nvPr/>
        </p:nvSpPr>
        <p:spPr>
          <a:xfrm>
            <a:off x="822960" y="6199632"/>
            <a:ext cx="9631375" cy="457200"/>
          </a:xfrm>
          <a:prstGeom prst="rect">
            <a:avLst/>
          </a:prstGeom>
          <a:noFill/>
        </p:spPr>
        <p:txBody>
          <a:bodyPr wrap="square" anchor="t" lIns="0" rIns="0" tIns="0" bIns="0">
            <a:spAutoFit/>
          </a:bodyPr>
          <a:lstStyle/>
          <a:p>
            <a:pPr algn="l">
              <a:lnSpc>
                <a:spcPct val="135000"/>
              </a:lnSpc>
              <a:spcAft>
                <a:spcPts val="0"/>
              </a:spcAft>
            </a:pPr>
            <a:r>
              <a:rPr sz="950" b="0" i="0" spc="60">
                <a:solidFill>
                  <a:srgbClr val="5C625A"/>
                </a:solidFill>
                <a:latin typeface="Consolas"/>
              </a:rPr>
              <a:t>Gain-based feature importance from the trained booster.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FROM NOTEBOOK TO PRODUCT</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The model fit.</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The libraries didn’t.</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08</a:t>
            </a:r>
          </a:p>
        </p:txBody>
      </p:sp>
      <p:sp>
        <p:nvSpPr>
          <p:cNvPr id="7" name="TextBox 6"/>
          <p:cNvSpPr txBox="1"/>
          <p:nvPr/>
        </p:nvSpPr>
        <p:spPr>
          <a:xfrm>
            <a:off x="822960" y="2194560"/>
            <a:ext cx="10058400" cy="731520"/>
          </a:xfrm>
          <a:prstGeom prst="rect">
            <a:avLst/>
          </a:prstGeom>
          <a:noFill/>
        </p:spPr>
        <p:txBody>
          <a:bodyPr wrap="square" anchor="t" lIns="0" rIns="0" tIns="0" bIns="0">
            <a:spAutoFit/>
          </a:bodyPr>
          <a:lstStyle/>
          <a:p>
            <a:pPr algn="l">
              <a:lnSpc>
                <a:spcPct val="150000"/>
              </a:lnSpc>
              <a:spcAft>
                <a:spcPts val="0"/>
              </a:spcAft>
            </a:pPr>
            <a:r>
              <a:rPr sz="1600" b="0" i="0">
                <a:solidFill>
                  <a:srgbClr val="191E19"/>
                </a:solidFill>
                <a:latin typeface="Segoe UI"/>
              </a:rPr>
              <a:t>A notebook that only runs in Colab isn't a product. Deploying to Vercel's free tier meant meeting a hard limit: 250 MB unzipped per serverless function.</a:t>
            </a:r>
          </a:p>
        </p:txBody>
      </p:sp>
      <p:sp>
        <p:nvSpPr>
          <p:cNvPr id="8" name="TextBox 7"/>
          <p:cNvSpPr txBox="1"/>
          <p:nvPr/>
        </p:nvSpPr>
        <p:spPr>
          <a:xfrm>
            <a:off x="822960" y="3227832"/>
            <a:ext cx="1463040" cy="274320"/>
          </a:xfrm>
          <a:prstGeom prst="rect">
            <a:avLst/>
          </a:prstGeom>
          <a:noFill/>
        </p:spPr>
        <p:txBody>
          <a:bodyPr wrap="square" anchor="t" lIns="0" rIns="0" tIns="0" bIns="0">
            <a:spAutoFit/>
          </a:bodyPr>
          <a:lstStyle/>
          <a:p>
            <a:pPr algn="r">
              <a:lnSpc>
                <a:spcPct val="130000"/>
              </a:lnSpc>
              <a:spcAft>
                <a:spcPts val="0"/>
              </a:spcAft>
            </a:pPr>
            <a:r>
              <a:rPr sz="1200" b="0" i="0">
                <a:solidFill>
                  <a:srgbClr val="191E19"/>
                </a:solidFill>
                <a:latin typeface="Consolas"/>
              </a:rPr>
              <a:t>xgboost</a:t>
            </a:r>
          </a:p>
        </p:txBody>
      </p:sp>
      <p:sp>
        <p:nvSpPr>
          <p:cNvPr id="9" name="Rectangle 8"/>
          <p:cNvSpPr/>
          <p:nvPr/>
        </p:nvSpPr>
        <p:spPr>
          <a:xfrm>
            <a:off x="2468880" y="3246120"/>
            <a:ext cx="2048256" cy="219456"/>
          </a:xfrm>
          <a:prstGeom prst="rect">
            <a:avLst/>
          </a:prstGeom>
          <a:solidFill>
            <a:srgbClr val="DCD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8576" y="3218688"/>
            <a:ext cx="9144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84 MB</a:t>
            </a:r>
          </a:p>
        </p:txBody>
      </p:sp>
      <p:sp>
        <p:nvSpPr>
          <p:cNvPr id="11" name="TextBox 10"/>
          <p:cNvSpPr txBox="1"/>
          <p:nvPr/>
        </p:nvSpPr>
        <p:spPr>
          <a:xfrm>
            <a:off x="822960" y="3593592"/>
            <a:ext cx="1463040" cy="274320"/>
          </a:xfrm>
          <a:prstGeom prst="rect">
            <a:avLst/>
          </a:prstGeom>
          <a:noFill/>
        </p:spPr>
        <p:txBody>
          <a:bodyPr wrap="square" anchor="t" lIns="0" rIns="0" tIns="0" bIns="0">
            <a:spAutoFit/>
          </a:bodyPr>
          <a:lstStyle/>
          <a:p>
            <a:pPr algn="r">
              <a:lnSpc>
                <a:spcPct val="130000"/>
              </a:lnSpc>
              <a:spcAft>
                <a:spcPts val="0"/>
              </a:spcAft>
            </a:pPr>
            <a:r>
              <a:rPr sz="1200" b="0" i="0">
                <a:solidFill>
                  <a:srgbClr val="191E19"/>
                </a:solidFill>
                <a:latin typeface="Consolas"/>
              </a:rPr>
              <a:t>scipy</a:t>
            </a:r>
          </a:p>
        </p:txBody>
      </p:sp>
      <p:sp>
        <p:nvSpPr>
          <p:cNvPr id="12" name="Rectangle 11"/>
          <p:cNvSpPr/>
          <p:nvPr/>
        </p:nvSpPr>
        <p:spPr>
          <a:xfrm>
            <a:off x="2468880" y="3611880"/>
            <a:ext cx="2706624" cy="219456"/>
          </a:xfrm>
          <a:prstGeom prst="rect">
            <a:avLst/>
          </a:prstGeom>
          <a:solidFill>
            <a:srgbClr val="DCD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66944" y="3584448"/>
            <a:ext cx="9144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111 MB</a:t>
            </a:r>
          </a:p>
        </p:txBody>
      </p:sp>
      <p:sp>
        <p:nvSpPr>
          <p:cNvPr id="14" name="TextBox 13"/>
          <p:cNvSpPr txBox="1"/>
          <p:nvPr/>
        </p:nvSpPr>
        <p:spPr>
          <a:xfrm>
            <a:off x="822960" y="3959352"/>
            <a:ext cx="1463040" cy="274320"/>
          </a:xfrm>
          <a:prstGeom prst="rect">
            <a:avLst/>
          </a:prstGeom>
          <a:noFill/>
        </p:spPr>
        <p:txBody>
          <a:bodyPr wrap="square" anchor="t" lIns="0" rIns="0" tIns="0" bIns="0">
            <a:spAutoFit/>
          </a:bodyPr>
          <a:lstStyle/>
          <a:p>
            <a:pPr algn="r">
              <a:lnSpc>
                <a:spcPct val="130000"/>
              </a:lnSpc>
              <a:spcAft>
                <a:spcPts val="0"/>
              </a:spcAft>
            </a:pPr>
            <a:r>
              <a:rPr sz="1200" b="0" i="0">
                <a:solidFill>
                  <a:srgbClr val="191E19"/>
                </a:solidFill>
                <a:latin typeface="Consolas"/>
              </a:rPr>
              <a:t>numpy</a:t>
            </a:r>
          </a:p>
        </p:txBody>
      </p:sp>
      <p:sp>
        <p:nvSpPr>
          <p:cNvPr id="15" name="Rectangle 14"/>
          <p:cNvSpPr/>
          <p:nvPr/>
        </p:nvSpPr>
        <p:spPr>
          <a:xfrm>
            <a:off x="2468880" y="3977640"/>
            <a:ext cx="1414272" cy="219456"/>
          </a:xfrm>
          <a:prstGeom prst="rect">
            <a:avLst/>
          </a:prstGeom>
          <a:solidFill>
            <a:srgbClr val="DCD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74592" y="3950208"/>
            <a:ext cx="9144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58 MB</a:t>
            </a:r>
          </a:p>
        </p:txBody>
      </p:sp>
      <p:sp>
        <p:nvSpPr>
          <p:cNvPr id="17" name="TextBox 16"/>
          <p:cNvSpPr txBox="1"/>
          <p:nvPr/>
        </p:nvSpPr>
        <p:spPr>
          <a:xfrm>
            <a:off x="822960" y="4325112"/>
            <a:ext cx="1463040" cy="274320"/>
          </a:xfrm>
          <a:prstGeom prst="rect">
            <a:avLst/>
          </a:prstGeom>
          <a:noFill/>
        </p:spPr>
        <p:txBody>
          <a:bodyPr wrap="square" anchor="t" lIns="0" rIns="0" tIns="0" bIns="0">
            <a:spAutoFit/>
          </a:bodyPr>
          <a:lstStyle/>
          <a:p>
            <a:pPr algn="r">
              <a:lnSpc>
                <a:spcPct val="130000"/>
              </a:lnSpc>
              <a:spcAft>
                <a:spcPts val="0"/>
              </a:spcAft>
            </a:pPr>
            <a:r>
              <a:rPr sz="1200" b="0" i="0">
                <a:solidFill>
                  <a:srgbClr val="191E19"/>
                </a:solidFill>
                <a:latin typeface="Consolas"/>
              </a:rPr>
              <a:t>pandas</a:t>
            </a:r>
          </a:p>
        </p:txBody>
      </p:sp>
      <p:sp>
        <p:nvSpPr>
          <p:cNvPr id="18" name="Rectangle 17"/>
          <p:cNvSpPr/>
          <p:nvPr/>
        </p:nvSpPr>
        <p:spPr>
          <a:xfrm>
            <a:off x="2468880" y="4343400"/>
            <a:ext cx="1024128" cy="219456"/>
          </a:xfrm>
          <a:prstGeom prst="rect">
            <a:avLst/>
          </a:prstGeom>
          <a:solidFill>
            <a:srgbClr val="DCD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84448" y="4315968"/>
            <a:ext cx="9144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42 MB</a:t>
            </a:r>
          </a:p>
        </p:txBody>
      </p:sp>
      <p:sp>
        <p:nvSpPr>
          <p:cNvPr id="20" name="TextBox 19"/>
          <p:cNvSpPr txBox="1"/>
          <p:nvPr/>
        </p:nvSpPr>
        <p:spPr>
          <a:xfrm>
            <a:off x="822960" y="4690872"/>
            <a:ext cx="1463040" cy="274320"/>
          </a:xfrm>
          <a:prstGeom prst="rect">
            <a:avLst/>
          </a:prstGeom>
          <a:noFill/>
        </p:spPr>
        <p:txBody>
          <a:bodyPr wrap="square" anchor="t" lIns="0" rIns="0" tIns="0" bIns="0">
            <a:spAutoFit/>
          </a:bodyPr>
          <a:lstStyle/>
          <a:p>
            <a:pPr algn="r">
              <a:lnSpc>
                <a:spcPct val="130000"/>
              </a:lnSpc>
              <a:spcAft>
                <a:spcPts val="0"/>
              </a:spcAft>
            </a:pPr>
            <a:r>
              <a:rPr sz="1200" b="0" i="0">
                <a:solidFill>
                  <a:srgbClr val="191E19"/>
                </a:solidFill>
                <a:latin typeface="Consolas"/>
              </a:rPr>
              <a:t>scikit-learn</a:t>
            </a:r>
          </a:p>
        </p:txBody>
      </p:sp>
      <p:sp>
        <p:nvSpPr>
          <p:cNvPr id="21" name="Rectangle 20"/>
          <p:cNvSpPr/>
          <p:nvPr/>
        </p:nvSpPr>
        <p:spPr>
          <a:xfrm>
            <a:off x="2468880" y="4709160"/>
            <a:ext cx="780288" cy="219456"/>
          </a:xfrm>
          <a:prstGeom prst="rect">
            <a:avLst/>
          </a:prstGeom>
          <a:solidFill>
            <a:srgbClr val="DCD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40608" y="4681728"/>
            <a:ext cx="9144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32 MB</a:t>
            </a:r>
          </a:p>
        </p:txBody>
      </p:sp>
      <p:cxnSp>
        <p:nvCxnSpPr>
          <p:cNvPr id="23" name="Connector 22"/>
          <p:cNvCxnSpPr/>
          <p:nvPr/>
        </p:nvCxnSpPr>
        <p:spPr>
          <a:xfrm>
            <a:off x="2468880" y="5111496"/>
            <a:ext cx="8778240" cy="0"/>
          </a:xfrm>
          <a:prstGeom prst="line">
            <a:avLst/>
          </a:prstGeom>
          <a:ln w="12700">
            <a:solidFill>
              <a:srgbClr val="DCD9C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2960" y="5257800"/>
            <a:ext cx="1463040" cy="274320"/>
          </a:xfrm>
          <a:prstGeom prst="rect">
            <a:avLst/>
          </a:prstGeom>
          <a:noFill/>
        </p:spPr>
        <p:txBody>
          <a:bodyPr wrap="square" anchor="t" lIns="0" rIns="0" tIns="0" bIns="0">
            <a:spAutoFit/>
          </a:bodyPr>
          <a:lstStyle/>
          <a:p>
            <a:pPr algn="r">
              <a:lnSpc>
                <a:spcPct val="130000"/>
              </a:lnSpc>
              <a:spcAft>
                <a:spcPts val="0"/>
              </a:spcAft>
            </a:pPr>
            <a:r>
              <a:rPr sz="1200" b="1" i="0">
                <a:solidFill>
                  <a:srgbClr val="191E19"/>
                </a:solidFill>
                <a:latin typeface="Consolas"/>
              </a:rPr>
              <a:t>TOTAL</a:t>
            </a:r>
          </a:p>
        </p:txBody>
      </p:sp>
      <p:sp>
        <p:nvSpPr>
          <p:cNvPr id="25" name="Rectangle 24"/>
          <p:cNvSpPr/>
          <p:nvPr/>
        </p:nvSpPr>
        <p:spPr>
          <a:xfrm>
            <a:off x="2468880" y="5248656"/>
            <a:ext cx="7973568" cy="292608"/>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52176" y="5276088"/>
            <a:ext cx="1280160" cy="274320"/>
          </a:xfrm>
          <a:prstGeom prst="rect">
            <a:avLst/>
          </a:prstGeom>
          <a:noFill/>
        </p:spPr>
        <p:txBody>
          <a:bodyPr wrap="square" anchor="t" lIns="0" rIns="0" tIns="0" bIns="0">
            <a:spAutoFit/>
          </a:bodyPr>
          <a:lstStyle/>
          <a:p>
            <a:pPr algn="l">
              <a:lnSpc>
                <a:spcPct val="130000"/>
              </a:lnSpc>
              <a:spcAft>
                <a:spcPts val="0"/>
              </a:spcAft>
            </a:pPr>
            <a:r>
              <a:rPr sz="1300" b="1" i="0">
                <a:solidFill>
                  <a:srgbClr val="6B2545"/>
                </a:solidFill>
                <a:latin typeface="Consolas"/>
              </a:rPr>
              <a:t>327 MB</a:t>
            </a:r>
          </a:p>
        </p:txBody>
      </p:sp>
      <p:cxnSp>
        <p:nvCxnSpPr>
          <p:cNvPr id="27" name="Connector 26"/>
          <p:cNvCxnSpPr/>
          <p:nvPr/>
        </p:nvCxnSpPr>
        <p:spPr>
          <a:xfrm>
            <a:off x="8564880" y="3063240"/>
            <a:ext cx="0" cy="2578608"/>
          </a:xfrm>
          <a:prstGeom prst="line">
            <a:avLst/>
          </a:prstGeom>
          <a:ln w="19050">
            <a:solidFill>
              <a:srgbClr val="191E19"/>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273040" y="2761488"/>
            <a:ext cx="3200400" cy="274320"/>
          </a:xfrm>
          <a:prstGeom prst="rect">
            <a:avLst/>
          </a:prstGeom>
          <a:noFill/>
        </p:spPr>
        <p:txBody>
          <a:bodyPr wrap="square" anchor="t" lIns="0" rIns="0" tIns="0" bIns="0">
            <a:spAutoFit/>
          </a:bodyPr>
          <a:lstStyle/>
          <a:p>
            <a:pPr algn="r">
              <a:lnSpc>
                <a:spcPct val="130000"/>
              </a:lnSpc>
              <a:spcAft>
                <a:spcPts val="0"/>
              </a:spcAft>
            </a:pPr>
            <a:r>
              <a:rPr sz="1050" b="0" i="0" spc="140">
                <a:solidFill>
                  <a:srgbClr val="191E19"/>
                </a:solidFill>
                <a:latin typeface="Consolas"/>
              </a:rPr>
              <a:t>250 MB  ·  VERCEL HOBBY LIMIT</a:t>
            </a:r>
          </a:p>
        </p:txBody>
      </p:sp>
      <p:sp>
        <p:nvSpPr>
          <p:cNvPr id="29" name="TextBox 28"/>
          <p:cNvSpPr txBox="1"/>
          <p:nvPr/>
        </p:nvSpPr>
        <p:spPr>
          <a:xfrm>
            <a:off x="822960" y="5943600"/>
            <a:ext cx="7315200" cy="365760"/>
          </a:xfrm>
          <a:prstGeom prst="rect">
            <a:avLst/>
          </a:prstGeom>
          <a:noFill/>
        </p:spPr>
        <p:txBody>
          <a:bodyPr wrap="square" anchor="t" lIns="0" rIns="0" tIns="0" bIns="0">
            <a:spAutoFit/>
          </a:bodyPr>
          <a:lstStyle/>
          <a:p>
            <a:pPr algn="l">
              <a:lnSpc>
                <a:spcPct val="130000"/>
              </a:lnSpc>
              <a:spcAft>
                <a:spcPts val="0"/>
              </a:spcAft>
            </a:pPr>
            <a:r>
              <a:rPr sz="1500" b="0" i="0">
                <a:solidFill>
                  <a:srgbClr val="191E19"/>
                </a:solidFill>
                <a:latin typeface="Segoe UI"/>
              </a:rPr>
              <a:t>The deploy fails before a single prediction is ever served.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THE INSIGHT</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A boosted tree is</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just a lot of if-statements</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09</a:t>
            </a:r>
          </a:p>
        </p:txBody>
      </p:sp>
      <p:sp>
        <p:nvSpPr>
          <p:cNvPr id="7" name="TextBox 6"/>
          <p:cNvSpPr txBox="1"/>
          <p:nvPr/>
        </p:nvSpPr>
        <p:spPr>
          <a:xfrm>
            <a:off x="822960" y="2194560"/>
            <a:ext cx="5120640" cy="1188720"/>
          </a:xfrm>
          <a:prstGeom prst="rect">
            <a:avLst/>
          </a:prstGeom>
          <a:noFill/>
        </p:spPr>
        <p:txBody>
          <a:bodyPr wrap="square" anchor="t" lIns="0" rIns="0" tIns="0" bIns="0">
            <a:spAutoFit/>
          </a:bodyPr>
          <a:lstStyle/>
          <a:p>
            <a:pPr algn="l">
              <a:lnSpc>
                <a:spcPct val="150000"/>
              </a:lnSpc>
              <a:spcAft>
                <a:spcPts val="0"/>
              </a:spcAft>
            </a:pPr>
            <a:r>
              <a:rPr sz="1550" b="0" i="0">
                <a:solidFill>
                  <a:srgbClr val="191E19"/>
                </a:solidFill>
                <a:latin typeface="Segoe UI"/>
              </a:rPr>
              <a:t>Training needs XGBoost. Predicting does not. Inference is: walk each tree comparing one feature to one threshold, sum the leaf weights, add the base score. Fifteen lines in any language.</a:t>
            </a:r>
          </a:p>
        </p:txBody>
      </p:sp>
      <p:sp>
        <p:nvSpPr>
          <p:cNvPr id="8" name="Rectangle 7"/>
          <p:cNvSpPr/>
          <p:nvPr/>
        </p:nvSpPr>
        <p:spPr>
          <a:xfrm>
            <a:off x="6400800" y="2148840"/>
            <a:ext cx="4937760" cy="352044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0" y="2148840"/>
            <a:ext cx="45720" cy="352044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39572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function rawPredict(features: number[]): number {</a:t>
            </a:r>
          </a:p>
        </p:txBody>
      </p:sp>
      <p:sp>
        <p:nvSpPr>
          <p:cNvPr id="11" name="TextBox 10"/>
          <p:cNvSpPr txBox="1"/>
          <p:nvPr/>
        </p:nvSpPr>
        <p:spPr>
          <a:xfrm>
            <a:off x="6720840" y="264718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let total = BASE_SCORE</a:t>
            </a:r>
          </a:p>
        </p:txBody>
      </p:sp>
      <p:sp>
        <p:nvSpPr>
          <p:cNvPr id="12" name="TextBox 11"/>
          <p:cNvSpPr txBox="1"/>
          <p:nvPr/>
        </p:nvSpPr>
        <p:spPr>
          <a:xfrm>
            <a:off x="6720840" y="289864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for (const tree of TREES) {</a:t>
            </a:r>
          </a:p>
        </p:txBody>
      </p:sp>
      <p:sp>
        <p:nvSpPr>
          <p:cNvPr id="13" name="TextBox 12"/>
          <p:cNvSpPr txBox="1"/>
          <p:nvPr/>
        </p:nvSpPr>
        <p:spPr>
          <a:xfrm>
            <a:off x="6720840" y="315010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let node = 0</a:t>
            </a:r>
          </a:p>
        </p:txBody>
      </p:sp>
      <p:sp>
        <p:nvSpPr>
          <p:cNvPr id="14" name="TextBox 13"/>
          <p:cNvSpPr txBox="1"/>
          <p:nvPr/>
        </p:nvSpPr>
        <p:spPr>
          <a:xfrm>
            <a:off x="6720840" y="340156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while (tree.l[node] !== -1) {</a:t>
            </a:r>
          </a:p>
        </p:txBody>
      </p:sp>
      <p:sp>
        <p:nvSpPr>
          <p:cNvPr id="15" name="TextBox 14"/>
          <p:cNvSpPr txBox="1"/>
          <p:nvPr/>
        </p:nvSpPr>
        <p:spPr>
          <a:xfrm>
            <a:off x="6720840" y="365302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node = features[tree.f[node]] &lt; tree.t[node]</a:t>
            </a:r>
          </a:p>
        </p:txBody>
      </p:sp>
      <p:sp>
        <p:nvSpPr>
          <p:cNvPr id="16" name="TextBox 15"/>
          <p:cNvSpPr txBox="1"/>
          <p:nvPr/>
        </p:nvSpPr>
        <p:spPr>
          <a:xfrm>
            <a:off x="6720840" y="390448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 tree.l[node]</a:t>
            </a:r>
          </a:p>
        </p:txBody>
      </p:sp>
      <p:sp>
        <p:nvSpPr>
          <p:cNvPr id="17" name="TextBox 16"/>
          <p:cNvSpPr txBox="1"/>
          <p:nvPr/>
        </p:nvSpPr>
        <p:spPr>
          <a:xfrm>
            <a:off x="6720840" y="415594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 tree.r[node]</a:t>
            </a:r>
          </a:p>
        </p:txBody>
      </p:sp>
      <p:sp>
        <p:nvSpPr>
          <p:cNvPr id="18" name="TextBox 17"/>
          <p:cNvSpPr txBox="1"/>
          <p:nvPr/>
        </p:nvSpPr>
        <p:spPr>
          <a:xfrm>
            <a:off x="6720840" y="440740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a:t>
            </a:r>
          </a:p>
        </p:txBody>
      </p:sp>
      <p:sp>
        <p:nvSpPr>
          <p:cNvPr id="19" name="TextBox 18"/>
          <p:cNvSpPr txBox="1"/>
          <p:nvPr/>
        </p:nvSpPr>
        <p:spPr>
          <a:xfrm>
            <a:off x="6720840" y="465886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total += tree.w[node]</a:t>
            </a:r>
          </a:p>
        </p:txBody>
      </p:sp>
      <p:sp>
        <p:nvSpPr>
          <p:cNvPr id="20" name="TextBox 19"/>
          <p:cNvSpPr txBox="1"/>
          <p:nvPr/>
        </p:nvSpPr>
        <p:spPr>
          <a:xfrm>
            <a:off x="6720840" y="491032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a:t>
            </a:r>
          </a:p>
        </p:txBody>
      </p:sp>
      <p:sp>
        <p:nvSpPr>
          <p:cNvPr id="21" name="TextBox 20"/>
          <p:cNvSpPr txBox="1"/>
          <p:nvPr/>
        </p:nvSpPr>
        <p:spPr>
          <a:xfrm>
            <a:off x="6720840" y="516178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  return total</a:t>
            </a:r>
          </a:p>
        </p:txBody>
      </p:sp>
      <p:sp>
        <p:nvSpPr>
          <p:cNvPr id="22" name="TextBox 21"/>
          <p:cNvSpPr txBox="1"/>
          <p:nvPr/>
        </p:nvSpPr>
        <p:spPr>
          <a:xfrm>
            <a:off x="6720840" y="5413248"/>
            <a:ext cx="4480560" cy="237744"/>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a:t>
            </a:r>
          </a:p>
        </p:txBody>
      </p:sp>
      <p:sp>
        <p:nvSpPr>
          <p:cNvPr id="23" name="TextBox 22"/>
          <p:cNvSpPr txBox="1"/>
          <p:nvPr/>
        </p:nvSpPr>
        <p:spPr>
          <a:xfrm>
            <a:off x="822960" y="3749039"/>
            <a:ext cx="1371600" cy="457200"/>
          </a:xfrm>
          <a:prstGeom prst="rect">
            <a:avLst/>
          </a:prstGeom>
          <a:noFill/>
        </p:spPr>
        <p:txBody>
          <a:bodyPr wrap="square" anchor="t" lIns="0" rIns="0" tIns="0" bIns="0">
            <a:spAutoFit/>
          </a:bodyPr>
          <a:lstStyle/>
          <a:p>
            <a:pPr algn="l">
              <a:lnSpc>
                <a:spcPct val="130000"/>
              </a:lnSpc>
              <a:spcAft>
                <a:spcPts val="0"/>
              </a:spcAft>
            </a:pPr>
            <a:r>
              <a:rPr sz="2600" b="1" i="0">
                <a:solidFill>
                  <a:srgbClr val="2F5D46"/>
                </a:solidFill>
                <a:latin typeface="Consolas"/>
              </a:rPr>
              <a:t>400</a:t>
            </a:r>
          </a:p>
        </p:txBody>
      </p:sp>
      <p:sp>
        <p:nvSpPr>
          <p:cNvPr id="24" name="TextBox 23"/>
          <p:cNvSpPr txBox="1"/>
          <p:nvPr/>
        </p:nvSpPr>
        <p:spPr>
          <a:xfrm>
            <a:off x="822960" y="4279392"/>
            <a:ext cx="1371600" cy="457200"/>
          </a:xfrm>
          <a:prstGeom prst="rect">
            <a:avLst/>
          </a:prstGeom>
          <a:noFill/>
        </p:spPr>
        <p:txBody>
          <a:bodyPr wrap="square" anchor="t" lIns="0" rIns="0" tIns="0" bIns="0">
            <a:spAutoFit/>
          </a:bodyPr>
          <a:lstStyle/>
          <a:p>
            <a:pPr algn="l">
              <a:lnSpc>
                <a:spcPct val="125000"/>
              </a:lnSpc>
              <a:spcAft>
                <a:spcPts val="0"/>
              </a:spcAft>
            </a:pPr>
            <a:r>
              <a:rPr sz="1200" b="0" i="0">
                <a:solidFill>
                  <a:srgbClr val="5C625A"/>
                </a:solidFill>
                <a:latin typeface="Segoe UI"/>
              </a:rPr>
              <a:t>trees traversed</a:t>
            </a:r>
          </a:p>
        </p:txBody>
      </p:sp>
      <p:sp>
        <p:nvSpPr>
          <p:cNvPr id="25" name="TextBox 24"/>
          <p:cNvSpPr txBox="1"/>
          <p:nvPr/>
        </p:nvSpPr>
        <p:spPr>
          <a:xfrm>
            <a:off x="2240280" y="3749039"/>
            <a:ext cx="1371600" cy="457200"/>
          </a:xfrm>
          <a:prstGeom prst="rect">
            <a:avLst/>
          </a:prstGeom>
          <a:noFill/>
        </p:spPr>
        <p:txBody>
          <a:bodyPr wrap="square" anchor="t" lIns="0" rIns="0" tIns="0" bIns="0">
            <a:spAutoFit/>
          </a:bodyPr>
          <a:lstStyle/>
          <a:p>
            <a:pPr algn="l">
              <a:lnSpc>
                <a:spcPct val="130000"/>
              </a:lnSpc>
              <a:spcAft>
                <a:spcPts val="0"/>
              </a:spcAft>
            </a:pPr>
            <a:r>
              <a:rPr sz="2600" b="1" i="0">
                <a:solidFill>
                  <a:srgbClr val="2F5D46"/>
                </a:solidFill>
                <a:latin typeface="Consolas"/>
              </a:rPr>
              <a:t>10</a:t>
            </a:r>
          </a:p>
        </p:txBody>
      </p:sp>
      <p:sp>
        <p:nvSpPr>
          <p:cNvPr id="26" name="TextBox 25"/>
          <p:cNvSpPr txBox="1"/>
          <p:nvPr/>
        </p:nvSpPr>
        <p:spPr>
          <a:xfrm>
            <a:off x="2240280" y="4279392"/>
            <a:ext cx="1371600" cy="457200"/>
          </a:xfrm>
          <a:prstGeom prst="rect">
            <a:avLst/>
          </a:prstGeom>
          <a:noFill/>
        </p:spPr>
        <p:txBody>
          <a:bodyPr wrap="square" anchor="t" lIns="0" rIns="0" tIns="0" bIns="0">
            <a:spAutoFit/>
          </a:bodyPr>
          <a:lstStyle/>
          <a:p>
            <a:pPr algn="l">
              <a:lnSpc>
                <a:spcPct val="125000"/>
              </a:lnSpc>
              <a:spcAft>
                <a:spcPts val="0"/>
              </a:spcAft>
            </a:pPr>
            <a:r>
              <a:rPr sz="1200" b="0" i="0">
                <a:solidFill>
                  <a:srgbClr val="5C625A"/>
                </a:solidFill>
                <a:latin typeface="Segoe UI"/>
              </a:rPr>
              <a:t>features each</a:t>
            </a:r>
          </a:p>
        </p:txBody>
      </p:sp>
      <p:sp>
        <p:nvSpPr>
          <p:cNvPr id="27" name="TextBox 26"/>
          <p:cNvSpPr txBox="1"/>
          <p:nvPr/>
        </p:nvSpPr>
        <p:spPr>
          <a:xfrm>
            <a:off x="3657600" y="3749039"/>
            <a:ext cx="1371600" cy="457200"/>
          </a:xfrm>
          <a:prstGeom prst="rect">
            <a:avLst/>
          </a:prstGeom>
          <a:noFill/>
        </p:spPr>
        <p:txBody>
          <a:bodyPr wrap="square" anchor="t" lIns="0" rIns="0" tIns="0" bIns="0">
            <a:spAutoFit/>
          </a:bodyPr>
          <a:lstStyle/>
          <a:p>
            <a:pPr algn="l">
              <a:lnSpc>
                <a:spcPct val="130000"/>
              </a:lnSpc>
              <a:spcAft>
                <a:spcPts val="0"/>
              </a:spcAft>
            </a:pPr>
            <a:r>
              <a:rPr sz="2600" b="1" i="0">
                <a:solidFill>
                  <a:srgbClr val="2F5D46"/>
                </a:solidFill>
                <a:latin typeface="Consolas"/>
              </a:rPr>
              <a:t>2.4 MB</a:t>
            </a:r>
          </a:p>
        </p:txBody>
      </p:sp>
      <p:sp>
        <p:nvSpPr>
          <p:cNvPr id="28" name="TextBox 27"/>
          <p:cNvSpPr txBox="1"/>
          <p:nvPr/>
        </p:nvSpPr>
        <p:spPr>
          <a:xfrm>
            <a:off x="3657600" y="4279392"/>
            <a:ext cx="1371600" cy="457200"/>
          </a:xfrm>
          <a:prstGeom prst="rect">
            <a:avLst/>
          </a:prstGeom>
          <a:noFill/>
        </p:spPr>
        <p:txBody>
          <a:bodyPr wrap="square" anchor="t" lIns="0" rIns="0" tIns="0" bIns="0">
            <a:spAutoFit/>
          </a:bodyPr>
          <a:lstStyle/>
          <a:p>
            <a:pPr algn="l">
              <a:lnSpc>
                <a:spcPct val="125000"/>
              </a:lnSpc>
              <a:spcAft>
                <a:spcPts val="0"/>
              </a:spcAft>
            </a:pPr>
            <a:r>
              <a:rPr sz="1200" b="0" i="0">
                <a:solidFill>
                  <a:srgbClr val="5C625A"/>
                </a:solidFill>
                <a:latin typeface="Segoe UI"/>
              </a:rPr>
              <a:t>of JSON</a:t>
            </a:r>
          </a:p>
        </p:txBody>
      </p:sp>
      <p:sp>
        <p:nvSpPr>
          <p:cNvPr id="29" name="TextBox 28"/>
          <p:cNvSpPr txBox="1"/>
          <p:nvPr/>
        </p:nvSpPr>
        <p:spPr>
          <a:xfrm>
            <a:off x="5074920" y="3749039"/>
            <a:ext cx="1371600" cy="457200"/>
          </a:xfrm>
          <a:prstGeom prst="rect">
            <a:avLst/>
          </a:prstGeom>
          <a:noFill/>
        </p:spPr>
        <p:txBody>
          <a:bodyPr wrap="square" anchor="t" lIns="0" rIns="0" tIns="0" bIns="0">
            <a:spAutoFit/>
          </a:bodyPr>
          <a:lstStyle/>
          <a:p>
            <a:pPr algn="l">
              <a:lnSpc>
                <a:spcPct val="130000"/>
              </a:lnSpc>
              <a:spcAft>
                <a:spcPts val="0"/>
              </a:spcAft>
            </a:pPr>
            <a:r>
              <a:rPr sz="2600" b="1" i="0">
                <a:solidFill>
                  <a:srgbClr val="2F5D46"/>
                </a:solidFill>
                <a:latin typeface="Consolas"/>
              </a:rPr>
              <a:t>0</a:t>
            </a:r>
          </a:p>
        </p:txBody>
      </p:sp>
      <p:sp>
        <p:nvSpPr>
          <p:cNvPr id="30" name="TextBox 29"/>
          <p:cNvSpPr txBox="1"/>
          <p:nvPr/>
        </p:nvSpPr>
        <p:spPr>
          <a:xfrm>
            <a:off x="5074920" y="4279392"/>
            <a:ext cx="1371600" cy="457200"/>
          </a:xfrm>
          <a:prstGeom prst="rect">
            <a:avLst/>
          </a:prstGeom>
          <a:noFill/>
        </p:spPr>
        <p:txBody>
          <a:bodyPr wrap="square" anchor="t" lIns="0" rIns="0" tIns="0" bIns="0">
            <a:spAutoFit/>
          </a:bodyPr>
          <a:lstStyle/>
          <a:p>
            <a:pPr algn="l">
              <a:lnSpc>
                <a:spcPct val="125000"/>
              </a:lnSpc>
              <a:spcAft>
                <a:spcPts val="0"/>
              </a:spcAft>
            </a:pPr>
            <a:r>
              <a:rPr sz="1200" b="0" i="0">
                <a:solidFill>
                  <a:srgbClr val="5C625A"/>
                </a:solidFill>
                <a:latin typeface="Segoe UI"/>
              </a:rPr>
              <a:t>ML dependencies</a:t>
            </a:r>
          </a:p>
        </p:txBody>
      </p:sp>
      <p:sp>
        <p:nvSpPr>
          <p:cNvPr id="31" name="TextBox 30"/>
          <p:cNvSpPr txBox="1"/>
          <p:nvPr/>
        </p:nvSpPr>
        <p:spPr>
          <a:xfrm>
            <a:off x="822960" y="4983480"/>
            <a:ext cx="5120640" cy="914400"/>
          </a:xfrm>
          <a:prstGeom prst="rect">
            <a:avLst/>
          </a:prstGeom>
          <a:noFill/>
        </p:spPr>
        <p:txBody>
          <a:bodyPr wrap="square" anchor="t" lIns="0" rIns="0" tIns="0" bIns="0">
            <a:spAutoFit/>
          </a:bodyPr>
          <a:lstStyle/>
          <a:p>
            <a:pPr algn="l">
              <a:lnSpc>
                <a:spcPct val="145000"/>
              </a:lnSpc>
              <a:spcAft>
                <a:spcPts val="0"/>
              </a:spcAft>
            </a:pPr>
            <a:r>
              <a:rPr sz="1400" b="0" i="0">
                <a:solidFill>
                  <a:srgbClr val="5C625A"/>
                </a:solidFill>
                <a:latin typeface="Segoe UI"/>
              </a:rPr>
              <a:t>The model exports to JSON: tree arrays, encoder maps, feature order, and a 24-point price history per series. The deployed function ships none of the Python stack.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VERIFICATION</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Two languages,</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one number</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10</a:t>
            </a:r>
          </a:p>
        </p:txBody>
      </p:sp>
      <p:sp>
        <p:nvSpPr>
          <p:cNvPr id="7" name="TextBox 6"/>
          <p:cNvSpPr txBox="1"/>
          <p:nvPr/>
        </p:nvSpPr>
        <p:spPr>
          <a:xfrm>
            <a:off x="822960" y="2194560"/>
            <a:ext cx="5029200" cy="1463040"/>
          </a:xfrm>
          <a:prstGeom prst="rect">
            <a:avLst/>
          </a:prstGeom>
          <a:noFill/>
        </p:spPr>
        <p:txBody>
          <a:bodyPr wrap="square" anchor="t" lIns="0" rIns="0" tIns="0" bIns="0">
            <a:spAutoFit/>
          </a:bodyPr>
          <a:lstStyle/>
          <a:p>
            <a:pPr algn="l">
              <a:lnSpc>
                <a:spcPct val="150000"/>
              </a:lnSpc>
              <a:spcAft>
                <a:spcPts val="0"/>
              </a:spcAft>
            </a:pPr>
            <a:r>
              <a:rPr sz="1550" b="0" i="0">
                <a:solidFill>
                  <a:srgbClr val="191E19"/>
                </a:solidFill>
                <a:latin typeface="Segoe UI"/>
              </a:rPr>
              <a:t>A port is only worth anything if it agrees with the original. The test suite pins the TypeScript traversal to the Python model's own answer for a known series — a wrong feature order or a flipped comparison changes that number, and nothing else would catch it.</a:t>
            </a:r>
          </a:p>
        </p:txBody>
      </p:sp>
      <p:sp>
        <p:nvSpPr>
          <p:cNvPr id="8" name="Rectangle 7"/>
          <p:cNvSpPr/>
          <p:nvPr/>
        </p:nvSpPr>
        <p:spPr>
          <a:xfrm>
            <a:off x="6309360" y="2148840"/>
            <a:ext cx="5029200" cy="370332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09360" y="2148840"/>
            <a:ext cx="45720" cy="370332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0" y="2450592"/>
            <a:ext cx="4206240" cy="274320"/>
          </a:xfrm>
          <a:prstGeom prst="rect">
            <a:avLst/>
          </a:prstGeom>
          <a:noFill/>
        </p:spPr>
        <p:txBody>
          <a:bodyPr wrap="square" anchor="t" lIns="0" rIns="0" tIns="0" bIns="0">
            <a:spAutoFit/>
          </a:bodyPr>
          <a:lstStyle/>
          <a:p>
            <a:pPr algn="l">
              <a:lnSpc>
                <a:spcPct val="130000"/>
              </a:lnSpc>
              <a:spcAft>
                <a:spcPts val="0"/>
              </a:spcAft>
            </a:pPr>
            <a:r>
              <a:rPr sz="950" b="0" i="0" spc="160">
                <a:solidFill>
                  <a:srgbClr val="5C625A"/>
                </a:solidFill>
                <a:latin typeface="Consolas"/>
              </a:rPr>
              <a:t>REFERENCE CASE</a:t>
            </a:r>
          </a:p>
        </p:txBody>
      </p:sp>
      <p:sp>
        <p:nvSpPr>
          <p:cNvPr id="11" name="TextBox 10"/>
          <p:cNvSpPr txBox="1"/>
          <p:nvPr/>
        </p:nvSpPr>
        <p:spPr>
          <a:xfrm>
            <a:off x="6675120" y="2834640"/>
            <a:ext cx="13716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commodity</a:t>
            </a:r>
          </a:p>
        </p:txBody>
      </p:sp>
      <p:sp>
        <p:nvSpPr>
          <p:cNvPr id="12" name="TextBox 11"/>
          <p:cNvSpPr txBox="1"/>
          <p:nvPr/>
        </p:nvSpPr>
        <p:spPr>
          <a:xfrm>
            <a:off x="8092440" y="2834640"/>
            <a:ext cx="3017520" cy="365760"/>
          </a:xfrm>
          <a:prstGeom prst="rect">
            <a:avLst/>
          </a:prstGeom>
          <a:noFill/>
        </p:spPr>
        <p:txBody>
          <a:bodyPr wrap="square" anchor="t" lIns="0" rIns="0" tIns="0" bIns="0">
            <a:spAutoFit/>
          </a:bodyPr>
          <a:lstStyle/>
          <a:p>
            <a:pPr algn="l">
              <a:lnSpc>
                <a:spcPct val="130000"/>
              </a:lnSpc>
              <a:spcAft>
                <a:spcPts val="0"/>
              </a:spcAft>
            </a:pPr>
            <a:r>
              <a:rPr sz="1350" b="0" i="0">
                <a:solidFill>
                  <a:srgbClr val="191E19"/>
                </a:solidFill>
                <a:latin typeface="Segoe UI"/>
              </a:rPr>
              <a:t>Rice (mixed, low quality)</a:t>
            </a:r>
          </a:p>
        </p:txBody>
      </p:sp>
      <p:sp>
        <p:nvSpPr>
          <p:cNvPr id="13" name="TextBox 12"/>
          <p:cNvSpPr txBox="1"/>
          <p:nvPr/>
        </p:nvSpPr>
        <p:spPr>
          <a:xfrm>
            <a:off x="6675120" y="3291840"/>
            <a:ext cx="13716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market</a:t>
            </a:r>
          </a:p>
        </p:txBody>
      </p:sp>
      <p:sp>
        <p:nvSpPr>
          <p:cNvPr id="14" name="TextBox 13"/>
          <p:cNvSpPr txBox="1"/>
          <p:nvPr/>
        </p:nvSpPr>
        <p:spPr>
          <a:xfrm>
            <a:off x="8092440" y="3291840"/>
            <a:ext cx="3017520" cy="365760"/>
          </a:xfrm>
          <a:prstGeom prst="rect">
            <a:avLst/>
          </a:prstGeom>
          <a:noFill/>
        </p:spPr>
        <p:txBody>
          <a:bodyPr wrap="square" anchor="t" lIns="0" rIns="0" tIns="0" bIns="0">
            <a:spAutoFit/>
          </a:bodyPr>
          <a:lstStyle/>
          <a:p>
            <a:pPr algn="l">
              <a:lnSpc>
                <a:spcPct val="130000"/>
              </a:lnSpc>
              <a:spcAft>
                <a:spcPts val="0"/>
              </a:spcAft>
            </a:pPr>
            <a:r>
              <a:rPr sz="1350" b="0" i="0">
                <a:solidFill>
                  <a:srgbClr val="191E19"/>
                </a:solidFill>
                <a:latin typeface="Segoe UI"/>
              </a:rPr>
              <a:t>Phnom Penh  ·  Wholesale</a:t>
            </a:r>
          </a:p>
        </p:txBody>
      </p:sp>
      <p:sp>
        <p:nvSpPr>
          <p:cNvPr id="15" name="TextBox 14"/>
          <p:cNvSpPr txBox="1"/>
          <p:nvPr/>
        </p:nvSpPr>
        <p:spPr>
          <a:xfrm>
            <a:off x="6675120" y="3749040"/>
            <a:ext cx="13716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last recorded</a:t>
            </a:r>
          </a:p>
        </p:txBody>
      </p:sp>
      <p:sp>
        <p:nvSpPr>
          <p:cNvPr id="16" name="TextBox 15"/>
          <p:cNvSpPr txBox="1"/>
          <p:nvPr/>
        </p:nvSpPr>
        <p:spPr>
          <a:xfrm>
            <a:off x="8092440" y="3749040"/>
            <a:ext cx="3017520" cy="365760"/>
          </a:xfrm>
          <a:prstGeom prst="rect">
            <a:avLst/>
          </a:prstGeom>
          <a:noFill/>
        </p:spPr>
        <p:txBody>
          <a:bodyPr wrap="square" anchor="t" lIns="0" rIns="0" tIns="0" bIns="0">
            <a:spAutoFit/>
          </a:bodyPr>
          <a:lstStyle/>
          <a:p>
            <a:pPr algn="l">
              <a:lnSpc>
                <a:spcPct val="130000"/>
              </a:lnSpc>
              <a:spcAft>
                <a:spcPts val="0"/>
              </a:spcAft>
            </a:pPr>
            <a:r>
              <a:rPr sz="1350" b="0" i="0">
                <a:solidFill>
                  <a:srgbClr val="191E19"/>
                </a:solidFill>
                <a:latin typeface="Segoe UI"/>
              </a:rPr>
              <a:t>2022-06  ·  $0.44</a:t>
            </a:r>
          </a:p>
        </p:txBody>
      </p:sp>
      <p:cxnSp>
        <p:nvCxnSpPr>
          <p:cNvPr id="17" name="Connector 16"/>
          <p:cNvCxnSpPr/>
          <p:nvPr/>
        </p:nvCxnSpPr>
        <p:spPr>
          <a:xfrm>
            <a:off x="6675120" y="4251960"/>
            <a:ext cx="4297680" cy="0"/>
          </a:xfrm>
          <a:prstGeom prst="line">
            <a:avLst/>
          </a:prstGeom>
          <a:ln w="12700">
            <a:solidFill>
              <a:srgbClr val="DCD9C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675120" y="4462272"/>
            <a:ext cx="18288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python  xgboost</a:t>
            </a:r>
          </a:p>
        </p:txBody>
      </p:sp>
      <p:sp>
        <p:nvSpPr>
          <p:cNvPr id="19" name="TextBox 18"/>
          <p:cNvSpPr txBox="1"/>
          <p:nvPr/>
        </p:nvSpPr>
        <p:spPr>
          <a:xfrm>
            <a:off x="8595360" y="4407408"/>
            <a:ext cx="2468880" cy="365760"/>
          </a:xfrm>
          <a:prstGeom prst="rect">
            <a:avLst/>
          </a:prstGeom>
          <a:noFill/>
        </p:spPr>
        <p:txBody>
          <a:bodyPr wrap="square" anchor="t" lIns="0" rIns="0" tIns="0" bIns="0">
            <a:spAutoFit/>
          </a:bodyPr>
          <a:lstStyle/>
          <a:p>
            <a:pPr algn="l">
              <a:lnSpc>
                <a:spcPct val="130000"/>
              </a:lnSpc>
              <a:spcAft>
                <a:spcPts val="0"/>
              </a:spcAft>
            </a:pPr>
            <a:r>
              <a:rPr sz="1900" b="0" i="0">
                <a:solidFill>
                  <a:srgbClr val="5C625A"/>
                </a:solidFill>
                <a:latin typeface="Consolas"/>
              </a:rPr>
              <a:t>0.460955</a:t>
            </a:r>
          </a:p>
        </p:txBody>
      </p:sp>
      <p:sp>
        <p:nvSpPr>
          <p:cNvPr id="20" name="TextBox 19"/>
          <p:cNvSpPr txBox="1"/>
          <p:nvPr/>
        </p:nvSpPr>
        <p:spPr>
          <a:xfrm>
            <a:off x="6675120" y="4992624"/>
            <a:ext cx="1828800" cy="274320"/>
          </a:xfrm>
          <a:prstGeom prst="rect">
            <a:avLst/>
          </a:prstGeom>
          <a:noFill/>
        </p:spPr>
        <p:txBody>
          <a:bodyPr wrap="square" anchor="t" lIns="0" rIns="0" tIns="0" bIns="0">
            <a:spAutoFit/>
          </a:bodyPr>
          <a:lstStyle/>
          <a:p>
            <a:pPr algn="l">
              <a:lnSpc>
                <a:spcPct val="130000"/>
              </a:lnSpc>
              <a:spcAft>
                <a:spcPts val="0"/>
              </a:spcAft>
            </a:pPr>
            <a:r>
              <a:rPr sz="1100" b="0" i="0">
                <a:solidFill>
                  <a:srgbClr val="5C625A"/>
                </a:solidFill>
                <a:latin typeface="Consolas"/>
              </a:rPr>
              <a:t>typescript  port</a:t>
            </a:r>
          </a:p>
        </p:txBody>
      </p:sp>
      <p:sp>
        <p:nvSpPr>
          <p:cNvPr id="21" name="TextBox 20"/>
          <p:cNvSpPr txBox="1"/>
          <p:nvPr/>
        </p:nvSpPr>
        <p:spPr>
          <a:xfrm>
            <a:off x="8595360" y="4937760"/>
            <a:ext cx="2468880" cy="365760"/>
          </a:xfrm>
          <a:prstGeom prst="rect">
            <a:avLst/>
          </a:prstGeom>
          <a:noFill/>
        </p:spPr>
        <p:txBody>
          <a:bodyPr wrap="square" anchor="t" lIns="0" rIns="0" tIns="0" bIns="0">
            <a:spAutoFit/>
          </a:bodyPr>
          <a:lstStyle/>
          <a:p>
            <a:pPr algn="l">
              <a:lnSpc>
                <a:spcPct val="130000"/>
              </a:lnSpc>
              <a:spcAft>
                <a:spcPts val="0"/>
              </a:spcAft>
            </a:pPr>
            <a:r>
              <a:rPr sz="1900" b="1" i="0">
                <a:solidFill>
                  <a:srgbClr val="2F5D46"/>
                </a:solidFill>
                <a:latin typeface="Consolas"/>
              </a:rPr>
              <a:t>0.4609556</a:t>
            </a:r>
          </a:p>
        </p:txBody>
      </p:sp>
      <p:sp>
        <p:nvSpPr>
          <p:cNvPr id="22" name="TextBox 21"/>
          <p:cNvSpPr txBox="1"/>
          <p:nvPr/>
        </p:nvSpPr>
        <p:spPr>
          <a:xfrm>
            <a:off x="6675120" y="5568696"/>
            <a:ext cx="4297680" cy="274320"/>
          </a:xfrm>
          <a:prstGeom prst="rect">
            <a:avLst/>
          </a:prstGeom>
          <a:noFill/>
        </p:spPr>
        <p:txBody>
          <a:bodyPr wrap="square" anchor="t" lIns="0" rIns="0" tIns="0" bIns="0">
            <a:spAutoFit/>
          </a:bodyPr>
          <a:lstStyle/>
          <a:p>
            <a:pPr algn="l">
              <a:lnSpc>
                <a:spcPct val="130000"/>
              </a:lnSpc>
              <a:spcAft>
                <a:spcPts val="0"/>
              </a:spcAft>
            </a:pPr>
            <a:r>
              <a:rPr sz="1100" b="0" i="0">
                <a:solidFill>
                  <a:srgbClr val="2F5D46"/>
                </a:solidFill>
                <a:latin typeface="Consolas"/>
              </a:rPr>
              <a:t>agree to 1e-5  ·  asserted on every test run</a:t>
            </a:r>
          </a:p>
        </p:txBody>
      </p:sp>
      <p:sp>
        <p:nvSpPr>
          <p:cNvPr id="23" name="TextBox 22"/>
          <p:cNvSpPr txBox="1"/>
          <p:nvPr/>
        </p:nvSpPr>
        <p:spPr>
          <a:xfrm>
            <a:off x="822960" y="4343400"/>
            <a:ext cx="5029200" cy="731520"/>
          </a:xfrm>
          <a:prstGeom prst="rect">
            <a:avLst/>
          </a:prstGeom>
          <a:noFill/>
        </p:spPr>
        <p:txBody>
          <a:bodyPr wrap="square" anchor="t" lIns="0" rIns="0" tIns="0" bIns="0">
            <a:spAutoFit/>
          </a:bodyPr>
          <a:lstStyle/>
          <a:p>
            <a:pPr algn="l">
              <a:lnSpc>
                <a:spcPct val="145000"/>
              </a:lnSpc>
              <a:spcAft>
                <a:spcPts val="0"/>
              </a:spcAft>
            </a:pPr>
            <a:r>
              <a:rPr sz="1400" b="0" i="0">
                <a:solidFill>
                  <a:srgbClr val="5C625A"/>
                </a:solidFill>
                <a:latin typeface="Segoe UI"/>
              </a:rPr>
              <a:t>19 tests cover the traversal, the fuzzy matching, the commodity/market splitter and every failure path.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THE RESULT</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It runs</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in a browser</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11</a:t>
            </a:r>
          </a:p>
        </p:txBody>
      </p:sp>
      <p:sp>
        <p:nvSpPr>
          <p:cNvPr id="7" name="TextBox 6"/>
          <p:cNvSpPr txBox="1"/>
          <p:nvPr/>
        </p:nvSpPr>
        <p:spPr>
          <a:xfrm>
            <a:off x="822960" y="2194560"/>
            <a:ext cx="5120640" cy="1097280"/>
          </a:xfrm>
          <a:prstGeom prst="rect">
            <a:avLst/>
          </a:prstGeom>
          <a:noFill/>
        </p:spPr>
        <p:txBody>
          <a:bodyPr wrap="square" anchor="t" lIns="0" rIns="0" tIns="0" bIns="0">
            <a:spAutoFit/>
          </a:bodyPr>
          <a:lstStyle/>
          <a:p>
            <a:pPr algn="l">
              <a:lnSpc>
                <a:spcPct val="150000"/>
              </a:lnSpc>
              <a:spcAft>
                <a:spcPts val="0"/>
              </a:spcAft>
            </a:pPr>
            <a:r>
              <a:rPr sz="1550" b="0" i="0">
                <a:solidFill>
                  <a:srgbClr val="191E19"/>
                </a:solidFill>
                <a:latin typeface="Segoe UI"/>
              </a:rPr>
              <a:t>Nuxt 4 on Vercel. The default forecast is server-rendered, so the chart is on screen at first paint — no spinner, no empty state.</a:t>
            </a:r>
          </a:p>
        </p:txBody>
      </p:sp>
      <p:sp>
        <p:nvSpPr>
          <p:cNvPr id="8" name="TextBox 7"/>
          <p:cNvSpPr txBox="1"/>
          <p:nvPr/>
        </p:nvSpPr>
        <p:spPr>
          <a:xfrm>
            <a:off x="822960" y="3383280"/>
            <a:ext cx="5029200" cy="256032"/>
          </a:xfrm>
          <a:prstGeom prst="rect">
            <a:avLst/>
          </a:prstGeom>
          <a:noFill/>
        </p:spPr>
        <p:txBody>
          <a:bodyPr wrap="square" anchor="t" lIns="0" rIns="0" tIns="0" bIns="0">
            <a:spAutoFit/>
          </a:bodyPr>
          <a:lstStyle/>
          <a:p>
            <a:pPr algn="l">
              <a:lnSpc>
                <a:spcPct val="130000"/>
              </a:lnSpc>
              <a:spcAft>
                <a:spcPts val="0"/>
              </a:spcAft>
            </a:pPr>
            <a:r>
              <a:rPr sz="1400" b="1" i="0">
                <a:solidFill>
                  <a:srgbClr val="191E19"/>
                </a:solidFill>
                <a:latin typeface="Segoe UI"/>
              </a:rPr>
              <a:t>Dependent dropdowns</a:t>
            </a:r>
          </a:p>
        </p:txBody>
      </p:sp>
      <p:sp>
        <p:nvSpPr>
          <p:cNvPr id="9" name="TextBox 8"/>
          <p:cNvSpPr txBox="1"/>
          <p:nvPr/>
        </p:nvSpPr>
        <p:spPr>
          <a:xfrm>
            <a:off x="822960" y="3630168"/>
            <a:ext cx="4937760" cy="365760"/>
          </a:xfrm>
          <a:prstGeom prst="rect">
            <a:avLst/>
          </a:prstGeom>
          <a:noFill/>
        </p:spPr>
        <p:txBody>
          <a:bodyPr wrap="square" anchor="t" lIns="0" rIns="0" tIns="0" bIns="0">
            <a:spAutoFit/>
          </a:bodyPr>
          <a:lstStyle/>
          <a:p>
            <a:pPr algn="l">
              <a:lnSpc>
                <a:spcPct val="135000"/>
              </a:lnSpc>
              <a:spcAft>
                <a:spcPts val="0"/>
              </a:spcAft>
            </a:pPr>
            <a:r>
              <a:rPr sz="1250" b="0" i="0">
                <a:solidFill>
                  <a:srgbClr val="5C625A"/>
                </a:solidFill>
                <a:latin typeface="Segoe UI"/>
              </a:rPr>
              <a:t>picking a commodity narrows the markets to those that carry it</a:t>
            </a:r>
          </a:p>
        </p:txBody>
      </p:sp>
      <p:sp>
        <p:nvSpPr>
          <p:cNvPr id="10" name="TextBox 9"/>
          <p:cNvSpPr txBox="1"/>
          <p:nvPr/>
        </p:nvSpPr>
        <p:spPr>
          <a:xfrm>
            <a:off x="822960" y="4096512"/>
            <a:ext cx="5029200" cy="256032"/>
          </a:xfrm>
          <a:prstGeom prst="rect">
            <a:avLst/>
          </a:prstGeom>
          <a:noFill/>
        </p:spPr>
        <p:txBody>
          <a:bodyPr wrap="square" anchor="t" lIns="0" rIns="0" tIns="0" bIns="0">
            <a:spAutoFit/>
          </a:bodyPr>
          <a:lstStyle/>
          <a:p>
            <a:pPr algn="l">
              <a:lnSpc>
                <a:spcPct val="130000"/>
              </a:lnSpc>
              <a:spcAft>
                <a:spcPts val="0"/>
              </a:spcAft>
            </a:pPr>
            <a:r>
              <a:rPr sz="1400" b="1" i="0">
                <a:solidFill>
                  <a:srgbClr val="191E19"/>
                </a:solidFill>
                <a:latin typeface="Segoe UI"/>
              </a:rPr>
              <a:t>Fuzzy input</a:t>
            </a:r>
          </a:p>
        </p:txBody>
      </p:sp>
      <p:sp>
        <p:nvSpPr>
          <p:cNvPr id="11" name="TextBox 10"/>
          <p:cNvSpPr txBox="1"/>
          <p:nvPr/>
        </p:nvSpPr>
        <p:spPr>
          <a:xfrm>
            <a:off x="822960" y="4343400"/>
            <a:ext cx="4937760" cy="365760"/>
          </a:xfrm>
          <a:prstGeom prst="rect">
            <a:avLst/>
          </a:prstGeom>
          <a:noFill/>
        </p:spPr>
        <p:txBody>
          <a:bodyPr wrap="square" anchor="t" lIns="0" rIns="0" tIns="0" bIns="0">
            <a:spAutoFit/>
          </a:bodyPr>
          <a:lstStyle/>
          <a:p>
            <a:pPr algn="l">
              <a:lnSpc>
                <a:spcPct val="135000"/>
              </a:lnSpc>
              <a:spcAft>
                <a:spcPts val="0"/>
              </a:spcAft>
            </a:pPr>
            <a:r>
              <a:rPr sz="1250" b="0" i="0">
                <a:solidFill>
                  <a:srgbClr val="5C625A"/>
                </a:solidFill>
                <a:latin typeface="Segoe UI"/>
              </a:rPr>
              <a:t>"rice" resolves to Rice (mixed, low quality) — shortest match wins</a:t>
            </a:r>
          </a:p>
        </p:txBody>
      </p:sp>
      <p:sp>
        <p:nvSpPr>
          <p:cNvPr id="12" name="TextBox 11"/>
          <p:cNvSpPr txBox="1"/>
          <p:nvPr/>
        </p:nvSpPr>
        <p:spPr>
          <a:xfrm>
            <a:off x="822960" y="4809744"/>
            <a:ext cx="5029200" cy="256032"/>
          </a:xfrm>
          <a:prstGeom prst="rect">
            <a:avLst/>
          </a:prstGeom>
          <a:noFill/>
        </p:spPr>
        <p:txBody>
          <a:bodyPr wrap="square" anchor="t" lIns="0" rIns="0" tIns="0" bIns="0">
            <a:spAutoFit/>
          </a:bodyPr>
          <a:lstStyle/>
          <a:p>
            <a:pPr algn="l">
              <a:lnSpc>
                <a:spcPct val="130000"/>
              </a:lnSpc>
              <a:spcAft>
                <a:spcPts val="0"/>
              </a:spcAft>
            </a:pPr>
            <a:r>
              <a:rPr sz="1400" b="1" i="0">
                <a:solidFill>
                  <a:srgbClr val="191E19"/>
                </a:solidFill>
                <a:latin typeface="Segoe UI"/>
              </a:rPr>
              <a:t>Cached at the edge</a:t>
            </a:r>
          </a:p>
        </p:txBody>
      </p:sp>
      <p:sp>
        <p:nvSpPr>
          <p:cNvPr id="13" name="TextBox 12"/>
          <p:cNvSpPr txBox="1"/>
          <p:nvPr/>
        </p:nvSpPr>
        <p:spPr>
          <a:xfrm>
            <a:off x="822960" y="5056632"/>
            <a:ext cx="4937760" cy="365760"/>
          </a:xfrm>
          <a:prstGeom prst="rect">
            <a:avLst/>
          </a:prstGeom>
          <a:noFill/>
        </p:spPr>
        <p:txBody>
          <a:bodyPr wrap="square" anchor="t" lIns="0" rIns="0" tIns="0" bIns="0">
            <a:spAutoFit/>
          </a:bodyPr>
          <a:lstStyle/>
          <a:p>
            <a:pPr algn="l">
              <a:lnSpc>
                <a:spcPct val="135000"/>
              </a:lnSpc>
              <a:spcAft>
                <a:spcPts val="0"/>
              </a:spcAft>
            </a:pPr>
            <a:r>
              <a:rPr sz="1250" b="0" i="0">
                <a:solidFill>
                  <a:srgbClr val="5C625A"/>
                </a:solidFill>
                <a:latin typeface="Segoe UI"/>
              </a:rPr>
              <a:t>options for a day, forecasts for an hour</a:t>
            </a:r>
          </a:p>
        </p:txBody>
      </p:sp>
      <p:sp>
        <p:nvSpPr>
          <p:cNvPr id="14" name="TextBox 13"/>
          <p:cNvSpPr txBox="1"/>
          <p:nvPr/>
        </p:nvSpPr>
        <p:spPr>
          <a:xfrm>
            <a:off x="822960" y="5522976"/>
            <a:ext cx="5029200" cy="256032"/>
          </a:xfrm>
          <a:prstGeom prst="rect">
            <a:avLst/>
          </a:prstGeom>
          <a:noFill/>
        </p:spPr>
        <p:txBody>
          <a:bodyPr wrap="square" anchor="t" lIns="0" rIns="0" tIns="0" bIns="0">
            <a:spAutoFit/>
          </a:bodyPr>
          <a:lstStyle/>
          <a:p>
            <a:pPr algn="l">
              <a:lnSpc>
                <a:spcPct val="130000"/>
              </a:lnSpc>
              <a:spcAft>
                <a:spcPts val="0"/>
              </a:spcAft>
            </a:pPr>
            <a:r>
              <a:rPr sz="1400" b="1" i="0">
                <a:solidFill>
                  <a:srgbClr val="191E19"/>
                </a:solidFill>
                <a:latin typeface="Segoe UI"/>
              </a:rPr>
              <a:t>Responsive to 390px</a:t>
            </a:r>
          </a:p>
        </p:txBody>
      </p:sp>
      <p:sp>
        <p:nvSpPr>
          <p:cNvPr id="15" name="TextBox 14"/>
          <p:cNvSpPr txBox="1"/>
          <p:nvPr/>
        </p:nvSpPr>
        <p:spPr>
          <a:xfrm>
            <a:off x="822960" y="5769864"/>
            <a:ext cx="4937760" cy="365760"/>
          </a:xfrm>
          <a:prstGeom prst="rect">
            <a:avLst/>
          </a:prstGeom>
          <a:noFill/>
        </p:spPr>
        <p:txBody>
          <a:bodyPr wrap="square" anchor="t" lIns="0" rIns="0" tIns="0" bIns="0">
            <a:spAutoFit/>
          </a:bodyPr>
          <a:lstStyle/>
          <a:p>
            <a:pPr algn="l">
              <a:lnSpc>
                <a:spcPct val="135000"/>
              </a:lnSpc>
              <a:spcAft>
                <a:spcPts val="0"/>
              </a:spcAft>
            </a:pPr>
            <a:r>
              <a:rPr sz="1250" b="0" i="0">
                <a:solidFill>
                  <a:srgbClr val="5C625A"/>
                </a:solidFill>
                <a:latin typeface="Segoe UI"/>
              </a:rPr>
              <a:t>the chart switches to a narrower viewBox, not smaller type</a:t>
            </a:r>
          </a:p>
        </p:txBody>
      </p:sp>
      <p:pic>
        <p:nvPicPr>
          <p:cNvPr id="16" name="Picture 15" descr="hero.png"/>
          <p:cNvPicPr>
            <a:picLocks noChangeAspect="1"/>
          </p:cNvPicPr>
          <p:nvPr/>
        </p:nvPicPr>
        <p:blipFill>
          <a:blip r:embed="rId2"/>
          <a:stretch>
            <a:fillRect/>
          </a:stretch>
        </p:blipFill>
        <p:spPr>
          <a:xfrm>
            <a:off x="6766560" y="457200"/>
            <a:ext cx="5273269" cy="59436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DESIGN DECISION</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Where the record ends</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must be unmistakable</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12</a:t>
            </a:r>
          </a:p>
        </p:txBody>
      </p:sp>
      <p:pic>
        <p:nvPicPr>
          <p:cNvPr id="7" name="Picture 6" descr="chart_card.png"/>
          <p:cNvPicPr>
            <a:picLocks noChangeAspect="1"/>
          </p:cNvPicPr>
          <p:nvPr/>
        </p:nvPicPr>
        <p:blipFill>
          <a:blip r:embed="rId2"/>
          <a:stretch>
            <a:fillRect/>
          </a:stretch>
        </p:blipFill>
        <p:spPr>
          <a:xfrm>
            <a:off x="822960" y="2194560"/>
            <a:ext cx="6675120" cy="3287245"/>
          </a:xfrm>
          <a:prstGeom prst="rect">
            <a:avLst/>
          </a:prstGeom>
        </p:spPr>
      </p:pic>
      <p:sp>
        <p:nvSpPr>
          <p:cNvPr id="8" name="TextBox 7"/>
          <p:cNvSpPr txBox="1"/>
          <p:nvPr/>
        </p:nvSpPr>
        <p:spPr>
          <a:xfrm>
            <a:off x="7955279" y="2194560"/>
            <a:ext cx="3383280" cy="1645920"/>
          </a:xfrm>
          <a:prstGeom prst="rect">
            <a:avLst/>
          </a:prstGeom>
          <a:noFill/>
        </p:spPr>
        <p:txBody>
          <a:bodyPr wrap="square" anchor="t" lIns="0" rIns="0" tIns="0" bIns="0">
            <a:spAutoFit/>
          </a:bodyPr>
          <a:lstStyle/>
          <a:p>
            <a:pPr algn="l">
              <a:lnSpc>
                <a:spcPct val="150000"/>
              </a:lnSpc>
              <a:spcAft>
                <a:spcPts val="0"/>
              </a:spcAft>
            </a:pPr>
            <a:r>
              <a:rPr sz="1450" b="0" i="0">
                <a:solidFill>
                  <a:srgbClr val="191E19"/>
                </a:solidFill>
                <a:latin typeface="Segoe UI"/>
              </a:rPr>
              <a:t>A charting library would draw the forecast as the next point on the same line. That is a lie of omission: it renders a model estimate with exactly the same authority as a recorded observation.</a:t>
            </a:r>
          </a:p>
        </p:txBody>
      </p:sp>
      <p:sp>
        <p:nvSpPr>
          <p:cNvPr id="9" name="Rectangle 8"/>
          <p:cNvSpPr/>
          <p:nvPr/>
        </p:nvSpPr>
        <p:spPr>
          <a:xfrm>
            <a:off x="7955279" y="3950208"/>
            <a:ext cx="146304" cy="146304"/>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3886200"/>
            <a:ext cx="3108960" cy="256032"/>
          </a:xfrm>
          <a:prstGeom prst="rect">
            <a:avLst/>
          </a:prstGeom>
          <a:noFill/>
        </p:spPr>
        <p:txBody>
          <a:bodyPr wrap="square" anchor="t" lIns="0" rIns="0" tIns="0" bIns="0">
            <a:spAutoFit/>
          </a:bodyPr>
          <a:lstStyle/>
          <a:p>
            <a:pPr algn="l">
              <a:lnSpc>
                <a:spcPct val="130000"/>
              </a:lnSpc>
              <a:spcAft>
                <a:spcPts val="0"/>
              </a:spcAft>
            </a:pPr>
            <a:r>
              <a:rPr sz="1300" b="1" i="0">
                <a:solidFill>
                  <a:srgbClr val="191E19"/>
                </a:solidFill>
                <a:latin typeface="Segoe UI"/>
              </a:rPr>
              <a:t>Solid green</a:t>
            </a:r>
          </a:p>
        </p:txBody>
      </p:sp>
      <p:sp>
        <p:nvSpPr>
          <p:cNvPr id="11" name="TextBox 10"/>
          <p:cNvSpPr txBox="1"/>
          <p:nvPr/>
        </p:nvSpPr>
        <p:spPr>
          <a:xfrm>
            <a:off x="8229600" y="4114800"/>
            <a:ext cx="310896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prices actually recorded</a:t>
            </a:r>
          </a:p>
        </p:txBody>
      </p:sp>
      <p:sp>
        <p:nvSpPr>
          <p:cNvPr id="12" name="Rectangle 11"/>
          <p:cNvSpPr/>
          <p:nvPr/>
        </p:nvSpPr>
        <p:spPr>
          <a:xfrm>
            <a:off x="7955279" y="4498848"/>
            <a:ext cx="146304" cy="146304"/>
          </a:xfrm>
          <a:prstGeom prst="rect">
            <a:avLst/>
          </a:prstGeom>
          <a:solidFill>
            <a:srgbClr val="A06D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4434840"/>
            <a:ext cx="3108960" cy="256032"/>
          </a:xfrm>
          <a:prstGeom prst="rect">
            <a:avLst/>
          </a:prstGeom>
          <a:noFill/>
        </p:spPr>
        <p:txBody>
          <a:bodyPr wrap="square" anchor="t" lIns="0" rIns="0" tIns="0" bIns="0">
            <a:spAutoFit/>
          </a:bodyPr>
          <a:lstStyle/>
          <a:p>
            <a:pPr algn="l">
              <a:lnSpc>
                <a:spcPct val="130000"/>
              </a:lnSpc>
              <a:spcAft>
                <a:spcPts val="0"/>
              </a:spcAft>
            </a:pPr>
            <a:r>
              <a:rPr sz="1300" b="1" i="0">
                <a:solidFill>
                  <a:srgbClr val="191E19"/>
                </a:solidFill>
                <a:latin typeface="Segoe UI"/>
              </a:rPr>
              <a:t>Dashed amber</a:t>
            </a:r>
          </a:p>
        </p:txBody>
      </p:sp>
      <p:sp>
        <p:nvSpPr>
          <p:cNvPr id="14" name="TextBox 13"/>
          <p:cNvSpPr txBox="1"/>
          <p:nvPr/>
        </p:nvSpPr>
        <p:spPr>
          <a:xfrm>
            <a:off x="8229600" y="4663440"/>
            <a:ext cx="310896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the model's estimate, rising</a:t>
            </a:r>
          </a:p>
        </p:txBody>
      </p:sp>
      <p:sp>
        <p:nvSpPr>
          <p:cNvPr id="15" name="Rectangle 14"/>
          <p:cNvSpPr/>
          <p:nvPr/>
        </p:nvSpPr>
        <p:spPr>
          <a:xfrm>
            <a:off x="7955279" y="5047488"/>
            <a:ext cx="146304" cy="146304"/>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4983480"/>
            <a:ext cx="3108960" cy="256032"/>
          </a:xfrm>
          <a:prstGeom prst="rect">
            <a:avLst/>
          </a:prstGeom>
          <a:noFill/>
        </p:spPr>
        <p:txBody>
          <a:bodyPr wrap="square" anchor="t" lIns="0" rIns="0" tIns="0" bIns="0">
            <a:spAutoFit/>
          </a:bodyPr>
          <a:lstStyle/>
          <a:p>
            <a:pPr algn="l">
              <a:lnSpc>
                <a:spcPct val="130000"/>
              </a:lnSpc>
              <a:spcAft>
                <a:spcPts val="0"/>
              </a:spcAft>
            </a:pPr>
            <a:r>
              <a:rPr sz="1300" b="1" i="0">
                <a:solidFill>
                  <a:srgbClr val="191E19"/>
                </a:solidFill>
                <a:latin typeface="Segoe UI"/>
              </a:rPr>
              <a:t>Dashed red</a:t>
            </a:r>
          </a:p>
        </p:txBody>
      </p:sp>
      <p:sp>
        <p:nvSpPr>
          <p:cNvPr id="17" name="TextBox 16"/>
          <p:cNvSpPr txBox="1"/>
          <p:nvPr/>
        </p:nvSpPr>
        <p:spPr>
          <a:xfrm>
            <a:off x="8229600" y="5212080"/>
            <a:ext cx="310896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the model's estimate, falling</a:t>
            </a:r>
          </a:p>
        </p:txBody>
      </p:sp>
      <p:sp>
        <p:nvSpPr>
          <p:cNvPr id="18" name="Rectangle 17"/>
          <p:cNvSpPr/>
          <p:nvPr/>
        </p:nvSpPr>
        <p:spPr>
          <a:xfrm>
            <a:off x="7955279" y="5596128"/>
            <a:ext cx="146304" cy="146304"/>
          </a:xfrm>
          <a:prstGeom prst="rect">
            <a:avLst/>
          </a:prstGeom>
          <a:solidFill>
            <a:srgbClr val="5C62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5532120"/>
            <a:ext cx="3108960" cy="256032"/>
          </a:xfrm>
          <a:prstGeom prst="rect">
            <a:avLst/>
          </a:prstGeom>
          <a:noFill/>
        </p:spPr>
        <p:txBody>
          <a:bodyPr wrap="square" anchor="t" lIns="0" rIns="0" tIns="0" bIns="0">
            <a:spAutoFit/>
          </a:bodyPr>
          <a:lstStyle/>
          <a:p>
            <a:pPr algn="l">
              <a:lnSpc>
                <a:spcPct val="130000"/>
              </a:lnSpc>
              <a:spcAft>
                <a:spcPts val="0"/>
              </a:spcAft>
            </a:pPr>
            <a:r>
              <a:rPr sz="1300" b="1" i="0">
                <a:solidFill>
                  <a:srgbClr val="191E19"/>
                </a:solidFill>
                <a:latin typeface="Segoe UI"/>
              </a:rPr>
              <a:t>Hollow ring</a:t>
            </a:r>
          </a:p>
        </p:txBody>
      </p:sp>
      <p:sp>
        <p:nvSpPr>
          <p:cNvPr id="20" name="TextBox 19"/>
          <p:cNvSpPr txBox="1"/>
          <p:nvPr/>
        </p:nvSpPr>
        <p:spPr>
          <a:xfrm>
            <a:off x="8229600" y="5760720"/>
            <a:ext cx="3108960" cy="256032"/>
          </a:xfrm>
          <a:prstGeom prst="rect">
            <a:avLst/>
          </a:prstGeom>
          <a:noFill/>
        </p:spPr>
        <p:txBody>
          <a:bodyPr wrap="square" anchor="t" lIns="0" rIns="0" tIns="0" bIns="0">
            <a:spAutoFit/>
          </a:bodyPr>
          <a:lstStyle/>
          <a:p>
            <a:pPr algn="l">
              <a:lnSpc>
                <a:spcPct val="130000"/>
              </a:lnSpc>
              <a:spcAft>
                <a:spcPts val="0"/>
              </a:spcAft>
            </a:pPr>
            <a:r>
              <a:rPr sz="1200" b="0" i="0">
                <a:solidFill>
                  <a:srgbClr val="5C625A"/>
                </a:solidFill>
                <a:latin typeface="Segoe UI"/>
              </a:rPr>
              <a:t>not an observation</a:t>
            </a:r>
          </a:p>
        </p:txBody>
      </p:sp>
      <p:sp>
        <p:nvSpPr>
          <p:cNvPr id="21" name="TextBox 20"/>
          <p:cNvSpPr txBox="1"/>
          <p:nvPr/>
        </p:nvSpPr>
        <p:spPr>
          <a:xfrm>
            <a:off x="822960" y="6199632"/>
            <a:ext cx="9631375" cy="457200"/>
          </a:xfrm>
          <a:prstGeom prst="rect">
            <a:avLst/>
          </a:prstGeom>
          <a:noFill/>
        </p:spPr>
        <p:txBody>
          <a:bodyPr wrap="square" anchor="t" lIns="0" rIns="0" tIns="0" bIns="0">
            <a:spAutoFit/>
          </a:bodyPr>
          <a:lstStyle/>
          <a:p>
            <a:pPr algn="l">
              <a:lnSpc>
                <a:spcPct val="135000"/>
              </a:lnSpc>
              <a:spcAft>
                <a:spcPts val="0"/>
              </a:spcAft>
            </a:pPr>
            <a:r>
              <a:rPr sz="950" b="0" i="0" spc="60">
                <a:solidFill>
                  <a:srgbClr val="5C625A"/>
                </a:solidFill>
                <a:latin typeface="Consolas"/>
              </a:rPr>
              <a:t>Hand-rolled SVG — about 200 lines, no charting library.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HONESTY</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The chart ends</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in June 2022</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13</a:t>
            </a:r>
          </a:p>
        </p:txBody>
      </p:sp>
      <p:sp>
        <p:nvSpPr>
          <p:cNvPr id="7" name="TextBox 6"/>
          <p:cNvSpPr txBox="1"/>
          <p:nvPr/>
        </p:nvSpPr>
        <p:spPr>
          <a:xfrm>
            <a:off x="822960" y="2240280"/>
            <a:ext cx="5760720" cy="1463040"/>
          </a:xfrm>
          <a:prstGeom prst="rect">
            <a:avLst/>
          </a:prstGeom>
          <a:noFill/>
        </p:spPr>
        <p:txBody>
          <a:bodyPr wrap="square" anchor="t" lIns="0" rIns="0" tIns="0" bIns="0">
            <a:spAutoFit/>
          </a:bodyPr>
          <a:lstStyle/>
          <a:p>
            <a:pPr algn="l">
              <a:lnSpc>
                <a:spcPct val="150000"/>
              </a:lnSpc>
              <a:spcAft>
                <a:spcPts val="0"/>
              </a:spcAft>
            </a:pPr>
            <a:r>
              <a:rPr sz="1650" b="0" i="0">
                <a:solidFill>
                  <a:srgbClr val="191E19"/>
                </a:solidFill>
                <a:latin typeface="Segoe UI"/>
              </a:rPr>
              <a:t>The dataset runs to March 2026. This series does not. Rice wholesale prices in Phnom Penh stopped being reported in June 2022, and the app says so instead of carrying the line forward to look current.</a:t>
            </a:r>
          </a:p>
        </p:txBody>
      </p:sp>
      <p:sp>
        <p:nvSpPr>
          <p:cNvPr id="8" name="TextBox 7"/>
          <p:cNvSpPr txBox="1"/>
          <p:nvPr/>
        </p:nvSpPr>
        <p:spPr>
          <a:xfrm>
            <a:off x="822960" y="3840480"/>
            <a:ext cx="5760720" cy="1371600"/>
          </a:xfrm>
          <a:prstGeom prst="rect">
            <a:avLst/>
          </a:prstGeom>
          <a:noFill/>
        </p:spPr>
        <p:txBody>
          <a:bodyPr wrap="square" anchor="t" lIns="0" rIns="0" tIns="0" bIns="0">
            <a:spAutoFit/>
          </a:bodyPr>
          <a:lstStyle/>
          <a:p>
            <a:pPr algn="l">
              <a:lnSpc>
                <a:spcPct val="150000"/>
              </a:lnSpc>
              <a:spcAft>
                <a:spcPts val="0"/>
              </a:spcAft>
            </a:pPr>
            <a:r>
              <a:rPr sz="1450" b="0" i="0">
                <a:solidFill>
                  <a:srgbClr val="5C625A"/>
                </a:solidFill>
                <a:latin typeface="Segoe UI"/>
              </a:rPr>
              <a:t>Interpolating to today would have made every screenshot look better and every number less true. Of 4,035 series in the data, many stopped reporting years apart — a single “latest” date across the app would be fiction.</a:t>
            </a:r>
          </a:p>
        </p:txBody>
      </p:sp>
      <p:pic>
        <p:nvPicPr>
          <p:cNvPr id="9" name="Picture 8" descr="board_card.png"/>
          <p:cNvPicPr>
            <a:picLocks noChangeAspect="1"/>
          </p:cNvPicPr>
          <p:nvPr/>
        </p:nvPicPr>
        <p:blipFill>
          <a:blip r:embed="rId2"/>
          <a:stretch>
            <a:fillRect/>
          </a:stretch>
        </p:blipFill>
        <p:spPr>
          <a:xfrm>
            <a:off x="6675120" y="2514600"/>
            <a:ext cx="4937760" cy="178993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SECOND SURFACE</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The same engine,</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in a chat window</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14</a:t>
            </a:r>
          </a:p>
        </p:txBody>
      </p:sp>
      <p:sp>
        <p:nvSpPr>
          <p:cNvPr id="7" name="TextBox 6"/>
          <p:cNvSpPr txBox="1"/>
          <p:nvPr/>
        </p:nvSpPr>
        <p:spPr>
          <a:xfrm>
            <a:off x="822960" y="2194560"/>
            <a:ext cx="5394960" cy="914400"/>
          </a:xfrm>
          <a:prstGeom prst="rect">
            <a:avLst/>
          </a:prstGeom>
          <a:noFill/>
        </p:spPr>
        <p:txBody>
          <a:bodyPr wrap="square" anchor="t" lIns="0" rIns="0" tIns="0" bIns="0">
            <a:spAutoFit/>
          </a:bodyPr>
          <a:lstStyle/>
          <a:p>
            <a:pPr algn="l">
              <a:lnSpc>
                <a:spcPct val="150000"/>
              </a:lnSpc>
              <a:spcAft>
                <a:spcPts val="0"/>
              </a:spcAft>
            </a:pPr>
            <a:r>
              <a:rPr sz="1550" b="0" i="0">
                <a:solidFill>
                  <a:srgbClr val="191E19"/>
                </a:solidFill>
                <a:latin typeface="Segoe UI"/>
              </a:rPr>
              <a:t>One prediction engine, two front doors. The bot shares the exact code the web app calls — a Telegram update in, a formatted forecast out.</a:t>
            </a:r>
          </a:p>
        </p:txBody>
      </p:sp>
      <p:sp>
        <p:nvSpPr>
          <p:cNvPr id="8" name="TextBox 7"/>
          <p:cNvSpPr txBox="1"/>
          <p:nvPr/>
        </p:nvSpPr>
        <p:spPr>
          <a:xfrm>
            <a:off x="822960" y="3520440"/>
            <a:ext cx="5303520" cy="256032"/>
          </a:xfrm>
          <a:prstGeom prst="rect">
            <a:avLst/>
          </a:prstGeom>
          <a:noFill/>
        </p:spPr>
        <p:txBody>
          <a:bodyPr wrap="square" anchor="t" lIns="0" rIns="0" tIns="0" bIns="0">
            <a:spAutoFit/>
          </a:bodyPr>
          <a:lstStyle/>
          <a:p>
            <a:pPr algn="l">
              <a:lnSpc>
                <a:spcPct val="130000"/>
              </a:lnSpc>
              <a:spcAft>
                <a:spcPts val="0"/>
              </a:spcAft>
            </a:pPr>
            <a:r>
              <a:rPr sz="1400" b="1" i="0">
                <a:solidFill>
                  <a:srgbClr val="191E19"/>
                </a:solidFill>
                <a:latin typeface="Segoe UI"/>
              </a:rPr>
              <a:t>Reply in the response body</a:t>
            </a:r>
          </a:p>
        </p:txBody>
      </p:sp>
      <p:sp>
        <p:nvSpPr>
          <p:cNvPr id="9" name="TextBox 8"/>
          <p:cNvSpPr txBox="1"/>
          <p:nvPr/>
        </p:nvSpPr>
        <p:spPr>
          <a:xfrm>
            <a:off x="822960" y="3767328"/>
            <a:ext cx="5212080" cy="548640"/>
          </a:xfrm>
          <a:prstGeom prst="rect">
            <a:avLst/>
          </a:prstGeom>
          <a:noFill/>
        </p:spPr>
        <p:txBody>
          <a:bodyPr wrap="square" anchor="t" lIns="0" rIns="0" tIns="0" bIns="0">
            <a:spAutoFit/>
          </a:bodyPr>
          <a:lstStyle/>
          <a:p>
            <a:pPr algn="l">
              <a:lnSpc>
                <a:spcPct val="135000"/>
              </a:lnSpc>
              <a:spcAft>
                <a:spcPts val="0"/>
              </a:spcAft>
            </a:pPr>
            <a:r>
              <a:rPr sz="1250" b="0" i="0">
                <a:solidFill>
                  <a:srgbClr val="5C625A"/>
                </a:solidFill>
                <a:latin typeface="Segoe UI"/>
              </a:rPr>
              <a:t>the webhook returns the sendMessage call itself — no outbound request, and the bot token never reaches Vercel</a:t>
            </a:r>
          </a:p>
        </p:txBody>
      </p:sp>
      <p:sp>
        <p:nvSpPr>
          <p:cNvPr id="10" name="TextBox 9"/>
          <p:cNvSpPr txBox="1"/>
          <p:nvPr/>
        </p:nvSpPr>
        <p:spPr>
          <a:xfrm>
            <a:off x="822960" y="4361688"/>
            <a:ext cx="5303520" cy="256032"/>
          </a:xfrm>
          <a:prstGeom prst="rect">
            <a:avLst/>
          </a:prstGeom>
          <a:noFill/>
        </p:spPr>
        <p:txBody>
          <a:bodyPr wrap="square" anchor="t" lIns="0" rIns="0" tIns="0" bIns="0">
            <a:spAutoFit/>
          </a:bodyPr>
          <a:lstStyle/>
          <a:p>
            <a:pPr algn="l">
              <a:lnSpc>
                <a:spcPct val="130000"/>
              </a:lnSpc>
              <a:spcAft>
                <a:spcPts val="0"/>
              </a:spcAft>
            </a:pPr>
            <a:r>
              <a:rPr sz="1400" b="1" i="0">
                <a:solidFill>
                  <a:srgbClr val="191E19"/>
                </a:solidFill>
                <a:latin typeface="Segoe UI"/>
              </a:rPr>
              <a:t>Always HTTP 200</a:t>
            </a:r>
          </a:p>
        </p:txBody>
      </p:sp>
      <p:sp>
        <p:nvSpPr>
          <p:cNvPr id="11" name="TextBox 10"/>
          <p:cNvSpPr txBox="1"/>
          <p:nvPr/>
        </p:nvSpPr>
        <p:spPr>
          <a:xfrm>
            <a:off x="822960" y="4608576"/>
            <a:ext cx="5212080" cy="548640"/>
          </a:xfrm>
          <a:prstGeom prst="rect">
            <a:avLst/>
          </a:prstGeom>
          <a:noFill/>
        </p:spPr>
        <p:txBody>
          <a:bodyPr wrap="square" anchor="t" lIns="0" rIns="0" tIns="0" bIns="0">
            <a:spAutoFit/>
          </a:bodyPr>
          <a:lstStyle/>
          <a:p>
            <a:pPr algn="l">
              <a:lnSpc>
                <a:spcPct val="135000"/>
              </a:lnSpc>
              <a:spcAft>
                <a:spcPts val="0"/>
              </a:spcAft>
            </a:pPr>
            <a:r>
              <a:rPr sz="1250" b="0" i="0">
                <a:solidFill>
                  <a:srgbClr val="5C625A"/>
                </a:solidFill>
                <a:latin typeface="Segoe UI"/>
              </a:rPr>
              <a:t>a non-2xx makes Telegram retry the same update forever</a:t>
            </a:r>
          </a:p>
        </p:txBody>
      </p:sp>
      <p:sp>
        <p:nvSpPr>
          <p:cNvPr id="12" name="TextBox 11"/>
          <p:cNvSpPr txBox="1"/>
          <p:nvPr/>
        </p:nvSpPr>
        <p:spPr>
          <a:xfrm>
            <a:off x="822960" y="5202936"/>
            <a:ext cx="5303520" cy="256032"/>
          </a:xfrm>
          <a:prstGeom prst="rect">
            <a:avLst/>
          </a:prstGeom>
          <a:noFill/>
        </p:spPr>
        <p:txBody>
          <a:bodyPr wrap="square" anchor="t" lIns="0" rIns="0" tIns="0" bIns="0">
            <a:spAutoFit/>
          </a:bodyPr>
          <a:lstStyle/>
          <a:p>
            <a:pPr algn="l">
              <a:lnSpc>
                <a:spcPct val="130000"/>
              </a:lnSpc>
              <a:spcAft>
                <a:spcPts val="0"/>
              </a:spcAft>
            </a:pPr>
            <a:r>
              <a:rPr sz="1400" b="1" i="0">
                <a:solidFill>
                  <a:srgbClr val="191E19"/>
                </a:solidFill>
                <a:latin typeface="Segoe UI"/>
              </a:rPr>
              <a:t>Sparkline in Unicode blocks</a:t>
            </a:r>
          </a:p>
        </p:txBody>
      </p:sp>
      <p:sp>
        <p:nvSpPr>
          <p:cNvPr id="13" name="TextBox 12"/>
          <p:cNvSpPr txBox="1"/>
          <p:nvPr/>
        </p:nvSpPr>
        <p:spPr>
          <a:xfrm>
            <a:off x="822960" y="5449824"/>
            <a:ext cx="5212080" cy="548640"/>
          </a:xfrm>
          <a:prstGeom prst="rect">
            <a:avLst/>
          </a:prstGeom>
          <a:noFill/>
        </p:spPr>
        <p:txBody>
          <a:bodyPr wrap="square" anchor="t" lIns="0" rIns="0" tIns="0" bIns="0">
            <a:spAutoFit/>
          </a:bodyPr>
          <a:lstStyle/>
          <a:p>
            <a:pPr algn="l">
              <a:lnSpc>
                <a:spcPct val="135000"/>
              </a:lnSpc>
              <a:spcAft>
                <a:spcPts val="0"/>
              </a:spcAft>
            </a:pPr>
            <a:r>
              <a:rPr sz="1250" b="0" i="0">
                <a:solidFill>
                  <a:srgbClr val="5C625A"/>
                </a:solidFill>
                <a:latin typeface="Segoe UI"/>
              </a:rPr>
              <a:t>the only chart a chat window can render inline</a:t>
            </a:r>
          </a:p>
        </p:txBody>
      </p:sp>
      <p:sp>
        <p:nvSpPr>
          <p:cNvPr id="14" name="Rectangle 13"/>
          <p:cNvSpPr/>
          <p:nvPr/>
        </p:nvSpPr>
        <p:spPr>
          <a:xfrm>
            <a:off x="6766560" y="2148840"/>
            <a:ext cx="4572000" cy="365760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766560" y="2148840"/>
            <a:ext cx="45720" cy="365760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2468880"/>
            <a:ext cx="4023360" cy="274320"/>
          </a:xfrm>
          <a:prstGeom prst="rect">
            <a:avLst/>
          </a:prstGeom>
          <a:noFill/>
        </p:spPr>
        <p:txBody>
          <a:bodyPr wrap="square" anchor="t" lIns="0" rIns="0" tIns="0" bIns="0">
            <a:spAutoFit/>
          </a:bodyPr>
          <a:lstStyle/>
          <a:p>
            <a:pPr algn="l">
              <a:lnSpc>
                <a:spcPct val="130000"/>
              </a:lnSpc>
              <a:spcAft>
                <a:spcPts val="0"/>
              </a:spcAft>
            </a:pPr>
            <a:r>
              <a:rPr sz="1300" b="1" i="0">
                <a:solidFill>
                  <a:srgbClr val="2F5D46"/>
                </a:solidFill>
                <a:latin typeface="Consolas"/>
              </a:rPr>
              <a:t>/predict rice phnom penh</a:t>
            </a:r>
          </a:p>
        </p:txBody>
      </p:sp>
      <p:cxnSp>
        <p:nvCxnSpPr>
          <p:cNvPr id="17" name="Connector 16"/>
          <p:cNvCxnSpPr/>
          <p:nvPr/>
        </p:nvCxnSpPr>
        <p:spPr>
          <a:xfrm>
            <a:off x="7086600" y="2816352"/>
            <a:ext cx="3931920" cy="0"/>
          </a:xfrm>
          <a:prstGeom prst="line">
            <a:avLst/>
          </a:prstGeom>
          <a:ln w="12700">
            <a:solidFill>
              <a:srgbClr val="DCD9C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086600" y="2971800"/>
            <a:ext cx="4023360" cy="274320"/>
          </a:xfrm>
          <a:prstGeom prst="rect">
            <a:avLst/>
          </a:prstGeom>
          <a:noFill/>
        </p:spPr>
        <p:txBody>
          <a:bodyPr wrap="square" anchor="t" lIns="0" rIns="0" tIns="0" bIns="0">
            <a:spAutoFit/>
          </a:bodyPr>
          <a:lstStyle/>
          <a:p>
            <a:pPr algn="l">
              <a:lnSpc>
                <a:spcPct val="130000"/>
              </a:lnSpc>
              <a:spcAft>
                <a:spcPts val="0"/>
              </a:spcAft>
            </a:pPr>
            <a:r>
              <a:rPr sz="1400" b="1" i="0">
                <a:solidFill>
                  <a:srgbClr val="191E19"/>
                </a:solidFill>
                <a:latin typeface="Consolas"/>
              </a:rPr>
              <a:t>Rice (mixed, low quality)</a:t>
            </a:r>
          </a:p>
        </p:txBody>
      </p:sp>
      <p:sp>
        <p:nvSpPr>
          <p:cNvPr id="19" name="TextBox 18"/>
          <p:cNvSpPr txBox="1"/>
          <p:nvPr/>
        </p:nvSpPr>
        <p:spPr>
          <a:xfrm>
            <a:off x="7086600" y="3309619"/>
            <a:ext cx="4023360" cy="274320"/>
          </a:xfrm>
          <a:prstGeom prst="rect">
            <a:avLst/>
          </a:prstGeom>
          <a:noFill/>
        </p:spPr>
        <p:txBody>
          <a:bodyPr wrap="square" anchor="t" lIns="0" rIns="0" tIns="0" bIns="0">
            <a:spAutoFit/>
          </a:bodyPr>
          <a:lstStyle/>
          <a:p>
            <a:pPr algn="l">
              <a:lnSpc>
                <a:spcPct val="130000"/>
              </a:lnSpc>
              <a:spcAft>
                <a:spcPts val="0"/>
              </a:spcAft>
            </a:pPr>
            <a:r>
              <a:rPr sz="1150" b="0" i="0">
                <a:solidFill>
                  <a:srgbClr val="5C625A"/>
                </a:solidFill>
                <a:latin typeface="Consolas"/>
              </a:rPr>
              <a:t>Phnom Penh, Phnom Penh · Wholesale</a:t>
            </a:r>
          </a:p>
        </p:txBody>
      </p:sp>
      <p:sp>
        <p:nvSpPr>
          <p:cNvPr id="20" name="TextBox 19"/>
          <p:cNvSpPr txBox="1"/>
          <p:nvPr/>
        </p:nvSpPr>
        <p:spPr>
          <a:xfrm>
            <a:off x="7086600" y="3731894"/>
            <a:ext cx="4023360" cy="274320"/>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Last recorded (2022-06): $0.440 / KG</a:t>
            </a:r>
          </a:p>
        </p:txBody>
      </p:sp>
      <p:sp>
        <p:nvSpPr>
          <p:cNvPr id="21" name="TextBox 20"/>
          <p:cNvSpPr txBox="1"/>
          <p:nvPr/>
        </p:nvSpPr>
        <p:spPr>
          <a:xfrm>
            <a:off x="7086600" y="4009389"/>
            <a:ext cx="4023360" cy="274320"/>
          </a:xfrm>
          <a:prstGeom prst="rect">
            <a:avLst/>
          </a:prstGeom>
          <a:noFill/>
        </p:spPr>
        <p:txBody>
          <a:bodyPr wrap="square" anchor="t" lIns="0" rIns="0" tIns="0" bIns="0">
            <a:spAutoFit/>
          </a:bodyPr>
          <a:lstStyle/>
          <a:p>
            <a:pPr algn="l">
              <a:lnSpc>
                <a:spcPct val="130000"/>
              </a:lnSpc>
              <a:spcAft>
                <a:spcPts val="0"/>
              </a:spcAft>
            </a:pPr>
            <a:r>
              <a:rPr sz="1150" b="0" i="0">
                <a:solidFill>
                  <a:srgbClr val="191E19"/>
                </a:solidFill>
                <a:latin typeface="Consolas"/>
              </a:rPr>
              <a:t>Next period forecast: $0.461</a:t>
            </a:r>
          </a:p>
        </p:txBody>
      </p:sp>
      <p:sp>
        <p:nvSpPr>
          <p:cNvPr id="22" name="TextBox 21"/>
          <p:cNvSpPr txBox="1"/>
          <p:nvPr/>
        </p:nvSpPr>
        <p:spPr>
          <a:xfrm>
            <a:off x="7086600" y="4286884"/>
            <a:ext cx="4023360" cy="274320"/>
          </a:xfrm>
          <a:prstGeom prst="rect">
            <a:avLst/>
          </a:prstGeom>
          <a:noFill/>
        </p:spPr>
        <p:txBody>
          <a:bodyPr wrap="square" anchor="t" lIns="0" rIns="0" tIns="0" bIns="0">
            <a:spAutoFit/>
          </a:bodyPr>
          <a:lstStyle/>
          <a:p>
            <a:pPr algn="l">
              <a:lnSpc>
                <a:spcPct val="130000"/>
              </a:lnSpc>
              <a:spcAft>
                <a:spcPts val="0"/>
              </a:spcAft>
            </a:pPr>
            <a:r>
              <a:rPr sz="1250" b="1" i="0">
                <a:solidFill>
                  <a:srgbClr val="A06D05"/>
                </a:solidFill>
                <a:latin typeface="Consolas"/>
              </a:rPr>
              <a:t>▲ +4.8%</a:t>
            </a:r>
          </a:p>
        </p:txBody>
      </p:sp>
      <p:sp>
        <p:nvSpPr>
          <p:cNvPr id="23" name="TextBox 22"/>
          <p:cNvSpPr txBox="1"/>
          <p:nvPr/>
        </p:nvSpPr>
        <p:spPr>
          <a:xfrm>
            <a:off x="7086600" y="4733289"/>
            <a:ext cx="4023360" cy="274320"/>
          </a:xfrm>
          <a:prstGeom prst="rect">
            <a:avLst/>
          </a:prstGeom>
          <a:noFill/>
        </p:spPr>
        <p:txBody>
          <a:bodyPr wrap="square" anchor="t" lIns="0" rIns="0" tIns="0" bIns="0">
            <a:spAutoFit/>
          </a:bodyPr>
          <a:lstStyle/>
          <a:p>
            <a:pPr algn="l">
              <a:lnSpc>
                <a:spcPct val="130000"/>
              </a:lnSpc>
              <a:spcAft>
                <a:spcPts val="0"/>
              </a:spcAft>
            </a:pPr>
            <a:r>
              <a:rPr sz="1300" b="0" i="0">
                <a:solidFill>
                  <a:srgbClr val="2F5D46"/>
                </a:solidFill>
                <a:latin typeface="Consolas"/>
              </a:rPr>
              <a:t>▁▃▁▁▁▁▂▂▂▁▂▂▁▇▇▇▁▇▁▇▇▇█▇</a:t>
            </a:r>
          </a:p>
        </p:txBody>
      </p:sp>
      <p:sp>
        <p:nvSpPr>
          <p:cNvPr id="24" name="TextBox 23"/>
          <p:cNvSpPr txBox="1"/>
          <p:nvPr/>
        </p:nvSpPr>
        <p:spPr>
          <a:xfrm>
            <a:off x="7086600" y="5046979"/>
            <a:ext cx="4023360" cy="274320"/>
          </a:xfrm>
          <a:prstGeom prst="rect">
            <a:avLst/>
          </a:prstGeom>
          <a:noFill/>
        </p:spPr>
        <p:txBody>
          <a:bodyPr wrap="square" anchor="t" lIns="0" rIns="0" tIns="0" bIns="0">
            <a:spAutoFit/>
          </a:bodyPr>
          <a:lstStyle/>
          <a:p>
            <a:pPr algn="l">
              <a:lnSpc>
                <a:spcPct val="130000"/>
              </a:lnSpc>
              <a:spcAft>
                <a:spcPts val="0"/>
              </a:spcAft>
            </a:pPr>
            <a:r>
              <a:rPr sz="1050" b="0" i="0">
                <a:solidFill>
                  <a:srgbClr val="5C625A"/>
                </a:solidFill>
                <a:latin typeface="Consolas"/>
              </a:rPr>
              <a:t>2020-05 → 2022-06, 24 observations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LIMITATIONS</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What this model</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cannot do</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15</a:t>
            </a:r>
          </a:p>
        </p:txBody>
      </p:sp>
      <p:sp>
        <p:nvSpPr>
          <p:cNvPr id="7" name="Rectangle 6"/>
          <p:cNvSpPr/>
          <p:nvPr/>
        </p:nvSpPr>
        <p:spPr>
          <a:xfrm>
            <a:off x="822960" y="2340864"/>
            <a:ext cx="45720" cy="548640"/>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86000"/>
            <a:ext cx="10058400" cy="274320"/>
          </a:xfrm>
          <a:prstGeom prst="rect">
            <a:avLst/>
          </a:prstGeom>
          <a:noFill/>
        </p:spPr>
        <p:txBody>
          <a:bodyPr wrap="square" anchor="t" lIns="0" rIns="0" tIns="0" bIns="0">
            <a:spAutoFit/>
          </a:bodyPr>
          <a:lstStyle/>
          <a:p>
            <a:pPr algn="l">
              <a:lnSpc>
                <a:spcPct val="130000"/>
              </a:lnSpc>
              <a:spcAft>
                <a:spcPts val="0"/>
              </a:spcAft>
            </a:pPr>
            <a:r>
              <a:rPr sz="1550" b="1" i="0">
                <a:solidFill>
                  <a:srgbClr val="191E19"/>
                </a:solidFill>
                <a:latin typeface="Segoe UI"/>
              </a:rPr>
              <a:t>One period ahead, and no further</a:t>
            </a:r>
          </a:p>
        </p:txBody>
      </p:sp>
      <p:sp>
        <p:nvSpPr>
          <p:cNvPr id="9" name="TextBox 8"/>
          <p:cNvSpPr txBox="1"/>
          <p:nvPr/>
        </p:nvSpPr>
        <p:spPr>
          <a:xfrm>
            <a:off x="1097280" y="2587752"/>
            <a:ext cx="9692640" cy="457200"/>
          </a:xfrm>
          <a:prstGeom prst="rect">
            <a:avLst/>
          </a:prstGeom>
          <a:noFill/>
        </p:spPr>
        <p:txBody>
          <a:bodyPr wrap="square" anchor="t" lIns="0" rIns="0" tIns="0" bIns="0">
            <a:spAutoFit/>
          </a:bodyPr>
          <a:lstStyle/>
          <a:p>
            <a:pPr algn="l">
              <a:lnSpc>
                <a:spcPct val="140000"/>
              </a:lnSpc>
              <a:spcAft>
                <a:spcPts val="0"/>
              </a:spcAft>
            </a:pPr>
            <a:r>
              <a:rPr sz="1350" b="0" i="0">
                <a:solidFill>
                  <a:srgbClr val="5C625A"/>
                </a:solidFill>
                <a:latin typeface="Segoe UI"/>
              </a:rPr>
              <a:t>Every feature is a recent price. Feed the model its own output and error compounds fast — there is no multi-step forecast here.</a:t>
            </a:r>
          </a:p>
        </p:txBody>
      </p:sp>
      <p:sp>
        <p:nvSpPr>
          <p:cNvPr id="10" name="Rectangle 9"/>
          <p:cNvSpPr/>
          <p:nvPr/>
        </p:nvSpPr>
        <p:spPr>
          <a:xfrm>
            <a:off x="822960" y="3364992"/>
            <a:ext cx="45720" cy="548640"/>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310128"/>
            <a:ext cx="10058400" cy="274320"/>
          </a:xfrm>
          <a:prstGeom prst="rect">
            <a:avLst/>
          </a:prstGeom>
          <a:noFill/>
        </p:spPr>
        <p:txBody>
          <a:bodyPr wrap="square" anchor="t" lIns="0" rIns="0" tIns="0" bIns="0">
            <a:spAutoFit/>
          </a:bodyPr>
          <a:lstStyle/>
          <a:p>
            <a:pPr algn="l">
              <a:lnSpc>
                <a:spcPct val="130000"/>
              </a:lnSpc>
              <a:spcAft>
                <a:spcPts val="0"/>
              </a:spcAft>
            </a:pPr>
            <a:r>
              <a:rPr sz="1550" b="1" i="0">
                <a:solidFill>
                  <a:srgbClr val="191E19"/>
                </a:solidFill>
                <a:latin typeface="Segoe UI"/>
              </a:rPr>
              <a:t>It cannot see shocks coming</a:t>
            </a:r>
          </a:p>
        </p:txBody>
      </p:sp>
      <p:sp>
        <p:nvSpPr>
          <p:cNvPr id="12" name="TextBox 11"/>
          <p:cNvSpPr txBox="1"/>
          <p:nvPr/>
        </p:nvSpPr>
        <p:spPr>
          <a:xfrm>
            <a:off x="1097280" y="3611880"/>
            <a:ext cx="9692640" cy="457200"/>
          </a:xfrm>
          <a:prstGeom prst="rect">
            <a:avLst/>
          </a:prstGeom>
          <a:noFill/>
        </p:spPr>
        <p:txBody>
          <a:bodyPr wrap="square" anchor="t" lIns="0" rIns="0" tIns="0" bIns="0">
            <a:spAutoFit/>
          </a:bodyPr>
          <a:lstStyle/>
          <a:p>
            <a:pPr algn="l">
              <a:lnSpc>
                <a:spcPct val="140000"/>
              </a:lnSpc>
              <a:spcAft>
                <a:spcPts val="0"/>
              </a:spcAft>
            </a:pPr>
            <a:r>
              <a:rPr sz="1350" b="0" i="0">
                <a:solidFill>
                  <a:srgbClr val="5C625A"/>
                </a:solidFill>
                <a:latin typeface="Segoe UI"/>
              </a:rPr>
              <a:t>Fuel costs, export bans, floods, festival demand. None are in the feature set, and they are exactly what moves prices sharply.</a:t>
            </a:r>
          </a:p>
        </p:txBody>
      </p:sp>
      <p:sp>
        <p:nvSpPr>
          <p:cNvPr id="13" name="Rectangle 12"/>
          <p:cNvSpPr/>
          <p:nvPr/>
        </p:nvSpPr>
        <p:spPr>
          <a:xfrm>
            <a:off x="822960" y="4389120"/>
            <a:ext cx="45720" cy="548640"/>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4334256"/>
            <a:ext cx="10058400" cy="274320"/>
          </a:xfrm>
          <a:prstGeom prst="rect">
            <a:avLst/>
          </a:prstGeom>
          <a:noFill/>
        </p:spPr>
        <p:txBody>
          <a:bodyPr wrap="square" anchor="t" lIns="0" rIns="0" tIns="0" bIns="0">
            <a:spAutoFit/>
          </a:bodyPr>
          <a:lstStyle/>
          <a:p>
            <a:pPr algn="l">
              <a:lnSpc>
                <a:spcPct val="130000"/>
              </a:lnSpc>
              <a:spcAft>
                <a:spcPts val="0"/>
              </a:spcAft>
            </a:pPr>
            <a:r>
              <a:rPr sz="1550" b="1" i="0">
                <a:solidFill>
                  <a:srgbClr val="191E19"/>
                </a:solidFill>
                <a:latin typeface="Segoe UI"/>
              </a:rPr>
              <a:t>Stale series forecast from stale prices</a:t>
            </a:r>
          </a:p>
        </p:txBody>
      </p:sp>
      <p:sp>
        <p:nvSpPr>
          <p:cNvPr id="15" name="TextBox 14"/>
          <p:cNvSpPr txBox="1"/>
          <p:nvPr/>
        </p:nvSpPr>
        <p:spPr>
          <a:xfrm>
            <a:off x="1097280" y="4636008"/>
            <a:ext cx="9692640" cy="457200"/>
          </a:xfrm>
          <a:prstGeom prst="rect">
            <a:avLst/>
          </a:prstGeom>
          <a:noFill/>
        </p:spPr>
        <p:txBody>
          <a:bodyPr wrap="square" anchor="t" lIns="0" rIns="0" tIns="0" bIns="0">
            <a:spAutoFit/>
          </a:bodyPr>
          <a:lstStyle/>
          <a:p>
            <a:pPr algn="l">
              <a:lnSpc>
                <a:spcPct val="140000"/>
              </a:lnSpc>
              <a:spcAft>
                <a:spcPts val="0"/>
              </a:spcAft>
            </a:pPr>
            <a:r>
              <a:rPr sz="1350" b="0" i="0">
                <a:solidFill>
                  <a:srgbClr val="5C625A"/>
                </a:solidFill>
                <a:latin typeface="Segoe UI"/>
              </a:rPr>
              <a:t>A series last reported in 2022 gets a 2022-shaped answer. Honest, but not useful for today.</a:t>
            </a:r>
          </a:p>
        </p:txBody>
      </p:sp>
      <p:sp>
        <p:nvSpPr>
          <p:cNvPr id="16" name="Rectangle 15"/>
          <p:cNvSpPr/>
          <p:nvPr/>
        </p:nvSpPr>
        <p:spPr>
          <a:xfrm>
            <a:off x="822960" y="5413248"/>
            <a:ext cx="45720" cy="548640"/>
          </a:xfrm>
          <a:prstGeom prst="rect">
            <a:avLst/>
          </a:prstGeom>
          <a:solidFill>
            <a:srgbClr val="6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358384"/>
            <a:ext cx="10058400" cy="274320"/>
          </a:xfrm>
          <a:prstGeom prst="rect">
            <a:avLst/>
          </a:prstGeom>
          <a:noFill/>
        </p:spPr>
        <p:txBody>
          <a:bodyPr wrap="square" anchor="t" lIns="0" rIns="0" tIns="0" bIns="0">
            <a:spAutoFit/>
          </a:bodyPr>
          <a:lstStyle/>
          <a:p>
            <a:pPr algn="l">
              <a:lnSpc>
                <a:spcPct val="130000"/>
              </a:lnSpc>
              <a:spcAft>
                <a:spcPts val="0"/>
              </a:spcAft>
            </a:pPr>
            <a:r>
              <a:rPr sz="1550" b="1" i="0">
                <a:solidFill>
                  <a:srgbClr val="191E19"/>
                </a:solidFill>
                <a:latin typeface="Segoe UI"/>
              </a:rPr>
              <a:t>No uncertainty interval</a:t>
            </a:r>
          </a:p>
        </p:txBody>
      </p:sp>
      <p:sp>
        <p:nvSpPr>
          <p:cNvPr id="18" name="TextBox 17"/>
          <p:cNvSpPr txBox="1"/>
          <p:nvPr/>
        </p:nvSpPr>
        <p:spPr>
          <a:xfrm>
            <a:off x="1097280" y="5660136"/>
            <a:ext cx="9692640" cy="457200"/>
          </a:xfrm>
          <a:prstGeom prst="rect">
            <a:avLst/>
          </a:prstGeom>
          <a:noFill/>
        </p:spPr>
        <p:txBody>
          <a:bodyPr wrap="square" anchor="t" lIns="0" rIns="0" tIns="0" bIns="0">
            <a:spAutoFit/>
          </a:bodyPr>
          <a:lstStyle/>
          <a:p>
            <a:pPr algn="l">
              <a:lnSpc>
                <a:spcPct val="140000"/>
              </a:lnSpc>
              <a:spcAft>
                <a:spcPts val="0"/>
              </a:spcAft>
            </a:pPr>
            <a:r>
              <a:rPr sz="1350" b="0" i="0">
                <a:solidFill>
                  <a:srgbClr val="5C625A"/>
                </a:solidFill>
                <a:latin typeface="Segoe UI"/>
              </a:rPr>
              <a:t>A single number, not a range. The dashed line signals doubt visually, but does not quantify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45775" cy="274320"/>
          </a:xfrm>
          <a:prstGeom prst="rect">
            <a:avLst/>
          </a:prstGeom>
          <a:noFill/>
        </p:spPr>
        <p:txBody>
          <a:bodyPr wrap="square" anchor="t" lIns="0" rIns="0" tIns="0" bIns="0">
            <a:spAutoFit/>
          </a:bodyPr>
          <a:lstStyle/>
          <a:p>
            <a:pPr algn="l">
              <a:lnSpc>
                <a:spcPct val="130000"/>
              </a:lnSpc>
              <a:spcAft>
                <a:spcPts val="0"/>
              </a:spcAft>
            </a:pPr>
            <a:r>
              <a:rPr sz="1050" b="0" i="0" spc="200">
                <a:solidFill>
                  <a:srgbClr val="5C625A"/>
                </a:solidFill>
                <a:latin typeface="Consolas"/>
              </a:rPr>
              <a:t>IF I KEPT GOING</a:t>
            </a:r>
          </a:p>
        </p:txBody>
      </p:sp>
      <p:sp>
        <p:nvSpPr>
          <p:cNvPr id="4" name="TextBox 3"/>
          <p:cNvSpPr txBox="1"/>
          <p:nvPr/>
        </p:nvSpPr>
        <p:spPr>
          <a:xfrm>
            <a:off x="822960" y="932688"/>
            <a:ext cx="10545775" cy="640080"/>
          </a:xfrm>
          <a:prstGeom prst="rect">
            <a:avLst/>
          </a:prstGeom>
          <a:noFill/>
        </p:spPr>
        <p:txBody>
          <a:bodyPr wrap="square" anchor="t" lIns="0" rIns="0" tIns="0" bIns="0">
            <a:spAutoFit/>
          </a:bodyPr>
          <a:lstStyle/>
          <a:p>
            <a:pPr algn="l">
              <a:lnSpc>
                <a:spcPct val="105000"/>
              </a:lnSpc>
              <a:spcAft>
                <a:spcPts val="0"/>
              </a:spcAft>
            </a:pPr>
            <a:r>
              <a:rPr sz="3600" b="1" i="0">
                <a:solidFill>
                  <a:srgbClr val="191E19"/>
                </a:solidFill>
                <a:latin typeface="Georgia"/>
              </a:rPr>
              <a:t>Three things</a:t>
            </a:r>
          </a:p>
        </p:txBody>
      </p:sp>
      <p:sp>
        <p:nvSpPr>
          <p:cNvPr id="5" name="TextBox 4"/>
          <p:cNvSpPr txBox="1"/>
          <p:nvPr/>
        </p:nvSpPr>
        <p:spPr>
          <a:xfrm>
            <a:off x="822960" y="1499616"/>
            <a:ext cx="10545775" cy="640080"/>
          </a:xfrm>
          <a:prstGeom prst="rect">
            <a:avLst/>
          </a:prstGeom>
          <a:noFill/>
        </p:spPr>
        <p:txBody>
          <a:bodyPr wrap="square" anchor="t" lIns="0" rIns="0" tIns="0" bIns="0">
            <a:spAutoFit/>
          </a:bodyPr>
          <a:lstStyle/>
          <a:p>
            <a:pPr algn="l">
              <a:lnSpc>
                <a:spcPct val="105000"/>
              </a:lnSpc>
              <a:spcAft>
                <a:spcPts val="0"/>
              </a:spcAft>
            </a:pPr>
            <a:r>
              <a:rPr sz="3600" b="0" i="1">
                <a:solidFill>
                  <a:srgbClr val="2F5D46"/>
                </a:solidFill>
                <a:latin typeface="Georgia"/>
              </a:rPr>
              <a:t>I would add next</a:t>
            </a:r>
          </a:p>
        </p:txBody>
      </p:sp>
      <p:sp>
        <p:nvSpPr>
          <p:cNvPr id="6" name="TextBox 5"/>
          <p:cNvSpPr txBox="1"/>
          <p:nvPr/>
        </p:nvSpPr>
        <p:spPr>
          <a:xfrm>
            <a:off x="10820095" y="6345936"/>
            <a:ext cx="548640" cy="274320"/>
          </a:xfrm>
          <a:prstGeom prst="rect">
            <a:avLst/>
          </a:prstGeom>
          <a:noFill/>
        </p:spPr>
        <p:txBody>
          <a:bodyPr wrap="square" anchor="t" lIns="0" rIns="0" tIns="0" bIns="0">
            <a:spAutoFit/>
          </a:bodyPr>
          <a:lstStyle/>
          <a:p>
            <a:pPr algn="r">
              <a:lnSpc>
                <a:spcPct val="130000"/>
              </a:lnSpc>
              <a:spcAft>
                <a:spcPts val="0"/>
              </a:spcAft>
            </a:pPr>
            <a:r>
              <a:rPr sz="950" b="0" i="0" spc="100">
                <a:solidFill>
                  <a:srgbClr val="5C625A"/>
                </a:solidFill>
                <a:latin typeface="Consolas"/>
              </a:rPr>
              <a:t>16</a:t>
            </a:r>
          </a:p>
        </p:txBody>
      </p:sp>
      <p:sp>
        <p:nvSpPr>
          <p:cNvPr id="7" name="Rectangle 6"/>
          <p:cNvSpPr/>
          <p:nvPr/>
        </p:nvSpPr>
        <p:spPr>
          <a:xfrm>
            <a:off x="822960" y="2286000"/>
            <a:ext cx="3291840" cy="292608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286000"/>
            <a:ext cx="45720" cy="292608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2651760"/>
            <a:ext cx="2651760" cy="640080"/>
          </a:xfrm>
          <a:prstGeom prst="rect">
            <a:avLst/>
          </a:prstGeom>
          <a:noFill/>
        </p:spPr>
        <p:txBody>
          <a:bodyPr wrap="square" anchor="t" lIns="0" rIns="0" tIns="0" bIns="0">
            <a:spAutoFit/>
          </a:bodyPr>
          <a:lstStyle/>
          <a:p>
            <a:pPr algn="l">
              <a:lnSpc>
                <a:spcPct val="115000"/>
              </a:lnSpc>
              <a:spcAft>
                <a:spcPts val="0"/>
              </a:spcAft>
            </a:pPr>
            <a:r>
              <a:rPr sz="1900" b="1" i="0">
                <a:solidFill>
                  <a:srgbClr val="191E19"/>
                </a:solidFill>
                <a:latin typeface="Georgia"/>
              </a:rPr>
              <a:t>Prediction intervals</a:t>
            </a:r>
          </a:p>
        </p:txBody>
      </p:sp>
      <p:sp>
        <p:nvSpPr>
          <p:cNvPr id="10" name="TextBox 9"/>
          <p:cNvSpPr txBox="1"/>
          <p:nvPr/>
        </p:nvSpPr>
        <p:spPr>
          <a:xfrm>
            <a:off x="1188720" y="3520440"/>
            <a:ext cx="2606040" cy="1463040"/>
          </a:xfrm>
          <a:prstGeom prst="rect">
            <a:avLst/>
          </a:prstGeom>
          <a:noFill/>
        </p:spPr>
        <p:txBody>
          <a:bodyPr wrap="square" anchor="t" lIns="0" rIns="0" tIns="0" bIns="0">
            <a:spAutoFit/>
          </a:bodyPr>
          <a:lstStyle/>
          <a:p>
            <a:pPr algn="l">
              <a:lnSpc>
                <a:spcPct val="145000"/>
              </a:lnSpc>
              <a:spcAft>
                <a:spcPts val="0"/>
              </a:spcAft>
            </a:pPr>
            <a:r>
              <a:rPr sz="1350" b="0" i="0">
                <a:solidFill>
                  <a:srgbClr val="5C625A"/>
                </a:solidFill>
                <a:latin typeface="Segoe UI"/>
              </a:rPr>
              <a:t>Quantile regression at 10/90 to turn the dashed line into a shaded band — the honest version of the same signal.</a:t>
            </a:r>
          </a:p>
        </p:txBody>
      </p:sp>
      <p:sp>
        <p:nvSpPr>
          <p:cNvPr id="11" name="Rectangle 10"/>
          <p:cNvSpPr/>
          <p:nvPr/>
        </p:nvSpPr>
        <p:spPr>
          <a:xfrm>
            <a:off x="4343400" y="2286000"/>
            <a:ext cx="3291840" cy="292608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2286000"/>
            <a:ext cx="45720" cy="292608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2651760"/>
            <a:ext cx="2651760" cy="640080"/>
          </a:xfrm>
          <a:prstGeom prst="rect">
            <a:avLst/>
          </a:prstGeom>
          <a:noFill/>
        </p:spPr>
        <p:txBody>
          <a:bodyPr wrap="square" anchor="t" lIns="0" rIns="0" tIns="0" bIns="0">
            <a:spAutoFit/>
          </a:bodyPr>
          <a:lstStyle/>
          <a:p>
            <a:pPr algn="l">
              <a:lnSpc>
                <a:spcPct val="115000"/>
              </a:lnSpc>
              <a:spcAft>
                <a:spcPts val="0"/>
              </a:spcAft>
            </a:pPr>
            <a:r>
              <a:rPr sz="1900" b="1" i="0">
                <a:solidFill>
                  <a:srgbClr val="191E19"/>
                </a:solidFill>
                <a:latin typeface="Georgia"/>
              </a:rPr>
              <a:t>Exogenous features</a:t>
            </a:r>
          </a:p>
        </p:txBody>
      </p:sp>
      <p:sp>
        <p:nvSpPr>
          <p:cNvPr id="14" name="TextBox 13"/>
          <p:cNvSpPr txBox="1"/>
          <p:nvPr/>
        </p:nvSpPr>
        <p:spPr>
          <a:xfrm>
            <a:off x="4709160" y="3520440"/>
            <a:ext cx="2606040" cy="1463040"/>
          </a:xfrm>
          <a:prstGeom prst="rect">
            <a:avLst/>
          </a:prstGeom>
          <a:noFill/>
        </p:spPr>
        <p:txBody>
          <a:bodyPr wrap="square" anchor="t" lIns="0" rIns="0" tIns="0" bIns="0">
            <a:spAutoFit/>
          </a:bodyPr>
          <a:lstStyle/>
          <a:p>
            <a:pPr algn="l">
              <a:lnSpc>
                <a:spcPct val="145000"/>
              </a:lnSpc>
              <a:spcAft>
                <a:spcPts val="0"/>
              </a:spcAft>
            </a:pPr>
            <a:r>
              <a:rPr sz="1350" b="0" i="0">
                <a:solidFill>
                  <a:srgbClr val="5C625A"/>
                </a:solidFill>
                <a:latin typeface="Segoe UI"/>
              </a:rPr>
              <a:t>Fuel price, rainfall, and the lunar calendar for festival demand. The categorical features contribute two percent; these might not.</a:t>
            </a:r>
          </a:p>
        </p:txBody>
      </p:sp>
      <p:sp>
        <p:nvSpPr>
          <p:cNvPr id="15" name="Rectangle 14"/>
          <p:cNvSpPr/>
          <p:nvPr/>
        </p:nvSpPr>
        <p:spPr>
          <a:xfrm>
            <a:off x="7863840" y="2286000"/>
            <a:ext cx="3291840" cy="2926080"/>
          </a:xfrm>
          <a:prstGeom prst="rect">
            <a:avLst/>
          </a:prstGeom>
          <a:solidFill>
            <a:srgbClr val="FCFBF7"/>
          </a:solidFill>
          <a:ln w="12700">
            <a:solidFill>
              <a:srgbClr val="DCD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2286000"/>
            <a:ext cx="45720" cy="2926080"/>
          </a:xfrm>
          <a:prstGeom prst="rect">
            <a:avLst/>
          </a:prstGeom>
          <a:solidFill>
            <a:srgbClr val="2F5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2651760"/>
            <a:ext cx="2651760" cy="640080"/>
          </a:xfrm>
          <a:prstGeom prst="rect">
            <a:avLst/>
          </a:prstGeom>
          <a:noFill/>
        </p:spPr>
        <p:txBody>
          <a:bodyPr wrap="square" anchor="t" lIns="0" rIns="0" tIns="0" bIns="0">
            <a:spAutoFit/>
          </a:bodyPr>
          <a:lstStyle/>
          <a:p>
            <a:pPr algn="l">
              <a:lnSpc>
                <a:spcPct val="115000"/>
              </a:lnSpc>
              <a:spcAft>
                <a:spcPts val="0"/>
              </a:spcAft>
            </a:pPr>
            <a:r>
              <a:rPr sz="1900" b="1" i="0">
                <a:solidFill>
                  <a:srgbClr val="191E19"/>
                </a:solidFill>
                <a:latin typeface="Georgia"/>
              </a:rPr>
              <a:t>Retraining on a schedule</a:t>
            </a:r>
          </a:p>
        </p:txBody>
      </p:sp>
      <p:sp>
        <p:nvSpPr>
          <p:cNvPr id="18" name="TextBox 17"/>
          <p:cNvSpPr txBox="1"/>
          <p:nvPr/>
        </p:nvSpPr>
        <p:spPr>
          <a:xfrm>
            <a:off x="8229600" y="3520440"/>
            <a:ext cx="2606040" cy="1463040"/>
          </a:xfrm>
          <a:prstGeom prst="rect">
            <a:avLst/>
          </a:prstGeom>
          <a:noFill/>
        </p:spPr>
        <p:txBody>
          <a:bodyPr wrap="square" anchor="t" lIns="0" rIns="0" tIns="0" bIns="0">
            <a:spAutoFit/>
          </a:bodyPr>
          <a:lstStyle/>
          <a:p>
            <a:pPr algn="l">
              <a:lnSpc>
                <a:spcPct val="145000"/>
              </a:lnSpc>
              <a:spcAft>
                <a:spcPts val="0"/>
              </a:spcAft>
            </a:pPr>
            <a:r>
              <a:rPr sz="1350" b="0" i="0">
                <a:solidFill>
                  <a:srgbClr val="5C625A"/>
                </a:solidFill>
                <a:latin typeface="Segoe UI"/>
              </a:rPr>
              <a:t>The export script already runs headless. A monthly job against the live HDX feed would keep every series current.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9E7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10545775" cy="274320"/>
          </a:xfrm>
          <a:prstGeom prst="rect">
            <a:avLst/>
          </a:prstGeom>
          <a:noFill/>
        </p:spPr>
        <p:txBody>
          <a:bodyPr wrap="square" anchor="t" lIns="0" rIns="0" tIns="0" bIns="0">
            <a:spAutoFit/>
          </a:bodyPr>
          <a:lstStyle/>
          <a:p>
            <a:pPr algn="l">
              <a:lnSpc>
                <a:spcPct val="130000"/>
              </a:lnSpc>
              <a:spcAft>
                <a:spcPts val="0"/>
              </a:spcAft>
            </a:pPr>
            <a:r>
              <a:rPr sz="1100" b="0" i="0" spc="260">
                <a:solidFill>
                  <a:srgbClr val="2F5D46"/>
                </a:solidFill>
                <a:latin typeface="Consolas"/>
              </a:rPr>
              <a:t>THANK YOU</a:t>
            </a:r>
          </a:p>
        </p:txBody>
      </p:sp>
      <p:sp>
        <p:nvSpPr>
          <p:cNvPr id="4" name="TextBox 3"/>
          <p:cNvSpPr txBox="1"/>
          <p:nvPr/>
        </p:nvSpPr>
        <p:spPr>
          <a:xfrm>
            <a:off x="822960" y="1965960"/>
            <a:ext cx="10545775" cy="1005840"/>
          </a:xfrm>
          <a:prstGeom prst="rect">
            <a:avLst/>
          </a:prstGeom>
          <a:noFill/>
        </p:spPr>
        <p:txBody>
          <a:bodyPr wrap="square" anchor="t" lIns="0" rIns="0" tIns="0" bIns="0">
            <a:spAutoFit/>
          </a:bodyPr>
          <a:lstStyle/>
          <a:p>
            <a:pPr algn="l">
              <a:lnSpc>
                <a:spcPct val="100000"/>
              </a:lnSpc>
              <a:spcAft>
                <a:spcPts val="0"/>
              </a:spcAft>
            </a:pPr>
            <a:r>
              <a:rPr sz="5800" b="1" i="0">
                <a:solidFill>
                  <a:srgbClr val="191E19"/>
                </a:solidFill>
                <a:latin typeface="Georgia"/>
              </a:rPr>
              <a:t>Questions</a:t>
            </a:r>
          </a:p>
        </p:txBody>
      </p:sp>
      <p:sp>
        <p:nvSpPr>
          <p:cNvPr id="5" name="TextBox 4"/>
          <p:cNvSpPr txBox="1"/>
          <p:nvPr/>
        </p:nvSpPr>
        <p:spPr>
          <a:xfrm>
            <a:off x="822960" y="2788920"/>
            <a:ext cx="10545775" cy="1005840"/>
          </a:xfrm>
          <a:prstGeom prst="rect">
            <a:avLst/>
          </a:prstGeom>
          <a:noFill/>
        </p:spPr>
        <p:txBody>
          <a:bodyPr wrap="square" anchor="t" lIns="0" rIns="0" tIns="0" bIns="0">
            <a:spAutoFit/>
          </a:bodyPr>
          <a:lstStyle/>
          <a:p>
            <a:pPr algn="l">
              <a:lnSpc>
                <a:spcPct val="100000"/>
              </a:lnSpc>
              <a:spcAft>
                <a:spcPts val="0"/>
              </a:spcAft>
            </a:pPr>
            <a:r>
              <a:rPr sz="5800" b="0" i="1">
                <a:solidFill>
                  <a:srgbClr val="2F5D46"/>
                </a:solidFill>
                <a:latin typeface="Georgia"/>
              </a:rPr>
              <a:t>welcome</a:t>
            </a:r>
          </a:p>
        </p:txBody>
      </p:sp>
      <p:cxnSp>
        <p:nvCxnSpPr>
          <p:cNvPr id="6" name="Connector 5"/>
          <p:cNvCxnSpPr/>
          <p:nvPr/>
        </p:nvCxnSpPr>
        <p:spPr>
          <a:xfrm>
            <a:off x="822960" y="4023360"/>
            <a:ext cx="2926080" cy="0"/>
          </a:xfrm>
          <a:prstGeom prst="line">
            <a:avLst/>
          </a:prstGeom>
          <a:ln w="19050">
            <a:solidFill>
              <a:srgbClr val="4D806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389120"/>
            <a:ext cx="128016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DATA</a:t>
            </a:r>
          </a:p>
        </p:txBody>
      </p:sp>
      <p:sp>
        <p:nvSpPr>
          <p:cNvPr id="8" name="TextBox 7"/>
          <p:cNvSpPr txBox="1"/>
          <p:nvPr/>
        </p:nvSpPr>
        <p:spPr>
          <a:xfrm>
            <a:off x="2377440" y="4361688"/>
            <a:ext cx="7315200" cy="292608"/>
          </a:xfrm>
          <a:prstGeom prst="rect">
            <a:avLst/>
          </a:prstGeom>
          <a:noFill/>
        </p:spPr>
        <p:txBody>
          <a:bodyPr wrap="square" anchor="t" lIns="0" rIns="0" tIns="0" bIns="0">
            <a:spAutoFit/>
          </a:bodyPr>
          <a:lstStyle/>
          <a:p>
            <a:pPr algn="l">
              <a:lnSpc>
                <a:spcPct val="130000"/>
              </a:lnSpc>
              <a:spcAft>
                <a:spcPts val="0"/>
              </a:spcAft>
            </a:pPr>
            <a:r>
              <a:rPr sz="1400" b="0" i="0">
                <a:solidFill>
                  <a:srgbClr val="191E19"/>
                </a:solidFill>
                <a:latin typeface="Segoe UI"/>
              </a:rPr>
              <a:t>WFP Global Food Prices — Cambodia</a:t>
            </a:r>
          </a:p>
        </p:txBody>
      </p:sp>
      <p:sp>
        <p:nvSpPr>
          <p:cNvPr id="9" name="TextBox 8"/>
          <p:cNvSpPr txBox="1"/>
          <p:nvPr/>
        </p:nvSpPr>
        <p:spPr>
          <a:xfrm>
            <a:off x="822960" y="4800600"/>
            <a:ext cx="128016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MODEL</a:t>
            </a:r>
          </a:p>
        </p:txBody>
      </p:sp>
      <p:sp>
        <p:nvSpPr>
          <p:cNvPr id="10" name="TextBox 9"/>
          <p:cNvSpPr txBox="1"/>
          <p:nvPr/>
        </p:nvSpPr>
        <p:spPr>
          <a:xfrm>
            <a:off x="2377440" y="4773168"/>
            <a:ext cx="7315200" cy="292608"/>
          </a:xfrm>
          <a:prstGeom prst="rect">
            <a:avLst/>
          </a:prstGeom>
          <a:noFill/>
        </p:spPr>
        <p:txBody>
          <a:bodyPr wrap="square" anchor="t" lIns="0" rIns="0" tIns="0" bIns="0">
            <a:spAutoFit/>
          </a:bodyPr>
          <a:lstStyle/>
          <a:p>
            <a:pPr algn="l">
              <a:lnSpc>
                <a:spcPct val="130000"/>
              </a:lnSpc>
              <a:spcAft>
                <a:spcPts val="0"/>
              </a:spcAft>
            </a:pPr>
            <a:r>
              <a:rPr sz="1400" b="0" i="0">
                <a:solidFill>
                  <a:srgbClr val="191E19"/>
                </a:solidFill>
                <a:latin typeface="Segoe UI"/>
              </a:rPr>
              <a:t>XGBoost · 400 trees · scikit-learn pipeline</a:t>
            </a:r>
          </a:p>
        </p:txBody>
      </p:sp>
      <p:sp>
        <p:nvSpPr>
          <p:cNvPr id="11" name="TextBox 10"/>
          <p:cNvSpPr txBox="1"/>
          <p:nvPr/>
        </p:nvSpPr>
        <p:spPr>
          <a:xfrm>
            <a:off x="822960" y="5212080"/>
            <a:ext cx="128016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RUNTIME</a:t>
            </a:r>
          </a:p>
        </p:txBody>
      </p:sp>
      <p:sp>
        <p:nvSpPr>
          <p:cNvPr id="12" name="TextBox 11"/>
          <p:cNvSpPr txBox="1"/>
          <p:nvPr/>
        </p:nvSpPr>
        <p:spPr>
          <a:xfrm>
            <a:off x="2377440" y="5184648"/>
            <a:ext cx="7315200" cy="292608"/>
          </a:xfrm>
          <a:prstGeom prst="rect">
            <a:avLst/>
          </a:prstGeom>
          <a:noFill/>
        </p:spPr>
        <p:txBody>
          <a:bodyPr wrap="square" anchor="t" lIns="0" rIns="0" tIns="0" bIns="0">
            <a:spAutoFit/>
          </a:bodyPr>
          <a:lstStyle/>
          <a:p>
            <a:pPr algn="l">
              <a:lnSpc>
                <a:spcPct val="130000"/>
              </a:lnSpc>
              <a:spcAft>
                <a:spcPts val="0"/>
              </a:spcAft>
            </a:pPr>
            <a:r>
              <a:rPr sz="1400" b="0" i="0">
                <a:solidFill>
                  <a:srgbClr val="191E19"/>
                </a:solidFill>
                <a:latin typeface="Segoe UI"/>
              </a:rPr>
              <a:t>Nuxt 4 · Nitro · TypeScript tree traversal</a:t>
            </a:r>
          </a:p>
        </p:txBody>
      </p:sp>
      <p:sp>
        <p:nvSpPr>
          <p:cNvPr id="13" name="TextBox 12"/>
          <p:cNvSpPr txBox="1"/>
          <p:nvPr/>
        </p:nvSpPr>
        <p:spPr>
          <a:xfrm>
            <a:off x="822960" y="5623560"/>
            <a:ext cx="1280160" cy="274320"/>
          </a:xfrm>
          <a:prstGeom prst="rect">
            <a:avLst/>
          </a:prstGeom>
          <a:noFill/>
        </p:spPr>
        <p:txBody>
          <a:bodyPr wrap="square" anchor="t" lIns="0" rIns="0" tIns="0" bIns="0">
            <a:spAutoFit/>
          </a:bodyPr>
          <a:lstStyle/>
          <a:p>
            <a:pPr algn="l">
              <a:lnSpc>
                <a:spcPct val="130000"/>
              </a:lnSpc>
              <a:spcAft>
                <a:spcPts val="0"/>
              </a:spcAft>
            </a:pPr>
            <a:r>
              <a:rPr sz="1000" b="0" i="0" spc="140">
                <a:solidFill>
                  <a:srgbClr val="5C625A"/>
                </a:solidFill>
                <a:latin typeface="Consolas"/>
              </a:rPr>
              <a:t>SURFACES</a:t>
            </a:r>
          </a:p>
        </p:txBody>
      </p:sp>
      <p:sp>
        <p:nvSpPr>
          <p:cNvPr id="14" name="TextBox 13"/>
          <p:cNvSpPr txBox="1"/>
          <p:nvPr/>
        </p:nvSpPr>
        <p:spPr>
          <a:xfrm>
            <a:off x="2377440" y="5596128"/>
            <a:ext cx="7315200" cy="292608"/>
          </a:xfrm>
          <a:prstGeom prst="rect">
            <a:avLst/>
          </a:prstGeom>
          <a:noFill/>
        </p:spPr>
        <p:txBody>
          <a:bodyPr wrap="square" anchor="t" lIns="0" rIns="0" tIns="0" bIns="0">
            <a:spAutoFit/>
          </a:bodyPr>
          <a:lstStyle/>
          <a:p>
            <a:pPr algn="l">
              <a:lnSpc>
                <a:spcPct val="130000"/>
              </a:lnSpc>
              <a:spcAft>
                <a:spcPts val="0"/>
              </a:spcAft>
            </a:pPr>
            <a:r>
              <a:rPr sz="1400" b="0" i="0">
                <a:solidFill>
                  <a:srgbClr val="191E19"/>
                </a:solidFill>
                <a:latin typeface="Segoe UI"/>
              </a:rPr>
              <a:t>Web app · Telegram bot · one shared engine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