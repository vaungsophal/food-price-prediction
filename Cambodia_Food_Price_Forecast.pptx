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7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 i="0" spc="260">
                <a:solidFill>
                  <a:srgbClr val="2F5D46"/>
                </a:solidFill>
                <a:latin typeface="Consolas"/>
              </a:rPr>
              <a:t>FINAL PROJECT  ·  ARTIFICIAL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74519"/>
            <a:ext cx="1054577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200" b="1" i="0">
                <a:solidFill>
                  <a:srgbClr val="191E19"/>
                </a:solidFill>
                <a:latin typeface="Georgia"/>
              </a:rPr>
              <a:t>What the market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61488"/>
            <a:ext cx="1054577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200" b="0" i="1">
                <a:solidFill>
                  <a:srgbClr val="2F5D46"/>
                </a:solidFill>
                <a:latin typeface="Georgia"/>
              </a:rPr>
              <a:t>will ask next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3977639"/>
            <a:ext cx="2926080" cy="0"/>
          </a:xfrm>
          <a:prstGeom prst="line">
            <a:avLst/>
          </a:prstGeom>
          <a:ln w="19050">
            <a:solidFill>
              <a:srgbClr val="4D80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22960" y="4297680"/>
            <a:ext cx="70408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700" b="0" i="0">
                <a:solidFill>
                  <a:srgbClr val="5C625A"/>
                </a:solidFill>
                <a:latin typeface="Segoe UI"/>
              </a:rPr>
              <a:t>Forecasting food commodity prices in Cambodia — from World Food Programme price monitoring to a web app and a Telegram bot.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806440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 i="0" spc="160">
                <a:solidFill>
                  <a:srgbClr val="5C625A"/>
                </a:solidFill>
                <a:latin typeface="Consolas"/>
              </a:rPr>
              <a:t>46 COMMODITIES   ·   76 MARKETS   ·   XGBOOST, PORTED TO TYPESCRIPT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7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 i="0" spc="200">
                <a:solidFill>
                  <a:srgbClr val="5C625A"/>
                </a:solidFill>
                <a:latin typeface="Consolas"/>
              </a:rPr>
              <a:t>PROBLEM &amp;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32688"/>
            <a:ext cx="1054577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600" b="1" i="0">
                <a:solidFill>
                  <a:srgbClr val="191E19"/>
                </a:solidFill>
                <a:latin typeface="Georgia"/>
              </a:rPr>
              <a:t>An early warning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99616"/>
            <a:ext cx="1054577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600" b="0" i="1">
                <a:solidFill>
                  <a:srgbClr val="2F5D46"/>
                </a:solidFill>
                <a:latin typeface="Georgia"/>
              </a:rPr>
              <a:t>only works if it arrives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345936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950" b="0" i="0" spc="100">
                <a:solidFill>
                  <a:srgbClr val="5C625A"/>
                </a:solidFill>
                <a:latin typeface="Consolas"/>
              </a:rPr>
              <a:t>01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194560"/>
            <a:ext cx="5029200" cy="3611880"/>
          </a:xfrm>
          <a:prstGeom prst="rect">
            <a:avLst/>
          </a:prstGeom>
          <a:solidFill>
            <a:srgbClr val="FCFBF7"/>
          </a:solidFill>
          <a:ln w="12700">
            <a:solidFill>
              <a:srgbClr val="DCD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194560"/>
            <a:ext cx="45720" cy="3611880"/>
          </a:xfrm>
          <a:prstGeom prst="rect">
            <a:avLst/>
          </a:prstGeom>
          <a:solidFill>
            <a:srgbClr val="6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2487168"/>
            <a:ext cx="4297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 i="0" spc="200">
                <a:solidFill>
                  <a:srgbClr val="6B2545"/>
                </a:solidFill>
                <a:latin typeface="Consolas"/>
              </a:rPr>
              <a:t>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852928"/>
            <a:ext cx="4297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1" i="0">
                <a:solidFill>
                  <a:srgbClr val="191E19"/>
                </a:solidFill>
                <a:latin typeface="Georgia"/>
              </a:rPr>
              <a:t>A price rise lands hardest on the people with the least slack.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88720" y="3675888"/>
            <a:ext cx="128016" cy="128016"/>
          </a:xfrm>
          <a:prstGeom prst="rect">
            <a:avLst/>
          </a:prstGeom>
          <a:solidFill>
            <a:srgbClr val="6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81328" y="3611880"/>
            <a:ext cx="400507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50" b="0" i="0">
                <a:solidFill>
                  <a:srgbClr val="5C625A"/>
                </a:solidFill>
                <a:latin typeface="Segoe UI"/>
              </a:rPr>
              <a:t>For a low-income household food is the largest monthly cost, so a price rise is not an inconvenience.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88720" y="4389120"/>
            <a:ext cx="128016" cy="128016"/>
          </a:xfrm>
          <a:prstGeom prst="rect">
            <a:avLst/>
          </a:prstGeom>
          <a:solidFill>
            <a:srgbClr val="6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81328" y="4325112"/>
            <a:ext cx="400507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50" b="0" i="0">
                <a:solidFill>
                  <a:srgbClr val="5C625A"/>
                </a:solidFill>
                <a:latin typeface="Segoe UI"/>
              </a:rPr>
              <a:t>WFP tracks these markets to catch that early, but publishes what prices were — not what they will be.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88720" y="5102352"/>
            <a:ext cx="128016" cy="128016"/>
          </a:xfrm>
          <a:prstGeom prst="rect">
            <a:avLst/>
          </a:prstGeom>
          <a:solidFill>
            <a:srgbClr val="6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81328" y="5038344"/>
            <a:ext cx="400507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50" b="0" i="0">
                <a:solidFill>
                  <a:srgbClr val="5C625A"/>
                </a:solidFill>
                <a:latin typeface="Segoe UI"/>
              </a:rPr>
              <a:t>And the record itself ships as a 85,107-row CSV: readable by analysts, nobody else.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36792" y="2194560"/>
            <a:ext cx="5029200" cy="3611880"/>
          </a:xfrm>
          <a:prstGeom prst="rect">
            <a:avLst/>
          </a:prstGeom>
          <a:solidFill>
            <a:srgbClr val="FCFBF7"/>
          </a:solidFill>
          <a:ln w="12700">
            <a:solidFill>
              <a:srgbClr val="DCD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36792" y="2194560"/>
            <a:ext cx="45720" cy="3611880"/>
          </a:xfrm>
          <a:prstGeom prst="rect">
            <a:avLst/>
          </a:prstGeom>
          <a:solidFill>
            <a:srgbClr val="2F5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02552" y="2487168"/>
            <a:ext cx="4297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 i="0" spc="200">
                <a:solidFill>
                  <a:srgbClr val="2F5D46"/>
                </a:solidFill>
                <a:latin typeface="Consolas"/>
              </a:rPr>
              <a:t>SOLUTION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02552" y="2852928"/>
            <a:ext cx="4297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1" i="0">
                <a:solidFill>
                  <a:srgbClr val="191E19"/>
                </a:solidFill>
                <a:latin typeface="Georgia"/>
              </a:rPr>
              <a:t>Make the answer reachable in two clicks or one message.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702552" y="3675888"/>
            <a:ext cx="128016" cy="128016"/>
          </a:xfrm>
          <a:prstGeom prst="rect">
            <a:avLst/>
          </a:prstGeom>
          <a:solidFill>
            <a:srgbClr val="2F5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95160" y="3611880"/>
            <a:ext cx="400507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50" b="0" i="0">
                <a:solidFill>
                  <a:srgbClr val="5C625A"/>
                </a:solidFill>
                <a:latin typeface="Segoe UI"/>
              </a:rPr>
              <a:t>3,442 price series across 46 commodities and 76 markets, charted for anyone with a browser.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702552" y="4389120"/>
            <a:ext cx="128016" cy="128016"/>
          </a:xfrm>
          <a:prstGeom prst="rect">
            <a:avLst/>
          </a:prstGeom>
          <a:solidFill>
            <a:srgbClr val="2F5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95160" y="4325112"/>
            <a:ext cx="400507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50" b="0" i="0">
                <a:solidFill>
                  <a:srgbClr val="5C625A"/>
                </a:solidFill>
                <a:latin typeface="Segoe UI"/>
              </a:rPr>
              <a:t>A next-period forecast on each, with the line between recorded and predicted drawn honestly.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02552" y="5102352"/>
            <a:ext cx="128016" cy="128016"/>
          </a:xfrm>
          <a:prstGeom prst="rect">
            <a:avLst/>
          </a:prstGeom>
          <a:solidFill>
            <a:srgbClr val="2F5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95160" y="5038344"/>
            <a:ext cx="400507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50" b="0" i="0">
                <a:solidFill>
                  <a:srgbClr val="5C625A"/>
                </a:solidFill>
                <a:latin typeface="Segoe UI"/>
              </a:rPr>
              <a:t>Free to run — so a ministry, an NGO or a co-op could stand the same thing up on its own feed.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79008" y="3703320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2200" b="0" i="0">
                <a:solidFill>
                  <a:srgbClr val="2F5D46"/>
                </a:solidFill>
                <a:latin typeface="Consolas"/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6199632"/>
            <a:ext cx="96313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50" b="0" i="0" spc="60">
                <a:solidFill>
                  <a:srgbClr val="5C625A"/>
                </a:solidFill>
                <a:latin typeface="Consolas"/>
              </a:rPr>
              <a:t>A demonstration on a snapshot, not a deployed service — the data ends March 2026 and the app says so, series by series.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7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 i="0" spc="200">
                <a:solidFill>
                  <a:srgbClr val="5C625A"/>
                </a:solidFill>
                <a:latin typeface="Consolas"/>
              </a:rPr>
              <a:t>THE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32688"/>
            <a:ext cx="1054577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600" b="1" i="0">
                <a:solidFill>
                  <a:srgbClr val="191E19"/>
                </a:solidFill>
                <a:latin typeface="Georgia"/>
              </a:rPr>
              <a:t>Twenty-three years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99616"/>
            <a:ext cx="1054577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600" b="0" i="1">
                <a:solidFill>
                  <a:srgbClr val="2F5D46"/>
                </a:solidFill>
                <a:latin typeface="Georgia"/>
              </a:rPr>
              <a:t>of market visits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345936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950" b="0" i="0" spc="100">
                <a:solidFill>
                  <a:srgbClr val="5C625A"/>
                </a:solidFill>
                <a:latin typeface="Consolas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40280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 i="0" spc="140">
                <a:solidFill>
                  <a:srgbClr val="5C625A"/>
                </a:solidFill>
                <a:latin typeface="Consolas"/>
              </a:rPr>
              <a:t>SOURCE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2212848"/>
            <a:ext cx="3931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0" i="0">
                <a:solidFill>
                  <a:srgbClr val="191E19"/>
                </a:solidFill>
                <a:latin typeface="Segoe UI"/>
              </a:rPr>
              <a:t>WFP Global Food Prices — Cambodia (HDX)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743200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 i="0" spc="140">
                <a:solidFill>
                  <a:srgbClr val="5C625A"/>
                </a:solidFill>
                <a:latin typeface="Consolas"/>
              </a:rPr>
              <a:t>OBSERVATIONS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2715768"/>
            <a:ext cx="3931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0" i="0">
                <a:solidFill>
                  <a:srgbClr val="191E19"/>
                </a:solidFill>
                <a:latin typeface="Segoe UI"/>
              </a:rPr>
              <a:t>85,107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246120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 i="0" spc="140">
                <a:solidFill>
                  <a:srgbClr val="5C625A"/>
                </a:solidFill>
                <a:latin typeface="Consolas"/>
              </a:rPr>
              <a:t>RANGE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3218688"/>
            <a:ext cx="3931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0" i="0">
                <a:solidFill>
                  <a:srgbClr val="191E19"/>
                </a:solidFill>
                <a:latin typeface="Segoe UI"/>
              </a:rPr>
              <a:t>2003-01-15 to 2026-03-15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749040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 i="0" spc="140">
                <a:solidFill>
                  <a:srgbClr val="5C625A"/>
                </a:solidFill>
                <a:latin typeface="Consolas"/>
              </a:rPr>
              <a:t>COMMODITIES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3721608"/>
            <a:ext cx="3931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0" i="0">
                <a:solidFill>
                  <a:srgbClr val="191E19"/>
                </a:solidFill>
                <a:latin typeface="Segoe UI"/>
              </a:rPr>
              <a:t>50 raw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251960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 i="0" spc="140">
                <a:solidFill>
                  <a:srgbClr val="5C625A"/>
                </a:solidFill>
                <a:latin typeface="Consolas"/>
              </a:rPr>
              <a:t>MARKETS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4224528"/>
            <a:ext cx="3931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0" i="0">
                <a:solidFill>
                  <a:srgbClr val="191E19"/>
                </a:solidFill>
                <a:latin typeface="Segoe UI"/>
              </a:rPr>
              <a:t>86 raw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754880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 i="0" spc="140">
                <a:solidFill>
                  <a:srgbClr val="5C625A"/>
                </a:solidFill>
                <a:latin typeface="Consolas"/>
              </a:rPr>
              <a:t>TARGET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4727448"/>
            <a:ext cx="3931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0" i="0">
                <a:solidFill>
                  <a:srgbClr val="191E19"/>
                </a:solidFill>
                <a:latin typeface="Segoe UI"/>
              </a:rPr>
              <a:t>usdprice — price per unit in USD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0" y="2103120"/>
            <a:ext cx="4480560" cy="3566160"/>
          </a:xfrm>
          <a:prstGeom prst="rect">
            <a:avLst/>
          </a:prstGeom>
          <a:solidFill>
            <a:srgbClr val="FCFBF7"/>
          </a:solidFill>
          <a:ln w="12700">
            <a:solidFill>
              <a:srgbClr val="DCD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58000" y="2103120"/>
            <a:ext cx="45720" cy="3566160"/>
          </a:xfrm>
          <a:prstGeom prst="rect">
            <a:avLst/>
          </a:prstGeom>
          <a:solidFill>
            <a:srgbClr val="D99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23760" y="2423160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 i="0" spc="200">
                <a:solidFill>
                  <a:srgbClr val="5C625A"/>
                </a:solidFill>
                <a:latin typeface="Consolas"/>
              </a:rPr>
              <a:t>FILTERING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2852928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 i="0">
                <a:solidFill>
                  <a:srgbClr val="191E19"/>
                </a:solidFill>
                <a:latin typeface="Consolas"/>
              </a:rPr>
              <a:t>85,107 rows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0" y="3090672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 i="0">
                <a:solidFill>
                  <a:srgbClr val="5C625A"/>
                </a:solidFill>
                <a:latin typeface="Segoe UI"/>
              </a:rPr>
              <a:t>everything WFP has recorded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23760" y="3310128"/>
            <a:ext cx="274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 i="0">
                <a:solidFill>
                  <a:srgbClr val="DCD9C9"/>
                </a:solidFill>
                <a:latin typeface="Consolas"/>
              </a:rPr>
              <a:t>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3547872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 i="0">
                <a:solidFill>
                  <a:srgbClr val="191E19"/>
                </a:solidFill>
                <a:latin typeface="Consolas"/>
              </a:rPr>
              <a:t>from 2019 onward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60" y="3785616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 i="0">
                <a:solidFill>
                  <a:srgbClr val="5C625A"/>
                </a:solidFill>
                <a:latin typeface="Segoe UI"/>
              </a:rPr>
              <a:t>older reporting is sparse and pre-dollarisation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23760" y="4005072"/>
            <a:ext cx="274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 i="0">
                <a:solidFill>
                  <a:srgbClr val="DCD9C9"/>
                </a:solidFill>
                <a:latin typeface="Consolas"/>
              </a:rPr>
              <a:t>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3760" y="4242816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 i="0">
                <a:solidFill>
                  <a:srgbClr val="191E19"/>
                </a:solidFill>
                <a:latin typeface="Consolas"/>
              </a:rPr>
              <a:t>commodities with 300+ rows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23760" y="4480560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 i="0">
                <a:solidFill>
                  <a:srgbClr val="5C625A"/>
                </a:solidFill>
                <a:latin typeface="Segoe UI"/>
              </a:rPr>
              <a:t>a series needs history to have a lag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23760" y="4700016"/>
            <a:ext cx="274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 i="0">
                <a:solidFill>
                  <a:srgbClr val="DCD9C9"/>
                </a:solidFill>
                <a:latin typeface="Consolas"/>
              </a:rPr>
              <a:t>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0" y="4937760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1" i="0">
                <a:solidFill>
                  <a:srgbClr val="2F5D46"/>
                </a:solidFill>
                <a:latin typeface="Consolas"/>
              </a:rPr>
              <a:t>67,654 modelled rows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23760" y="5175504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 i="0">
                <a:solidFill>
                  <a:srgbClr val="5C625A"/>
                </a:solidFill>
                <a:latin typeface="Segoe UI"/>
              </a:rPr>
              <a:t>46 commodities · 76 markets · 4,035 series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7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 i="0" spc="200">
                <a:solidFill>
                  <a:srgbClr val="5C625A"/>
                </a:solidFill>
                <a:latin typeface="Consolas"/>
              </a:rPr>
              <a:t>FRAMING IT AS A LEARNING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32688"/>
            <a:ext cx="1054577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600" b="1" i="0">
                <a:solidFill>
                  <a:srgbClr val="191E19"/>
                </a:solidFill>
                <a:latin typeface="Georgia"/>
              </a:rPr>
              <a:t>The split is the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99616"/>
            <a:ext cx="1054577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600" b="0" i="1">
                <a:solidFill>
                  <a:srgbClr val="2F5D46"/>
                </a:solidFill>
                <a:latin typeface="Georgia"/>
              </a:rPr>
              <a:t>whole experiment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345936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950" b="0" i="0" spc="100">
                <a:solidFill>
                  <a:srgbClr val="5C625A"/>
                </a:solidFill>
                <a:latin typeface="Consolas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40280"/>
            <a:ext cx="51206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600" b="0" i="0">
                <a:solidFill>
                  <a:srgbClr val="191E19"/>
                </a:solidFill>
                <a:latin typeface="Segoe UI"/>
              </a:rPr>
              <a:t>Each (commodity, market, pricetype) forms a time series. The model predicts the next observation in that series from its own recent history.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429000"/>
            <a:ext cx="5120640" cy="2148840"/>
          </a:xfrm>
          <a:prstGeom prst="rect">
            <a:avLst/>
          </a:prstGeom>
          <a:solidFill>
            <a:srgbClr val="FCFBF7"/>
          </a:solidFill>
          <a:ln w="12700">
            <a:solidFill>
              <a:srgbClr val="DCD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3429000"/>
            <a:ext cx="45720" cy="2148840"/>
          </a:xfrm>
          <a:prstGeom prst="rect">
            <a:avLst/>
          </a:prstGeom>
          <a:solidFill>
            <a:srgbClr val="6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3703320"/>
            <a:ext cx="4389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 i="0" spc="200">
                <a:solidFill>
                  <a:srgbClr val="6B2545"/>
                </a:solidFill>
                <a:latin typeface="Consolas"/>
              </a:rPr>
              <a:t>THE TRAP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4069080"/>
            <a:ext cx="43891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450" b="0" i="0">
                <a:solidFill>
                  <a:srgbClr val="5C625A"/>
                </a:solidFill>
                <a:latin typeface="Segoe UI"/>
              </a:rPr>
              <a:t>A random train/test split lets the model learn from June to predict April. Prices are autocorrelated, so it scores brilliantly and forecasts nothing. The split has to be chronological.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75120" y="2148840"/>
            <a:ext cx="4663440" cy="3429000"/>
          </a:xfrm>
          <a:prstGeom prst="rect">
            <a:avLst/>
          </a:prstGeom>
          <a:solidFill>
            <a:srgbClr val="FCFBF7"/>
          </a:solidFill>
          <a:ln w="12700">
            <a:solidFill>
              <a:srgbClr val="DCD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75120" y="2148840"/>
            <a:ext cx="45720" cy="3429000"/>
          </a:xfrm>
          <a:prstGeom prst="rect">
            <a:avLst/>
          </a:prstGeom>
          <a:solidFill>
            <a:srgbClr val="2F5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0" y="2450592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 i="0" spc="200">
                <a:solidFill>
                  <a:srgbClr val="5C625A"/>
                </a:solidFill>
                <a:latin typeface="Consolas"/>
              </a:rPr>
              <a:t>CHRONOLOGICAL HOLD-OUT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292608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 i="0">
                <a:solidFill>
                  <a:srgbClr val="5C625A"/>
                </a:solidFill>
                <a:latin typeface="Segoe UI"/>
              </a:rPr>
              <a:t>Cut 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2926080"/>
            <a:ext cx="2651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 i="0">
                <a:solidFill>
                  <a:srgbClr val="191E19"/>
                </a:solidFill>
                <a:latin typeface="Consolas"/>
              </a:rPr>
              <a:t>2025-04-15  (85th percentile of dates)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0" y="3547872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 i="0">
                <a:solidFill>
                  <a:srgbClr val="5C625A"/>
                </a:solidFill>
                <a:latin typeface="Segoe UI"/>
              </a:rPr>
              <a:t>Train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3547872"/>
            <a:ext cx="2651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 i="0">
                <a:solidFill>
                  <a:srgbClr val="191E19"/>
                </a:solidFill>
                <a:latin typeface="Consolas"/>
              </a:rPr>
              <a:t>57,878 rows  ·  everything before the cut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4169664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 i="0">
                <a:solidFill>
                  <a:srgbClr val="5C625A"/>
                </a:solidFill>
                <a:latin typeface="Segoe UI"/>
              </a:rPr>
              <a:t>Test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200" y="4169664"/>
            <a:ext cx="2651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 i="0">
                <a:solidFill>
                  <a:srgbClr val="191E19"/>
                </a:solidFill>
                <a:latin typeface="Consolas"/>
              </a:rPr>
              <a:t>9,776 rows  ·  everything after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0" y="4791456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 i="0">
                <a:solidFill>
                  <a:srgbClr val="5C625A"/>
                </a:solidFill>
                <a:latin typeface="Segoe UI"/>
              </a:rPr>
              <a:t>Never seen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4791456"/>
            <a:ext cx="2651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 i="0">
                <a:solidFill>
                  <a:srgbClr val="191E19"/>
                </a:solidFill>
                <a:latin typeface="Consolas"/>
              </a:rPr>
              <a:t>the test period, by any model, at any point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7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 i="0" spc="200">
                <a:solidFill>
                  <a:srgbClr val="5C625A"/>
                </a:solidFill>
                <a:latin typeface="Consolas"/>
              </a:rPr>
              <a:t>FEATURE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32688"/>
            <a:ext cx="1054577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600" b="1" i="0">
                <a:solidFill>
                  <a:srgbClr val="191E19"/>
                </a:solidFill>
                <a:latin typeface="Georgia"/>
              </a:rPr>
              <a:t>Ten features, built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99616"/>
            <a:ext cx="1054577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600" b="0" i="1">
                <a:solidFill>
                  <a:srgbClr val="2F5D46"/>
                </a:solidFill>
                <a:latin typeface="Georgia"/>
              </a:rPr>
              <a:t>inside each series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345936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950" b="0" i="0" spc="100">
                <a:solidFill>
                  <a:srgbClr val="5C625A"/>
                </a:solidFill>
                <a:latin typeface="Consolas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40280"/>
            <a:ext cx="3429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 i="0" spc="180">
                <a:solidFill>
                  <a:srgbClr val="2F5D46"/>
                </a:solidFill>
                <a:latin typeface="Consolas"/>
              </a:rPr>
              <a:t>PRICE HISTORY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22960" y="2542032"/>
            <a:ext cx="3200400" cy="0"/>
          </a:xfrm>
          <a:prstGeom prst="line">
            <a:avLst/>
          </a:prstGeom>
          <a:ln w="19050">
            <a:solidFill>
              <a:srgbClr val="2F5D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22960" y="2724912"/>
            <a:ext cx="3429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 i="0">
                <a:solidFill>
                  <a:srgbClr val="191E19"/>
                </a:solidFill>
                <a:latin typeface="Consolas"/>
              </a:rPr>
              <a:t>lag_1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953512"/>
            <a:ext cx="3154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 i="0">
                <a:solidFill>
                  <a:srgbClr val="5C625A"/>
                </a:solidFill>
                <a:latin typeface="Segoe UI"/>
              </a:rPr>
              <a:t>the previous reported price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209544"/>
            <a:ext cx="3429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 i="0">
                <a:solidFill>
                  <a:srgbClr val="191E19"/>
                </a:solidFill>
                <a:latin typeface="Consolas"/>
              </a:rPr>
              <a:t>lag_3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438144"/>
            <a:ext cx="3154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 i="0">
                <a:solidFill>
                  <a:srgbClr val="5C625A"/>
                </a:solidFill>
                <a:latin typeface="Segoe UI"/>
              </a:rPr>
              <a:t>the price three reports back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694176"/>
            <a:ext cx="3429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 i="0">
                <a:solidFill>
                  <a:srgbClr val="191E19"/>
                </a:solidFill>
                <a:latin typeface="Consolas"/>
              </a:rPr>
              <a:t>rolling_mean_3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922776"/>
            <a:ext cx="3154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 i="0">
                <a:solidFill>
                  <a:srgbClr val="5C625A"/>
                </a:solidFill>
                <a:latin typeface="Segoe UI"/>
              </a:rPr>
              <a:t>mean of the last three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240280"/>
            <a:ext cx="3429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 i="0" spc="180">
                <a:solidFill>
                  <a:srgbClr val="A06D05"/>
                </a:solidFill>
                <a:latin typeface="Consolas"/>
              </a:rPr>
              <a:t>CALENDAR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526280" y="2542032"/>
            <a:ext cx="3200400" cy="0"/>
          </a:xfrm>
          <a:prstGeom prst="line">
            <a:avLst/>
          </a:prstGeom>
          <a:ln w="19050">
            <a:solidFill>
              <a:srgbClr val="A06D0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526280" y="2724912"/>
            <a:ext cx="3429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 i="0">
                <a:solidFill>
                  <a:srgbClr val="191E19"/>
                </a:solidFill>
                <a:latin typeface="Consolas"/>
              </a:rPr>
              <a:t>month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2953512"/>
            <a:ext cx="3154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 i="0">
                <a:solidFill>
                  <a:srgbClr val="5C625A"/>
                </a:solidFill>
                <a:latin typeface="Segoe UI"/>
              </a:rPr>
              <a:t>1-12, seasonality of harvest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3209544"/>
            <a:ext cx="3429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 i="0">
                <a:solidFill>
                  <a:srgbClr val="191E19"/>
                </a:solidFill>
                <a:latin typeface="Consolas"/>
              </a:rPr>
              <a:t>quarter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80" y="3438144"/>
            <a:ext cx="3154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 i="0">
                <a:solidFill>
                  <a:srgbClr val="5C625A"/>
                </a:solidFill>
                <a:latin typeface="Segoe UI"/>
              </a:rPr>
              <a:t>1-4, coarser seasonality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2240280"/>
            <a:ext cx="3429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 i="0" spc="180">
                <a:solidFill>
                  <a:srgbClr val="6B2545"/>
                </a:solidFill>
                <a:latin typeface="Consolas"/>
              </a:rPr>
              <a:t>IDENTITY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229600" y="2542032"/>
            <a:ext cx="3200400" cy="0"/>
          </a:xfrm>
          <a:prstGeom prst="line">
            <a:avLst/>
          </a:prstGeom>
          <a:ln w="19050">
            <a:solidFill>
              <a:srgbClr val="6B25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229600" y="2724912"/>
            <a:ext cx="3429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 i="0">
                <a:solidFill>
                  <a:srgbClr val="191E19"/>
                </a:solidFill>
                <a:latin typeface="Consolas"/>
              </a:rPr>
              <a:t>commodity_enc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2953512"/>
            <a:ext cx="3154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 i="0">
                <a:solidFill>
                  <a:srgbClr val="5C625A"/>
                </a:solidFill>
                <a:latin typeface="Segoe UI"/>
              </a:rPr>
              <a:t>which food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3209544"/>
            <a:ext cx="3429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 i="0">
                <a:solidFill>
                  <a:srgbClr val="191E19"/>
                </a:solidFill>
                <a:latin typeface="Consolas"/>
              </a:rPr>
              <a:t>market_enc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3438144"/>
            <a:ext cx="3154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 i="0">
                <a:solidFill>
                  <a:srgbClr val="5C625A"/>
                </a:solidFill>
                <a:latin typeface="Segoe UI"/>
              </a:rPr>
              <a:t>which market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3694176"/>
            <a:ext cx="3429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 i="0">
                <a:solidFill>
                  <a:srgbClr val="191E19"/>
                </a:solidFill>
                <a:latin typeface="Consolas"/>
              </a:rPr>
              <a:t>admin1_enc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3922776"/>
            <a:ext cx="3154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 i="0">
                <a:solidFill>
                  <a:srgbClr val="5C625A"/>
                </a:solidFill>
                <a:latin typeface="Segoe UI"/>
              </a:rPr>
              <a:t>which province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4178808"/>
            <a:ext cx="3429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 i="0">
                <a:solidFill>
                  <a:srgbClr val="191E19"/>
                </a:solidFill>
                <a:latin typeface="Consolas"/>
              </a:rPr>
              <a:t>category_enc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4407408"/>
            <a:ext cx="3154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 i="0">
                <a:solidFill>
                  <a:srgbClr val="5C625A"/>
                </a:solidFill>
                <a:latin typeface="Segoe UI"/>
              </a:rPr>
              <a:t>cereals, meat, pulses 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4663440"/>
            <a:ext cx="3429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 i="0">
                <a:solidFill>
                  <a:srgbClr val="191E19"/>
                </a:solidFill>
                <a:latin typeface="Consolas"/>
              </a:rPr>
              <a:t>pricetype_enc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4892040"/>
            <a:ext cx="3154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 i="0">
                <a:solidFill>
                  <a:srgbClr val="5C625A"/>
                </a:solidFill>
                <a:latin typeface="Segoe UI"/>
              </a:rPr>
              <a:t>retail or wholesale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2960" y="5212080"/>
            <a:ext cx="10545775" cy="914400"/>
          </a:xfrm>
          <a:prstGeom prst="rect">
            <a:avLst/>
          </a:prstGeom>
          <a:solidFill>
            <a:srgbClr val="FCFBF7"/>
          </a:solidFill>
          <a:ln w="12700">
            <a:solidFill>
              <a:srgbClr val="DCD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22960" y="5212080"/>
            <a:ext cx="45720" cy="914400"/>
          </a:xfrm>
          <a:prstGeom prst="rect">
            <a:avLst/>
          </a:prstGeom>
          <a:solidFill>
            <a:srgbClr val="2F5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88720" y="5458968"/>
            <a:ext cx="97228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50" b="0" i="0">
                <a:solidFill>
                  <a:srgbClr val="5C625A"/>
                </a:solidFill>
                <a:latin typeface="Segoe UI"/>
              </a:rPr>
              <a:t>Lags are computed within each series (grouped shift), never across them — a rice price in Battambang can never leak into a pork price in Phnom Penh. Rows without three prior observations are dropped rather than imputed.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7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 i="0" spc="200">
                <a:solidFill>
                  <a:srgbClr val="5C625A"/>
                </a:solidFill>
                <a:latin typeface="Consolas"/>
              </a:rPr>
              <a:t>MODEL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32688"/>
            <a:ext cx="1054577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600" b="1" i="0">
                <a:solidFill>
                  <a:srgbClr val="191E19"/>
                </a:solidFill>
                <a:latin typeface="Georgia"/>
              </a:rPr>
              <a:t>Beating “tomorrow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99616"/>
            <a:ext cx="1054577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600" b="0" i="1">
                <a:solidFill>
                  <a:srgbClr val="2F5D46"/>
                </a:solidFill>
                <a:latin typeface="Georgia"/>
              </a:rPr>
              <a:t>equals today”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345936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950" b="0" i="0" spc="100">
                <a:solidFill>
                  <a:srgbClr val="5C625A"/>
                </a:solidFill>
                <a:latin typeface="Consolas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9456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550" b="0" i="0">
                <a:solidFill>
                  <a:srgbClr val="5C625A"/>
                </a:solidFill>
                <a:latin typeface="Segoe UI"/>
              </a:rPr>
              <a:t>The naive baseline — predict the last price — already scores R² 0.92, because prices are sticky. It is the number any model has to beat to be worth deploying.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063240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 i="0" spc="160">
                <a:solidFill>
                  <a:srgbClr val="5C625A"/>
                </a:solidFill>
                <a:latin typeface="Consolas"/>
              </a:rPr>
              <a:t>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3063240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1000" b="0" i="0" spc="160">
                <a:solidFill>
                  <a:srgbClr val="5C625A"/>
                </a:solidFill>
                <a:latin typeface="Consolas"/>
              </a:rPr>
              <a:t>MAE (USD)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0" y="3063240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1000" b="0" i="0" spc="160">
                <a:solidFill>
                  <a:srgbClr val="5C625A"/>
                </a:solidFill>
                <a:latin typeface="Consolas"/>
              </a:rPr>
              <a:t>RMSE (USD)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0" y="3063240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1000" b="0" i="0" spc="160">
                <a:solidFill>
                  <a:srgbClr val="5C625A"/>
                </a:solidFill>
                <a:latin typeface="Consolas"/>
              </a:rPr>
              <a:t>R²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22960" y="3355848"/>
            <a:ext cx="10545775" cy="0"/>
          </a:xfrm>
          <a:prstGeom prst="line">
            <a:avLst/>
          </a:prstGeom>
          <a:ln w="12700">
            <a:solidFill>
              <a:srgbClr val="5C62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22960" y="3566160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50" b="0" i="0">
                <a:solidFill>
                  <a:srgbClr val="191E19"/>
                </a:solidFill>
                <a:latin typeface="Segoe UI"/>
              </a:rPr>
              <a:t>Naive baseline (lag_1)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3584448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1500" b="0" i="0">
                <a:solidFill>
                  <a:srgbClr val="191E19"/>
                </a:solidFill>
                <a:latin typeface="Consolas"/>
              </a:rPr>
              <a:t>0.1799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0" y="3584448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1500" b="0" i="0">
                <a:solidFill>
                  <a:srgbClr val="191E19"/>
                </a:solidFill>
                <a:latin typeface="Consolas"/>
              </a:rPr>
              <a:t>0.4088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584448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1500" b="0" i="0">
                <a:solidFill>
                  <a:srgbClr val="191E19"/>
                </a:solidFill>
                <a:latin typeface="Consolas"/>
              </a:rPr>
              <a:t>0.9239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370832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50" b="0" i="0">
                <a:solidFill>
                  <a:srgbClr val="191E19"/>
                </a:solidFill>
                <a:latin typeface="Segoe UI"/>
              </a:rPr>
              <a:t>Random Forest (reproduced)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4389120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1500" b="0" i="0">
                <a:solidFill>
                  <a:srgbClr val="191E19"/>
                </a:solidFill>
                <a:latin typeface="Consolas"/>
              </a:rPr>
              <a:t>0.1690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0" y="4389120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1500" b="0" i="0">
                <a:solidFill>
                  <a:srgbClr val="191E19"/>
                </a:solidFill>
                <a:latin typeface="Consolas"/>
              </a:rPr>
              <a:t>0.3352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0" y="4389120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1500" b="0" i="0">
                <a:solidFill>
                  <a:srgbClr val="191E19"/>
                </a:solidFill>
                <a:latin typeface="Consolas"/>
              </a:rPr>
              <a:t>0.9489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5065776"/>
            <a:ext cx="10874959" cy="658368"/>
          </a:xfrm>
          <a:prstGeom prst="rect">
            <a:avLst/>
          </a:prstGeom>
          <a:solidFill>
            <a:srgbClr val="FCFBF7"/>
          </a:solidFill>
          <a:ln w="12700">
            <a:solidFill>
              <a:srgbClr val="DCD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5175504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50" b="1" i="0">
                <a:solidFill>
                  <a:srgbClr val="2F5D46"/>
                </a:solidFill>
                <a:latin typeface="Segoe UI"/>
              </a:rPr>
              <a:t>XGBoost (final model)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0" y="5193792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1500" b="1" i="0">
                <a:solidFill>
                  <a:srgbClr val="2F5D46"/>
                </a:solidFill>
                <a:latin typeface="Consolas"/>
              </a:rPr>
              <a:t>0.1642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06640" y="5193792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1500" b="1" i="0">
                <a:solidFill>
                  <a:srgbClr val="2F5D46"/>
                </a:solidFill>
                <a:latin typeface="Consolas"/>
              </a:rPr>
              <a:t>0.3295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0" y="5193792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1500" b="1" i="0">
                <a:solidFill>
                  <a:srgbClr val="2F5D46"/>
                </a:solidFill>
                <a:latin typeface="Consolas"/>
              </a:rPr>
              <a:t>0.9506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6199632"/>
            <a:ext cx="96313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50" b="0" i="0" spc="60">
                <a:solidFill>
                  <a:srgbClr val="5C625A"/>
                </a:solidFill>
                <a:latin typeface="Consolas"/>
              </a:rPr>
              <a:t>Random Forest reproduced locally from the notebook's settings (n=300, depth 15, seed 42).
XGBoost figures come from the trained price_model.pkl itself, evaluated on the held-out period.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7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 i="0" spc="200">
                <a:solidFill>
                  <a:srgbClr val="5C625A"/>
                </a:solidFill>
                <a:latin typeface="Consolas"/>
              </a:rPr>
              <a:t>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32688"/>
            <a:ext cx="1054577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600" b="1" i="0">
                <a:solidFill>
                  <a:srgbClr val="191E19"/>
                </a:solidFill>
                <a:latin typeface="Georgia"/>
              </a:rPr>
              <a:t>The model earns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99616"/>
            <a:ext cx="1054577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600" b="0" i="1">
                <a:solidFill>
                  <a:srgbClr val="2F5D46"/>
                </a:solidFill>
                <a:latin typeface="Georgia"/>
              </a:rPr>
              <a:t>its place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345936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950" b="0" i="0" spc="100">
                <a:solidFill>
                  <a:srgbClr val="5C625A"/>
                </a:solidFill>
                <a:latin typeface="Consolas"/>
              </a:rPr>
              <a:t>06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377440"/>
            <a:ext cx="3291840" cy="2286000"/>
          </a:xfrm>
          <a:prstGeom prst="rect">
            <a:avLst/>
          </a:prstGeom>
          <a:solidFill>
            <a:srgbClr val="FCFBF7"/>
          </a:solidFill>
          <a:ln w="12700">
            <a:solidFill>
              <a:srgbClr val="DCD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377440"/>
            <a:ext cx="45720" cy="2286000"/>
          </a:xfrm>
          <a:prstGeom prst="rect">
            <a:avLst/>
          </a:prstGeom>
          <a:solidFill>
            <a:srgbClr val="2F5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2743200"/>
            <a:ext cx="2743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4000" b="1" i="0">
                <a:solidFill>
                  <a:srgbClr val="2F5D46"/>
                </a:solidFill>
                <a:latin typeface="Consolas"/>
              </a:rPr>
              <a:t>$0.164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61188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0" i="0" spc="140">
                <a:solidFill>
                  <a:srgbClr val="5C625A"/>
                </a:solidFill>
                <a:latin typeface="Consolas"/>
              </a:rPr>
              <a:t>MEAN ABSOLUTE ERROR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931920"/>
            <a:ext cx="2651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0" i="0">
                <a:solidFill>
                  <a:srgbClr val="5C625A"/>
                </a:solidFill>
                <a:latin typeface="Segoe UI"/>
              </a:rPr>
              <a:t>on held-out 2025-26 prices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43400" y="2377440"/>
            <a:ext cx="3291840" cy="2286000"/>
          </a:xfrm>
          <a:prstGeom prst="rect">
            <a:avLst/>
          </a:prstGeom>
          <a:solidFill>
            <a:srgbClr val="FCFBF7"/>
          </a:solidFill>
          <a:ln w="12700">
            <a:solidFill>
              <a:srgbClr val="DCD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2377440"/>
            <a:ext cx="45720" cy="2286000"/>
          </a:xfrm>
          <a:prstGeom prst="rect">
            <a:avLst/>
          </a:prstGeom>
          <a:solidFill>
            <a:srgbClr val="4D80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09160" y="2743200"/>
            <a:ext cx="2743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4000" b="1" i="0">
                <a:solidFill>
                  <a:srgbClr val="4D8065"/>
                </a:solidFill>
                <a:latin typeface="Consolas"/>
              </a:rPr>
              <a:t>0.951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60" y="361188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0" i="0" spc="140">
                <a:solidFill>
                  <a:srgbClr val="5C625A"/>
                </a:solidFill>
                <a:latin typeface="Consolas"/>
              </a:rPr>
              <a:t>R² ON THE TEST PERIOD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60" y="3931920"/>
            <a:ext cx="2651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0" i="0">
                <a:solidFill>
                  <a:srgbClr val="5C625A"/>
                </a:solidFill>
                <a:latin typeface="Segoe UI"/>
              </a:rPr>
              <a:t>variance explained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63840" y="2377440"/>
            <a:ext cx="3291840" cy="2286000"/>
          </a:xfrm>
          <a:prstGeom prst="rect">
            <a:avLst/>
          </a:prstGeom>
          <a:solidFill>
            <a:srgbClr val="FCFBF7"/>
          </a:solidFill>
          <a:ln w="12700">
            <a:solidFill>
              <a:srgbClr val="DCD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863840" y="2377440"/>
            <a:ext cx="45720" cy="2286000"/>
          </a:xfrm>
          <a:prstGeom prst="rect">
            <a:avLst/>
          </a:prstGeom>
          <a:solidFill>
            <a:srgbClr val="A06D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2743200"/>
            <a:ext cx="2743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4000" b="1" i="0">
                <a:solidFill>
                  <a:srgbClr val="A06D05"/>
                </a:solidFill>
                <a:latin typeface="Consolas"/>
              </a:rPr>
              <a:t>8.7%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361188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0" i="0" spc="140">
                <a:solidFill>
                  <a:srgbClr val="5C625A"/>
                </a:solidFill>
                <a:latin typeface="Consolas"/>
              </a:rPr>
              <a:t>BETTER THAN NAIVE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3931920"/>
            <a:ext cx="2651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0" i="0">
                <a:solidFill>
                  <a:srgbClr val="5C625A"/>
                </a:solidFill>
                <a:latin typeface="Segoe UI"/>
              </a:rPr>
              <a:t>MAE reduction vs. last price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02920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550" b="0" i="0">
                <a:solidFill>
                  <a:srgbClr val="191E19"/>
                </a:solidFill>
                <a:latin typeface="Segoe UI"/>
              </a:rPr>
              <a:t>An average miss of about sixteen US cents on a basket whose prices mostly sit between $0.30 and $3.00 — accurate enough to plan around, not precise enough to trade on. Both halves of that sentence matter.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7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 i="0" spc="200">
                <a:solidFill>
                  <a:srgbClr val="5C625A"/>
                </a:solidFill>
                <a:latin typeface="Consolas"/>
              </a:rPr>
              <a:t>INTERPRETATION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32688"/>
            <a:ext cx="1054577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600" b="1" i="0">
                <a:solidFill>
                  <a:srgbClr val="191E19"/>
                </a:solidFill>
                <a:latin typeface="Georgia"/>
              </a:rPr>
              <a:t>It learned to be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99616"/>
            <a:ext cx="1054577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600" b="0" i="1">
                <a:solidFill>
                  <a:srgbClr val="2F5D46"/>
                </a:solidFill>
                <a:latin typeface="Georgia"/>
              </a:rPr>
              <a:t>a very good smoother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345936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950" b="0" i="0" spc="100">
                <a:solidFill>
                  <a:srgbClr val="5C625A"/>
                </a:solidFill>
                <a:latin typeface="Consolas"/>
              </a:rP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59152"/>
            <a:ext cx="2148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1250" b="0" i="0">
                <a:solidFill>
                  <a:srgbClr val="191E19"/>
                </a:solidFill>
                <a:latin typeface="Consolas"/>
              </a:rPr>
              <a:t>rolling_mean_3</a:t>
            </a:r>
          </a:p>
        </p:txBody>
      </p:sp>
      <p:sp>
        <p:nvSpPr>
          <p:cNvPr id="8" name="Rectangle 7"/>
          <p:cNvSpPr/>
          <p:nvPr/>
        </p:nvSpPr>
        <p:spPr>
          <a:xfrm>
            <a:off x="3108960" y="2377440"/>
            <a:ext cx="2781523" cy="256032"/>
          </a:xfrm>
          <a:prstGeom prst="rect">
            <a:avLst/>
          </a:prstGeom>
          <a:solidFill>
            <a:srgbClr val="2F5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00211" y="23591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 i="0">
                <a:solidFill>
                  <a:srgbClr val="5C625A"/>
                </a:solidFill>
                <a:latin typeface="Consolas"/>
              </a:rPr>
              <a:t>56.3%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834640"/>
            <a:ext cx="2148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1250" b="0" i="0">
                <a:solidFill>
                  <a:srgbClr val="191E19"/>
                </a:solidFill>
                <a:latin typeface="Consolas"/>
              </a:rPr>
              <a:t>lag_1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08960" y="2852928"/>
            <a:ext cx="2030794" cy="256032"/>
          </a:xfrm>
          <a:prstGeom prst="rect">
            <a:avLst/>
          </a:prstGeom>
          <a:solidFill>
            <a:srgbClr val="2F5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49482" y="283464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 i="0">
                <a:solidFill>
                  <a:srgbClr val="5C625A"/>
                </a:solidFill>
                <a:latin typeface="Consolas"/>
              </a:rPr>
              <a:t>41.1%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310128"/>
            <a:ext cx="2148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1250" b="0" i="0">
                <a:solidFill>
                  <a:srgbClr val="191E19"/>
                </a:solidFill>
                <a:latin typeface="Consolas"/>
              </a:rPr>
              <a:t>lag_3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08960" y="3328416"/>
            <a:ext cx="43148" cy="256032"/>
          </a:xfrm>
          <a:prstGeom prst="rect">
            <a:avLst/>
          </a:prstGeom>
          <a:solidFill>
            <a:srgbClr val="4D80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61836" y="331012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 i="0">
                <a:solidFill>
                  <a:srgbClr val="5C625A"/>
                </a:solidFill>
                <a:latin typeface="Consolas"/>
              </a:rPr>
              <a:t>0.9%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785616"/>
            <a:ext cx="2148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1250" b="0" i="0">
                <a:solidFill>
                  <a:srgbClr val="191E19"/>
                </a:solidFill>
                <a:latin typeface="Consolas"/>
              </a:rPr>
              <a:t>commodity_enc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108960" y="3803904"/>
            <a:ext cx="20361" cy="256032"/>
          </a:xfrm>
          <a:prstGeom prst="rect">
            <a:avLst/>
          </a:prstGeom>
          <a:solidFill>
            <a:srgbClr val="4D80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39049" y="378561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 i="0">
                <a:solidFill>
                  <a:srgbClr val="5C625A"/>
                </a:solidFill>
                <a:latin typeface="Consolas"/>
              </a:rPr>
              <a:t>0.4%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261104"/>
            <a:ext cx="2148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1250" b="0" i="0">
                <a:solidFill>
                  <a:srgbClr val="191E19"/>
                </a:solidFill>
                <a:latin typeface="Consolas"/>
              </a:rPr>
              <a:t>category_enc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08960" y="4279392"/>
            <a:ext cx="19071" cy="256032"/>
          </a:xfrm>
          <a:prstGeom prst="rect">
            <a:avLst/>
          </a:prstGeom>
          <a:solidFill>
            <a:srgbClr val="4D80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37759" y="4261104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 i="0">
                <a:solidFill>
                  <a:srgbClr val="5C625A"/>
                </a:solidFill>
                <a:latin typeface="Consolas"/>
              </a:rPr>
              <a:t>0.4%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736592"/>
            <a:ext cx="2148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1250" b="0" i="0">
                <a:solidFill>
                  <a:srgbClr val="191E19"/>
                </a:solidFill>
                <a:latin typeface="Consolas"/>
              </a:rPr>
              <a:t>month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108960" y="4754880"/>
            <a:ext cx="18288" cy="256032"/>
          </a:xfrm>
          <a:prstGeom prst="rect">
            <a:avLst/>
          </a:prstGeom>
          <a:solidFill>
            <a:srgbClr val="4D80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36976" y="473659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 i="0">
                <a:solidFill>
                  <a:srgbClr val="5C625A"/>
                </a:solidFill>
                <a:latin typeface="Consolas"/>
              </a:rPr>
              <a:t>0.2%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0" y="2240280"/>
            <a:ext cx="3108960" cy="3611880"/>
          </a:xfrm>
          <a:prstGeom prst="rect">
            <a:avLst/>
          </a:prstGeom>
          <a:solidFill>
            <a:srgbClr val="FCFBF7"/>
          </a:solidFill>
          <a:ln w="12700">
            <a:solidFill>
              <a:srgbClr val="DCD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29600" y="2240280"/>
            <a:ext cx="45720" cy="3611880"/>
          </a:xfrm>
          <a:prstGeom prst="rect">
            <a:avLst/>
          </a:prstGeom>
          <a:solidFill>
            <a:srgbClr val="6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49640" y="2542032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0" i="0" spc="160">
                <a:solidFill>
                  <a:srgbClr val="6B2545"/>
                </a:solidFill>
                <a:latin typeface="Consolas"/>
              </a:rPr>
              <a:t>THE HONEST READING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49640" y="2926080"/>
            <a:ext cx="2514600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900" b="1" i="0">
                <a:solidFill>
                  <a:srgbClr val="191E19"/>
                </a:solidFill>
                <a:latin typeface="Georgia"/>
              </a:rPr>
              <a:t>97% of the model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400" b="0" i="0">
                <a:solidFill>
                  <a:srgbClr val="191E19"/>
                </a:solidFill>
                <a:latin typeface="Segoe UI"/>
              </a:rPr>
              <a:t>rests on two features: the recent mean and the last price.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 i="0">
                <a:solidFill>
                  <a:srgbClr val="5C625A"/>
                </a:solidFill>
                <a:latin typeface="Segoe UI"/>
              </a:rPr>
              <a:t>Commodity, market, province and season together account for barely two percent. This is a well-calibrated smoother, not a market oracle — and saying so is part of the result.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6199632"/>
            <a:ext cx="96313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50" b="0" i="0" spc="60">
                <a:solidFill>
                  <a:srgbClr val="5C625A"/>
                </a:solidFill>
                <a:latin typeface="Consolas"/>
              </a:rPr>
              <a:t>Gain-based feature importance from the trained booster.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7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 i="0" spc="200">
                <a:solidFill>
                  <a:srgbClr val="5C625A"/>
                </a:solidFill>
                <a:latin typeface="Consolas"/>
              </a:rPr>
              <a:t>FROM NOTEBOOK TO 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32688"/>
            <a:ext cx="1054577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600" b="1" i="0">
                <a:solidFill>
                  <a:srgbClr val="191E19"/>
                </a:solidFill>
                <a:latin typeface="Georgia"/>
              </a:rPr>
              <a:t>The model fit.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99616"/>
            <a:ext cx="1054577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600" b="0" i="1">
                <a:solidFill>
                  <a:srgbClr val="2F5D46"/>
                </a:solidFill>
                <a:latin typeface="Georgia"/>
              </a:rPr>
              <a:t>The libraries didn’t.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345936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950" b="0" i="0" spc="100">
                <a:solidFill>
                  <a:srgbClr val="5C625A"/>
                </a:solidFill>
                <a:latin typeface="Consolas"/>
              </a:rP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9456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600" b="0" i="0">
                <a:solidFill>
                  <a:srgbClr val="191E19"/>
                </a:solidFill>
                <a:latin typeface="Segoe UI"/>
              </a:rPr>
              <a:t>A notebook that only runs in Colab isn't a product. Deploying to Vercel's free tier meant meeting a hard limit: 250 MB unzipped per serverless function.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22783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1200" b="0" i="0">
                <a:solidFill>
                  <a:srgbClr val="191E19"/>
                </a:solidFill>
                <a:latin typeface="Consolas"/>
              </a:rPr>
              <a:t>xgboost</a:t>
            </a:r>
          </a:p>
        </p:txBody>
      </p:sp>
      <p:sp>
        <p:nvSpPr>
          <p:cNvPr id="9" name="Rectangle 8"/>
          <p:cNvSpPr/>
          <p:nvPr/>
        </p:nvSpPr>
        <p:spPr>
          <a:xfrm>
            <a:off x="2468880" y="3246120"/>
            <a:ext cx="2048256" cy="219456"/>
          </a:xfrm>
          <a:prstGeom prst="rect">
            <a:avLst/>
          </a:prstGeom>
          <a:solidFill>
            <a:srgbClr val="DCD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08576" y="32186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 i="0">
                <a:solidFill>
                  <a:srgbClr val="5C625A"/>
                </a:solidFill>
                <a:latin typeface="Consolas"/>
              </a:rPr>
              <a:t>84 MB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59359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1200" b="0" i="0">
                <a:solidFill>
                  <a:srgbClr val="191E19"/>
                </a:solidFill>
                <a:latin typeface="Consolas"/>
              </a:rPr>
              <a:t>scipy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68880" y="3611880"/>
            <a:ext cx="2706624" cy="219456"/>
          </a:xfrm>
          <a:prstGeom prst="rect">
            <a:avLst/>
          </a:prstGeom>
          <a:solidFill>
            <a:srgbClr val="DCD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66944" y="358444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 i="0">
                <a:solidFill>
                  <a:srgbClr val="5C625A"/>
                </a:solidFill>
                <a:latin typeface="Consolas"/>
              </a:rPr>
              <a:t>111 MB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95935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1200" b="0" i="0">
                <a:solidFill>
                  <a:srgbClr val="191E19"/>
                </a:solidFill>
                <a:latin typeface="Consolas"/>
              </a:rPr>
              <a:t>numpy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68880" y="3977640"/>
            <a:ext cx="1414272" cy="219456"/>
          </a:xfrm>
          <a:prstGeom prst="rect">
            <a:avLst/>
          </a:prstGeom>
          <a:solidFill>
            <a:srgbClr val="DCD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74592" y="395020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 i="0">
                <a:solidFill>
                  <a:srgbClr val="5C625A"/>
                </a:solidFill>
                <a:latin typeface="Consolas"/>
              </a:rPr>
              <a:t>58 MB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32511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1200" b="0" i="0">
                <a:solidFill>
                  <a:srgbClr val="191E19"/>
                </a:solidFill>
                <a:latin typeface="Consolas"/>
              </a:rPr>
              <a:t>pandas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68880" y="4343400"/>
            <a:ext cx="1024128" cy="219456"/>
          </a:xfrm>
          <a:prstGeom prst="rect">
            <a:avLst/>
          </a:prstGeom>
          <a:solidFill>
            <a:srgbClr val="DCD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84448" y="431596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 i="0">
                <a:solidFill>
                  <a:srgbClr val="5C625A"/>
                </a:solidFill>
                <a:latin typeface="Consolas"/>
              </a:rPr>
              <a:t>42 MB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69087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1200" b="0" i="0">
                <a:solidFill>
                  <a:srgbClr val="191E19"/>
                </a:solidFill>
                <a:latin typeface="Consolas"/>
              </a:rPr>
              <a:t>scikit-learn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468880" y="4709160"/>
            <a:ext cx="780288" cy="219456"/>
          </a:xfrm>
          <a:prstGeom prst="rect">
            <a:avLst/>
          </a:prstGeom>
          <a:solidFill>
            <a:srgbClr val="DCD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40608" y="468172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 i="0">
                <a:solidFill>
                  <a:srgbClr val="5C625A"/>
                </a:solidFill>
                <a:latin typeface="Consolas"/>
              </a:rPr>
              <a:t>32 MB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68880" y="5111496"/>
            <a:ext cx="8778240" cy="0"/>
          </a:xfrm>
          <a:prstGeom prst="line">
            <a:avLst/>
          </a:prstGeom>
          <a:ln w="12700">
            <a:solidFill>
              <a:srgbClr val="DCD9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22960" y="525780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1200" b="1" i="0">
                <a:solidFill>
                  <a:srgbClr val="191E19"/>
                </a:solidFill>
                <a:latin typeface="Consolas"/>
              </a:rPr>
              <a:t>TOTAL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468880" y="5248656"/>
            <a:ext cx="7973568" cy="292608"/>
          </a:xfrm>
          <a:prstGeom prst="rect">
            <a:avLst/>
          </a:prstGeom>
          <a:solidFill>
            <a:srgbClr val="6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552176" y="5276088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1" i="0">
                <a:solidFill>
                  <a:srgbClr val="6B2545"/>
                </a:solidFill>
                <a:latin typeface="Consolas"/>
              </a:rPr>
              <a:t>327 MB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564880" y="3063240"/>
            <a:ext cx="0" cy="2578608"/>
          </a:xfrm>
          <a:prstGeom prst="line">
            <a:avLst/>
          </a:prstGeom>
          <a:ln w="19050">
            <a:solidFill>
              <a:srgbClr val="191E1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273040" y="2761488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1050" b="0" i="0" spc="140">
                <a:solidFill>
                  <a:srgbClr val="191E19"/>
                </a:solidFill>
                <a:latin typeface="Consolas"/>
              </a:rPr>
              <a:t>250 MB  ·  VERCEL HOBBY LIMIT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59436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0" i="0">
                <a:solidFill>
                  <a:srgbClr val="191E19"/>
                </a:solidFill>
                <a:latin typeface="Segoe UI"/>
              </a:rPr>
              <a:t>The deploy fails before a single prediction is ever served.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7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 i="0" spc="200">
                <a:solidFill>
                  <a:srgbClr val="5C625A"/>
                </a:solidFill>
                <a:latin typeface="Consolas"/>
              </a:rPr>
              <a:t>THE INSIGHT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32688"/>
            <a:ext cx="1054577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600" b="1" i="0">
                <a:solidFill>
                  <a:srgbClr val="191E19"/>
                </a:solidFill>
                <a:latin typeface="Georgia"/>
              </a:rPr>
              <a:t>A boosted tree 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99616"/>
            <a:ext cx="1054577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600" b="0" i="1">
                <a:solidFill>
                  <a:srgbClr val="2F5D46"/>
                </a:solidFill>
                <a:latin typeface="Georgia"/>
              </a:rPr>
              <a:t>just a lot of if-statements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345936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950" b="0" i="0" spc="100">
                <a:solidFill>
                  <a:srgbClr val="5C625A"/>
                </a:solidFill>
                <a:latin typeface="Consolas"/>
              </a:rPr>
              <a:t>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94560"/>
            <a:ext cx="51206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550" b="0" i="0">
                <a:solidFill>
                  <a:srgbClr val="191E19"/>
                </a:solidFill>
                <a:latin typeface="Segoe UI"/>
              </a:rPr>
              <a:t>Training needs XGBoost. Predicting does not. Inference is: walk each tree comparing one feature to one threshold, sum the leaf weights, add the base score. Fifteen lines in any language.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2148840"/>
            <a:ext cx="4937760" cy="3520440"/>
          </a:xfrm>
          <a:prstGeom prst="rect">
            <a:avLst/>
          </a:prstGeom>
          <a:solidFill>
            <a:srgbClr val="FCFBF7"/>
          </a:solidFill>
          <a:ln w="12700">
            <a:solidFill>
              <a:srgbClr val="DCD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2148840"/>
            <a:ext cx="45720" cy="3520440"/>
          </a:xfrm>
          <a:prstGeom prst="rect">
            <a:avLst/>
          </a:prstGeom>
          <a:solidFill>
            <a:srgbClr val="2F5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20840" y="2395728"/>
            <a:ext cx="4480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191E19"/>
                </a:solidFill>
                <a:latin typeface="Consolas"/>
              </a:rPr>
              <a:t>function rawPredict(features: number[]): number {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0840" y="2647188"/>
            <a:ext cx="4480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191E19"/>
                </a:solidFill>
                <a:latin typeface="Consolas"/>
              </a:rPr>
              <a:t>  let total = BASE_SCORE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0840" y="2898648"/>
            <a:ext cx="4480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191E19"/>
                </a:solidFill>
                <a:latin typeface="Consolas"/>
              </a:rPr>
              <a:t>  for (const tree of TREES) {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3150108"/>
            <a:ext cx="4480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191E19"/>
                </a:solidFill>
                <a:latin typeface="Consolas"/>
              </a:rPr>
              <a:t>    let node = 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3401568"/>
            <a:ext cx="4480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191E19"/>
                </a:solidFill>
                <a:latin typeface="Consolas"/>
              </a:rPr>
              <a:t>    while (tree.l[node] !== -1) {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3653028"/>
            <a:ext cx="4480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191E19"/>
                </a:solidFill>
                <a:latin typeface="Consolas"/>
              </a:rPr>
              <a:t>      node = features[tree.f[node]] &lt; tree.t[node]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0840" y="3904488"/>
            <a:ext cx="4480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191E19"/>
                </a:solidFill>
                <a:latin typeface="Consolas"/>
              </a:rPr>
              <a:t>        ? tree.l[node]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0840" y="4155948"/>
            <a:ext cx="4480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191E19"/>
                </a:solidFill>
                <a:latin typeface="Consolas"/>
              </a:rPr>
              <a:t>        : tree.r[node]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0840" y="4407408"/>
            <a:ext cx="4480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191E19"/>
                </a:solidFill>
                <a:latin typeface="Consolas"/>
              </a:rPr>
              <a:t>    }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4658868"/>
            <a:ext cx="4480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191E19"/>
                </a:solidFill>
                <a:latin typeface="Consolas"/>
              </a:rPr>
              <a:t>    total += tree.w[node]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4910328"/>
            <a:ext cx="4480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191E19"/>
                </a:solidFill>
                <a:latin typeface="Consolas"/>
              </a:rPr>
              <a:t>  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20840" y="5161788"/>
            <a:ext cx="4480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191E19"/>
                </a:solidFill>
                <a:latin typeface="Consolas"/>
              </a:rPr>
              <a:t>  return total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5413248"/>
            <a:ext cx="4480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191E19"/>
                </a:solidFill>
                <a:latin typeface="Consolas"/>
              </a:rPr>
              <a:t>}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3749039"/>
            <a:ext cx="1371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600" b="1" i="0">
                <a:solidFill>
                  <a:srgbClr val="2F5D46"/>
                </a:solidFill>
                <a:latin typeface="Consolas"/>
              </a:rPr>
              <a:t>400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4279392"/>
            <a:ext cx="1371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5C625A"/>
                </a:solidFill>
                <a:latin typeface="Segoe UI"/>
              </a:rPr>
              <a:t>trees traversed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40280" y="3749039"/>
            <a:ext cx="1371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600" b="1" i="0">
                <a:solidFill>
                  <a:srgbClr val="2F5D46"/>
                </a:solidFill>
                <a:latin typeface="Consolas"/>
              </a:rPr>
              <a:t>10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4279392"/>
            <a:ext cx="1371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5C625A"/>
                </a:solidFill>
                <a:latin typeface="Segoe UI"/>
              </a:rPr>
              <a:t>features each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0" y="3749039"/>
            <a:ext cx="1371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600" b="1" i="0">
                <a:solidFill>
                  <a:srgbClr val="2F5D46"/>
                </a:solidFill>
                <a:latin typeface="Consolas"/>
              </a:rPr>
              <a:t>2.4 MB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4279392"/>
            <a:ext cx="1371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5C625A"/>
                </a:solidFill>
                <a:latin typeface="Segoe UI"/>
              </a:rPr>
              <a:t>of JSON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74920" y="3749039"/>
            <a:ext cx="1371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600" b="1" i="0">
                <a:solidFill>
                  <a:srgbClr val="2F5D46"/>
                </a:solidFill>
                <a:latin typeface="Consolas"/>
              </a:rPr>
              <a:t>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74920" y="4279392"/>
            <a:ext cx="1371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5C625A"/>
                </a:solidFill>
                <a:latin typeface="Segoe UI"/>
              </a:rPr>
              <a:t>ML dependencies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4983480"/>
            <a:ext cx="5120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400" b="0" i="0">
                <a:solidFill>
                  <a:srgbClr val="5C625A"/>
                </a:solidFill>
                <a:latin typeface="Segoe UI"/>
              </a:rPr>
              <a:t>The model exports to JSON: tree arrays, encoder maps, feature order, and a 24-point price history per series. The deployed function ships none of the Python stack.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7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 i="0" spc="200">
                <a:solidFill>
                  <a:srgbClr val="5C625A"/>
                </a:solidFill>
                <a:latin typeface="Consolas"/>
              </a:rPr>
              <a:t>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32688"/>
            <a:ext cx="1054577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600" b="1" i="0">
                <a:solidFill>
                  <a:srgbClr val="191E19"/>
                </a:solidFill>
                <a:latin typeface="Georgia"/>
              </a:rPr>
              <a:t>Two languages,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99616"/>
            <a:ext cx="1054577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600" b="0" i="1">
                <a:solidFill>
                  <a:srgbClr val="2F5D46"/>
                </a:solidFill>
                <a:latin typeface="Georgia"/>
              </a:rPr>
              <a:t>one number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345936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950" b="0" i="0" spc="100">
                <a:solidFill>
                  <a:srgbClr val="5C625A"/>
                </a:solidFill>
                <a:latin typeface="Consolas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94560"/>
            <a:ext cx="5029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550" b="0" i="0">
                <a:solidFill>
                  <a:srgbClr val="191E19"/>
                </a:solidFill>
                <a:latin typeface="Segoe UI"/>
              </a:rPr>
              <a:t>A port is only worth anything if it agrees with the original. The test suite pins the TypeScript traversal to the Python model's own answer for a known series — a wrong feature order or a flipped comparison changes that number, and nothing else would catch it.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2148840"/>
            <a:ext cx="5029200" cy="3703320"/>
          </a:xfrm>
          <a:prstGeom prst="rect">
            <a:avLst/>
          </a:prstGeom>
          <a:solidFill>
            <a:srgbClr val="FCFBF7"/>
          </a:solidFill>
          <a:ln w="12700">
            <a:solidFill>
              <a:srgbClr val="DCD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9360" y="2148840"/>
            <a:ext cx="45720" cy="3703320"/>
          </a:xfrm>
          <a:prstGeom prst="rect">
            <a:avLst/>
          </a:prstGeom>
          <a:solidFill>
            <a:srgbClr val="2F5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2450592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0" i="0" spc="160">
                <a:solidFill>
                  <a:srgbClr val="5C625A"/>
                </a:solidFill>
                <a:latin typeface="Consolas"/>
              </a:rPr>
              <a:t>REFERENCE 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83464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 i="0">
                <a:solidFill>
                  <a:srgbClr val="5C625A"/>
                </a:solidFill>
                <a:latin typeface="Consolas"/>
              </a:rPr>
              <a:t>commodity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2440" y="283464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 i="0">
                <a:solidFill>
                  <a:srgbClr val="191E19"/>
                </a:solidFill>
                <a:latin typeface="Segoe UI"/>
              </a:rPr>
              <a:t>Rice (mixed, low quality)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329184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 i="0">
                <a:solidFill>
                  <a:srgbClr val="5C625A"/>
                </a:solidFill>
                <a:latin typeface="Consolas"/>
              </a:rPr>
              <a:t>market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2440" y="329184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 i="0">
                <a:solidFill>
                  <a:srgbClr val="191E19"/>
                </a:solidFill>
                <a:latin typeface="Segoe UI"/>
              </a:rPr>
              <a:t>Phnom Penh  ·  Wholesale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374904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 i="0">
                <a:solidFill>
                  <a:srgbClr val="5C625A"/>
                </a:solidFill>
                <a:latin typeface="Consolas"/>
              </a:rPr>
              <a:t>last recorded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40" y="374904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 i="0">
                <a:solidFill>
                  <a:srgbClr val="191E19"/>
                </a:solidFill>
                <a:latin typeface="Segoe UI"/>
              </a:rPr>
              <a:t>2022-06  ·  $0.44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675120" y="4251960"/>
            <a:ext cx="4297680" cy="0"/>
          </a:xfrm>
          <a:prstGeom prst="line">
            <a:avLst/>
          </a:prstGeom>
          <a:ln w="12700">
            <a:solidFill>
              <a:srgbClr val="DCD9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675120" y="446227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 i="0">
                <a:solidFill>
                  <a:srgbClr val="5C625A"/>
                </a:solidFill>
                <a:latin typeface="Consolas"/>
              </a:rPr>
              <a:t>python  xgboost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4407408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900" b="0" i="0">
                <a:solidFill>
                  <a:srgbClr val="5C625A"/>
                </a:solidFill>
                <a:latin typeface="Consolas"/>
              </a:rPr>
              <a:t>0.460955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4992624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 i="0">
                <a:solidFill>
                  <a:srgbClr val="5C625A"/>
                </a:solidFill>
                <a:latin typeface="Consolas"/>
              </a:rPr>
              <a:t>typescript  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0" y="4937760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900" b="1" i="0">
                <a:solidFill>
                  <a:srgbClr val="2F5D46"/>
                </a:solidFill>
                <a:latin typeface="Consolas"/>
              </a:rPr>
              <a:t>0.4609556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5568696"/>
            <a:ext cx="4297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 i="0">
                <a:solidFill>
                  <a:srgbClr val="2F5D46"/>
                </a:solidFill>
                <a:latin typeface="Consolas"/>
              </a:rPr>
              <a:t>agree to 1e-5  ·  asserted on every test run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343400"/>
            <a:ext cx="5029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400" b="0" i="0">
                <a:solidFill>
                  <a:srgbClr val="5C625A"/>
                </a:solidFill>
                <a:latin typeface="Segoe UI"/>
              </a:rPr>
              <a:t>19 tests cover the traversal, the fuzzy matching, the commodity/market splitter and every failure path.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7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 i="0" spc="200">
                <a:solidFill>
                  <a:srgbClr val="5C625A"/>
                </a:solidFill>
                <a:latin typeface="Consolas"/>
              </a:rPr>
              <a:t>THE 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32688"/>
            <a:ext cx="1054577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600" b="1" i="0">
                <a:solidFill>
                  <a:srgbClr val="191E19"/>
                </a:solidFill>
                <a:latin typeface="Georgia"/>
              </a:rPr>
              <a:t>It runs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99616"/>
            <a:ext cx="1054577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600" b="0" i="1">
                <a:solidFill>
                  <a:srgbClr val="2F5D46"/>
                </a:solidFill>
                <a:latin typeface="Georgia"/>
              </a:rPr>
              <a:t>in a browser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345936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950" b="0" i="0" spc="100">
                <a:solidFill>
                  <a:srgbClr val="5C625A"/>
                </a:solidFill>
                <a:latin typeface="Consolas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94560"/>
            <a:ext cx="51206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550" b="0" i="0">
                <a:solidFill>
                  <a:srgbClr val="191E19"/>
                </a:solidFill>
                <a:latin typeface="Segoe UI"/>
              </a:rPr>
              <a:t>Nuxt 4 on Vercel. The default forecast is server-rendered, so the chart is on screen at first paint — no spinner, no empty state.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383280"/>
            <a:ext cx="5029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1" i="0">
                <a:solidFill>
                  <a:srgbClr val="191E19"/>
                </a:solidFill>
                <a:latin typeface="Segoe UI"/>
              </a:rPr>
              <a:t>Dependent dropdowns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630168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 i="0">
                <a:solidFill>
                  <a:srgbClr val="5C625A"/>
                </a:solidFill>
                <a:latin typeface="Segoe UI"/>
              </a:rPr>
              <a:t>picking a commodity narrows the markets to those that carry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096512"/>
            <a:ext cx="5029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1" i="0">
                <a:solidFill>
                  <a:srgbClr val="191E19"/>
                </a:solidFill>
                <a:latin typeface="Segoe UI"/>
              </a:rPr>
              <a:t>Fuzzy 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34340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 i="0">
                <a:solidFill>
                  <a:srgbClr val="5C625A"/>
                </a:solidFill>
                <a:latin typeface="Segoe UI"/>
              </a:rPr>
              <a:t>"rice" resolves to Rice (mixed, low quality) — shortest match wins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809744"/>
            <a:ext cx="5029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1" i="0">
                <a:solidFill>
                  <a:srgbClr val="191E19"/>
                </a:solidFill>
                <a:latin typeface="Segoe UI"/>
              </a:rPr>
              <a:t>Cached at the edge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056632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 i="0">
                <a:solidFill>
                  <a:srgbClr val="5C625A"/>
                </a:solidFill>
                <a:latin typeface="Segoe UI"/>
              </a:rPr>
              <a:t>options for a day, forecasts for an hour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522976"/>
            <a:ext cx="5029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1" i="0">
                <a:solidFill>
                  <a:srgbClr val="191E19"/>
                </a:solidFill>
                <a:latin typeface="Segoe UI"/>
              </a:rPr>
              <a:t>Responsive to 390px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769864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 i="0">
                <a:solidFill>
                  <a:srgbClr val="5C625A"/>
                </a:solidFill>
                <a:latin typeface="Segoe UI"/>
              </a:rPr>
              <a:t>the chart switches to a narrower viewBox, not smaller type</a:t>
            </a:r>
          </a:p>
        </p:txBody>
      </p:sp>
      <p:pic>
        <p:nvPicPr>
          <p:cNvPr id="16" name="Picture 15" descr="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457200"/>
            <a:ext cx="5273269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7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 i="0" spc="200">
                <a:solidFill>
                  <a:srgbClr val="5C625A"/>
                </a:solidFill>
                <a:latin typeface="Consolas"/>
              </a:rPr>
              <a:t>DESIGN DECISION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32688"/>
            <a:ext cx="1054577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600" b="1" i="0">
                <a:solidFill>
                  <a:srgbClr val="191E19"/>
                </a:solidFill>
                <a:latin typeface="Georgia"/>
              </a:rPr>
              <a:t>Where the record ends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99616"/>
            <a:ext cx="1054577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600" b="0" i="1">
                <a:solidFill>
                  <a:srgbClr val="2F5D46"/>
                </a:solidFill>
                <a:latin typeface="Georgia"/>
              </a:rPr>
              <a:t>must be unmistakable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345936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950" b="0" i="0" spc="100">
                <a:solidFill>
                  <a:srgbClr val="5C625A"/>
                </a:solidFill>
                <a:latin typeface="Consolas"/>
              </a:rPr>
              <a:t>12</a:t>
            </a:r>
          </a:p>
        </p:txBody>
      </p:sp>
      <p:pic>
        <p:nvPicPr>
          <p:cNvPr id="7" name="Picture 6" descr="chart_c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194560"/>
            <a:ext cx="6675120" cy="328724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955279" y="2194560"/>
            <a:ext cx="338328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450" b="0" i="0">
                <a:solidFill>
                  <a:srgbClr val="191E19"/>
                </a:solidFill>
                <a:latin typeface="Segoe UI"/>
              </a:rPr>
              <a:t>A charting library would draw the forecast as the next point on the same line. That is a lie of omission: it renders a model estimate with exactly the same authority as a recorded observation.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7955279" y="3950208"/>
            <a:ext cx="146304" cy="146304"/>
          </a:xfrm>
          <a:prstGeom prst="rect">
            <a:avLst/>
          </a:prstGeom>
          <a:solidFill>
            <a:srgbClr val="2F5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3886200"/>
            <a:ext cx="3108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1" i="0">
                <a:solidFill>
                  <a:srgbClr val="191E19"/>
                </a:solidFill>
                <a:latin typeface="Segoe UI"/>
              </a:rPr>
              <a:t>Solid green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4114800"/>
            <a:ext cx="3108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 i="0">
                <a:solidFill>
                  <a:srgbClr val="5C625A"/>
                </a:solidFill>
                <a:latin typeface="Segoe UI"/>
              </a:rPr>
              <a:t>prices actually recorded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55279" y="4498848"/>
            <a:ext cx="146304" cy="146304"/>
          </a:xfrm>
          <a:prstGeom prst="rect">
            <a:avLst/>
          </a:prstGeom>
          <a:solidFill>
            <a:srgbClr val="A06D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4434840"/>
            <a:ext cx="3108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1" i="0">
                <a:solidFill>
                  <a:srgbClr val="191E19"/>
                </a:solidFill>
                <a:latin typeface="Segoe UI"/>
              </a:rPr>
              <a:t>Dashed amber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4663440"/>
            <a:ext cx="3108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 i="0">
                <a:solidFill>
                  <a:srgbClr val="5C625A"/>
                </a:solidFill>
                <a:latin typeface="Segoe UI"/>
              </a:rPr>
              <a:t>the model's estimate, rising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55279" y="5047488"/>
            <a:ext cx="146304" cy="146304"/>
          </a:xfrm>
          <a:prstGeom prst="rect">
            <a:avLst/>
          </a:prstGeom>
          <a:solidFill>
            <a:srgbClr val="6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4983480"/>
            <a:ext cx="3108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1" i="0">
                <a:solidFill>
                  <a:srgbClr val="191E19"/>
                </a:solidFill>
                <a:latin typeface="Segoe UI"/>
              </a:rPr>
              <a:t>Dashed 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5212080"/>
            <a:ext cx="3108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 i="0">
                <a:solidFill>
                  <a:srgbClr val="5C625A"/>
                </a:solidFill>
                <a:latin typeface="Segoe UI"/>
              </a:rPr>
              <a:t>the model's estimate, falling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55279" y="5596128"/>
            <a:ext cx="146304" cy="146304"/>
          </a:xfrm>
          <a:prstGeom prst="rect">
            <a:avLst/>
          </a:prstGeom>
          <a:solidFill>
            <a:srgbClr val="5C62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5532120"/>
            <a:ext cx="3108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1" i="0">
                <a:solidFill>
                  <a:srgbClr val="191E19"/>
                </a:solidFill>
                <a:latin typeface="Segoe UI"/>
              </a:rPr>
              <a:t>Hollow ring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5760720"/>
            <a:ext cx="3108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 i="0">
                <a:solidFill>
                  <a:srgbClr val="5C625A"/>
                </a:solidFill>
                <a:latin typeface="Segoe UI"/>
              </a:rPr>
              <a:t>not an observation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6199632"/>
            <a:ext cx="96313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50" b="0" i="0" spc="60">
                <a:solidFill>
                  <a:srgbClr val="5C625A"/>
                </a:solidFill>
                <a:latin typeface="Consolas"/>
              </a:rPr>
              <a:t>Hand-rolled SVG — about 200 lines, no charting library.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7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 i="0" spc="200">
                <a:solidFill>
                  <a:srgbClr val="5C625A"/>
                </a:solidFill>
                <a:latin typeface="Consolas"/>
              </a:rPr>
              <a:t>FORECAST HORIZON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32688"/>
            <a:ext cx="1054577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600" b="1" i="0">
                <a:solidFill>
                  <a:srgbClr val="191E19"/>
                </a:solidFill>
                <a:latin typeface="Georgia"/>
              </a:rPr>
              <a:t>One period past the record,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99616"/>
            <a:ext cx="1054577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600" b="0" i="1">
                <a:solidFill>
                  <a:srgbClr val="2F5D46"/>
                </a:solidFill>
                <a:latin typeface="Georgia"/>
              </a:rPr>
              <a:t>not one month past today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345936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950" b="0" i="0" spc="100">
                <a:solidFill>
                  <a:srgbClr val="5C625A"/>
                </a:solidFill>
                <a:latin typeface="Consolas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40280"/>
            <a:ext cx="51206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600" b="0" i="0">
                <a:solidFill>
                  <a:srgbClr val="191E19"/>
                </a:solidFill>
                <a:latin typeface="Segoe UI"/>
              </a:rPr>
              <a:t>The model forecasts one reporting period past each series' own last observation — not one month past today. Series stopped reporting at very different times, so that date differs for every commodity and market.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79476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 i="0" spc="160">
                <a:solidFill>
                  <a:srgbClr val="5C625A"/>
                </a:solidFill>
                <a:latin typeface="Consolas"/>
              </a:rPr>
              <a:t>LAST OBSERVATION ACROSS 3,442 SERVED SERIES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4160520"/>
            <a:ext cx="957782" cy="201168"/>
          </a:xfrm>
          <a:prstGeom prst="rect">
            <a:avLst/>
          </a:prstGeom>
          <a:solidFill>
            <a:srgbClr val="2F5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72182" y="4133088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1" i="0">
                <a:solidFill>
                  <a:srgbClr val="2F5D46"/>
                </a:solidFill>
                <a:latin typeface="Consolas"/>
              </a:rPr>
              <a:t>34%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398264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 i="0">
                <a:solidFill>
                  <a:srgbClr val="5C625A"/>
                </a:solidFill>
                <a:latin typeface="Segoe UI"/>
              </a:rPr>
              <a:t>2026-03 — still reporting  ·  1,163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818888"/>
            <a:ext cx="286593" cy="201168"/>
          </a:xfrm>
          <a:prstGeom prst="rect">
            <a:avLst/>
          </a:prstGeom>
          <a:solidFill>
            <a:srgbClr val="A06D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00993" y="4791456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1" i="0">
                <a:solidFill>
                  <a:srgbClr val="A06D05"/>
                </a:solidFill>
                <a:latin typeface="Consolas"/>
              </a:rPr>
              <a:t>10%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056632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 i="0">
                <a:solidFill>
                  <a:srgbClr val="5C625A"/>
                </a:solidFill>
                <a:latin typeface="Segoe UI"/>
              </a:rPr>
              <a:t>2025 — recently stopped  ·  348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5477256"/>
            <a:ext cx="1590264" cy="201168"/>
          </a:xfrm>
          <a:prstGeom prst="rect">
            <a:avLst/>
          </a:prstGeom>
          <a:solidFill>
            <a:srgbClr val="6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04664" y="544982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1" i="0">
                <a:solidFill>
                  <a:srgbClr val="6B2545"/>
                </a:solidFill>
                <a:latin typeface="Consolas"/>
              </a:rPr>
              <a:t>56%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71500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 i="0">
                <a:solidFill>
                  <a:srgbClr val="5C625A"/>
                </a:solidFill>
                <a:latin typeface="Segoe UI"/>
              </a:rPr>
              <a:t>2024 or earlier — stale  ·  1,931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36792" y="2194560"/>
            <a:ext cx="5029200" cy="3611880"/>
          </a:xfrm>
          <a:prstGeom prst="rect">
            <a:avLst/>
          </a:prstGeom>
          <a:solidFill>
            <a:srgbClr val="FCFBF7"/>
          </a:solidFill>
          <a:ln w="12700">
            <a:solidFill>
              <a:srgbClr val="DCD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36792" y="2194560"/>
            <a:ext cx="45720" cy="3611880"/>
          </a:xfrm>
          <a:prstGeom prst="rect">
            <a:avLst/>
          </a:prstGeom>
          <a:solidFill>
            <a:srgbClr val="2F5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02552" y="2487168"/>
            <a:ext cx="4297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 i="0" spc="160">
                <a:solidFill>
                  <a:srgbClr val="2F5D46"/>
                </a:solidFill>
                <a:latin typeface="Consolas"/>
              </a:rPr>
              <a:t>SO IS IT ACTUALLY FORECASTING?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02552" y="2926080"/>
            <a:ext cx="4297680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1200"/>
              </a:spcAft>
            </a:pPr>
            <a:r>
              <a:rPr sz="1900" b="1" i="0">
                <a:solidFill>
                  <a:srgbClr val="191E19"/>
                </a:solidFill>
                <a:latin typeface="Georgia"/>
              </a:rPr>
              <a:t>Yes — and that is what the test period measures.</a:t>
            </a:r>
          </a:p>
          <a:p>
            <a:pPr algn="l">
              <a:lnSpc>
                <a:spcPct val="140000"/>
              </a:lnSpc>
              <a:spcAft>
                <a:spcPts val="1200"/>
              </a:spcAft>
            </a:pPr>
            <a:r>
              <a:rPr sz="1350" b="0" i="0">
                <a:solidFill>
                  <a:srgbClr val="5C625A"/>
                </a:solidFill>
                <a:latin typeface="Segoe UI"/>
              </a:rPr>
              <a:t>Training stopped at 2025-04-15; all 9,776 test rows fall after it. The model was scored on dates it had never seen — a real out-of-sample forecast.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50" b="0" i="0">
                <a:solidFill>
                  <a:srgbClr val="5C625A"/>
                </a:solidFill>
                <a:latin typeface="Segoe UI"/>
              </a:rPr>
              <a:t>What it cannot do is forecast today from a series that went quiet in 2022 — and the app prints the real date rather than hiding it.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6199632"/>
            <a:ext cx="96313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50" b="0" i="0" spc="60">
                <a:solidFill>
                  <a:srgbClr val="5C625A"/>
                </a:solidFill>
                <a:latin typeface="Consolas"/>
              </a:rPr>
              <a:t>Rice at Phnom Penh, wholesale: last recorded June 2022, so the app labels its forecast July 2022 — not next month.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7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 i="0" spc="200">
                <a:solidFill>
                  <a:srgbClr val="5C625A"/>
                </a:solidFill>
                <a:latin typeface="Consolas"/>
              </a:rPr>
              <a:t>SECOND SURFACE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32688"/>
            <a:ext cx="1054577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600" b="1" i="0">
                <a:solidFill>
                  <a:srgbClr val="191E19"/>
                </a:solidFill>
                <a:latin typeface="Georgia"/>
              </a:rPr>
              <a:t>The same engine,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99616"/>
            <a:ext cx="1054577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600" b="0" i="1">
                <a:solidFill>
                  <a:srgbClr val="2F5D46"/>
                </a:solidFill>
                <a:latin typeface="Georgia"/>
              </a:rPr>
              <a:t>in a chat window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345936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950" b="0" i="0" spc="100">
                <a:solidFill>
                  <a:srgbClr val="5C625A"/>
                </a:solidFill>
                <a:latin typeface="Consolas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94560"/>
            <a:ext cx="5394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550" b="0" i="0">
                <a:solidFill>
                  <a:srgbClr val="191E19"/>
                </a:solidFill>
                <a:latin typeface="Segoe UI"/>
              </a:rPr>
              <a:t>One prediction engine, two front doors. The bot shares the exact code the web app calls — a Telegram update in, a formatted forecast out.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520440"/>
            <a:ext cx="53035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1" i="0">
                <a:solidFill>
                  <a:srgbClr val="191E19"/>
                </a:solidFill>
                <a:latin typeface="Segoe UI"/>
              </a:rPr>
              <a:t>Reply in the response body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67328"/>
            <a:ext cx="5212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 i="0">
                <a:solidFill>
                  <a:srgbClr val="5C625A"/>
                </a:solidFill>
                <a:latin typeface="Segoe UI"/>
              </a:rPr>
              <a:t>the webhook returns the sendMessage call itself — no outbound request, and the bot token never reaches Vercel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361688"/>
            <a:ext cx="53035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1" i="0">
                <a:solidFill>
                  <a:srgbClr val="191E19"/>
                </a:solidFill>
                <a:latin typeface="Segoe UI"/>
              </a:rPr>
              <a:t>Always HTTP 200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608576"/>
            <a:ext cx="5212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 i="0">
                <a:solidFill>
                  <a:srgbClr val="5C625A"/>
                </a:solidFill>
                <a:latin typeface="Segoe UI"/>
              </a:rPr>
              <a:t>a non-2xx makes Telegram retry the same update forever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202936"/>
            <a:ext cx="53035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1" i="0">
                <a:solidFill>
                  <a:srgbClr val="191E19"/>
                </a:solidFill>
                <a:latin typeface="Segoe UI"/>
              </a:rPr>
              <a:t>Sparkline in Unicode blocks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449824"/>
            <a:ext cx="5212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 i="0">
                <a:solidFill>
                  <a:srgbClr val="5C625A"/>
                </a:solidFill>
                <a:latin typeface="Segoe UI"/>
              </a:rPr>
              <a:t>the only chart a chat window can render inline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66560" y="2148840"/>
            <a:ext cx="4572000" cy="3657600"/>
          </a:xfrm>
          <a:prstGeom prst="rect">
            <a:avLst/>
          </a:prstGeom>
          <a:solidFill>
            <a:srgbClr val="FCFBF7"/>
          </a:solidFill>
          <a:ln w="12700">
            <a:solidFill>
              <a:srgbClr val="DCD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766560" y="2148840"/>
            <a:ext cx="45720" cy="3657600"/>
          </a:xfrm>
          <a:prstGeom prst="rect">
            <a:avLst/>
          </a:prstGeom>
          <a:solidFill>
            <a:srgbClr val="2F5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86600" y="2468880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1" i="0">
                <a:solidFill>
                  <a:srgbClr val="2F5D46"/>
                </a:solidFill>
                <a:latin typeface="Consolas"/>
              </a:rPr>
              <a:t>/predict rice phnom penh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086600" y="2816352"/>
            <a:ext cx="3931920" cy="0"/>
          </a:xfrm>
          <a:prstGeom prst="line">
            <a:avLst/>
          </a:prstGeom>
          <a:ln w="12700">
            <a:solidFill>
              <a:srgbClr val="DCD9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086600" y="2971800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1" i="0">
                <a:solidFill>
                  <a:srgbClr val="191E19"/>
                </a:solidFill>
                <a:latin typeface="Consolas"/>
              </a:rPr>
              <a:t>Rice (mixed, low quality)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86600" y="3309619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5C625A"/>
                </a:solidFill>
                <a:latin typeface="Consolas"/>
              </a:rPr>
              <a:t>Phnom Penh, Phnom Penh · Wholesale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86600" y="3731894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191E19"/>
                </a:solidFill>
                <a:latin typeface="Consolas"/>
              </a:rPr>
              <a:t>Last recorded (2022-06): $0.440 / KG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4009389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191E19"/>
                </a:solidFill>
                <a:latin typeface="Consolas"/>
              </a:rPr>
              <a:t>Next period forecast: $0.461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86600" y="4286884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1" i="0">
                <a:solidFill>
                  <a:srgbClr val="A06D05"/>
                </a:solidFill>
                <a:latin typeface="Consolas"/>
              </a:rPr>
              <a:t>▲ +4.8%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86600" y="4733289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 i="0">
                <a:solidFill>
                  <a:srgbClr val="2F5D46"/>
                </a:solidFill>
                <a:latin typeface="Consolas"/>
              </a:rPr>
              <a:t>▁▃▁▁▁▁▂▂▂▁▂▂▁▇▇▇▁▇▁▇▇▇█▇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86600" y="5046979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 i="0">
                <a:solidFill>
                  <a:srgbClr val="5C625A"/>
                </a:solidFill>
                <a:latin typeface="Consolas"/>
              </a:rPr>
              <a:t>2020-05 → 2022-06, 24 observations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7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 i="0" spc="200">
                <a:solidFill>
                  <a:srgbClr val="5C625A"/>
                </a:solidFill>
                <a:latin typeface="Consolas"/>
              </a:rPr>
              <a:t>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32688"/>
            <a:ext cx="1054577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600" b="1" i="0">
                <a:solidFill>
                  <a:srgbClr val="191E19"/>
                </a:solidFill>
                <a:latin typeface="Georgia"/>
              </a:rPr>
              <a:t>What this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99616"/>
            <a:ext cx="1054577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600" b="0" i="1">
                <a:solidFill>
                  <a:srgbClr val="2F5D46"/>
                </a:solidFill>
                <a:latin typeface="Georgia"/>
              </a:rPr>
              <a:t>cannot 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345936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950" b="0" i="0" spc="100">
                <a:solidFill>
                  <a:srgbClr val="5C625A"/>
                </a:solidFill>
                <a:latin typeface="Consolas"/>
              </a:rPr>
              <a:t>15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340864"/>
            <a:ext cx="45720" cy="548640"/>
          </a:xfrm>
          <a:prstGeom prst="rect">
            <a:avLst/>
          </a:prstGeom>
          <a:solidFill>
            <a:srgbClr val="6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28600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50" b="1" i="0">
                <a:solidFill>
                  <a:srgbClr val="191E19"/>
                </a:solidFill>
                <a:latin typeface="Segoe UI"/>
              </a:rPr>
              <a:t>One period ahead, and no further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587752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50" b="0" i="0">
                <a:solidFill>
                  <a:srgbClr val="5C625A"/>
                </a:solidFill>
                <a:latin typeface="Segoe UI"/>
              </a:rPr>
              <a:t>Every feature is a recent price. Feed the model its own output and error compounds fast — there is no multi-step forecast here.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364992"/>
            <a:ext cx="45720" cy="548640"/>
          </a:xfrm>
          <a:prstGeom prst="rect">
            <a:avLst/>
          </a:prstGeom>
          <a:solidFill>
            <a:srgbClr val="6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31012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50" b="1" i="0">
                <a:solidFill>
                  <a:srgbClr val="191E19"/>
                </a:solidFill>
                <a:latin typeface="Segoe UI"/>
              </a:rPr>
              <a:t>It cannot see shocks coming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611880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50" b="0" i="0">
                <a:solidFill>
                  <a:srgbClr val="5C625A"/>
                </a:solidFill>
                <a:latin typeface="Segoe UI"/>
              </a:rPr>
              <a:t>Fuel costs, export bans, floods, festival demand. None are in the feature set, and they are exactly what moves prices sharply.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4389120"/>
            <a:ext cx="45720" cy="548640"/>
          </a:xfrm>
          <a:prstGeom prst="rect">
            <a:avLst/>
          </a:prstGeom>
          <a:solidFill>
            <a:srgbClr val="6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4334256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50" b="1" i="0">
                <a:solidFill>
                  <a:srgbClr val="191E19"/>
                </a:solidFill>
                <a:latin typeface="Segoe UI"/>
              </a:rPr>
              <a:t>Stale series forecast from stale prices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636008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50" b="0" i="0">
                <a:solidFill>
                  <a:srgbClr val="5C625A"/>
                </a:solidFill>
                <a:latin typeface="Segoe UI"/>
              </a:rPr>
              <a:t>A series last reported in 2022 gets a 2022-shaped answer. Honest, but not useful for today.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5413248"/>
            <a:ext cx="45720" cy="548640"/>
          </a:xfrm>
          <a:prstGeom prst="rect">
            <a:avLst/>
          </a:prstGeom>
          <a:solidFill>
            <a:srgbClr val="6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5358384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50" b="1" i="0">
                <a:solidFill>
                  <a:srgbClr val="191E19"/>
                </a:solidFill>
                <a:latin typeface="Segoe UI"/>
              </a:rPr>
              <a:t>No uncertainty interval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5660136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50" b="0" i="0">
                <a:solidFill>
                  <a:srgbClr val="5C625A"/>
                </a:solidFill>
                <a:latin typeface="Segoe UI"/>
              </a:rPr>
              <a:t>A single number, not a range. The dashed line signals doubt visually, but does not quantify it.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7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 i="0" spc="200">
                <a:solidFill>
                  <a:srgbClr val="5C625A"/>
                </a:solidFill>
                <a:latin typeface="Consolas"/>
              </a:rPr>
              <a:t>IF I KEPT GOING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32688"/>
            <a:ext cx="1054577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600" b="1" i="0">
                <a:solidFill>
                  <a:srgbClr val="191E19"/>
                </a:solidFill>
                <a:latin typeface="Georgia"/>
              </a:rPr>
              <a:t>Three things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99616"/>
            <a:ext cx="1054577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600" b="0" i="1">
                <a:solidFill>
                  <a:srgbClr val="2F5D46"/>
                </a:solidFill>
                <a:latin typeface="Georgia"/>
              </a:rPr>
              <a:t>I would add next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345936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950" b="0" i="0" spc="100">
                <a:solidFill>
                  <a:srgbClr val="5C625A"/>
                </a:solidFill>
                <a:latin typeface="Consolas"/>
              </a:rPr>
              <a:t>16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286000"/>
            <a:ext cx="3291840" cy="2926080"/>
          </a:xfrm>
          <a:prstGeom prst="rect">
            <a:avLst/>
          </a:prstGeom>
          <a:solidFill>
            <a:srgbClr val="FCFBF7"/>
          </a:solidFill>
          <a:ln w="12700">
            <a:solidFill>
              <a:srgbClr val="DCD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286000"/>
            <a:ext cx="45720" cy="2926080"/>
          </a:xfrm>
          <a:prstGeom prst="rect">
            <a:avLst/>
          </a:prstGeom>
          <a:solidFill>
            <a:srgbClr val="2F5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2651760"/>
            <a:ext cx="2651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1" i="0">
                <a:solidFill>
                  <a:srgbClr val="191E19"/>
                </a:solidFill>
                <a:latin typeface="Georgia"/>
              </a:rPr>
              <a:t>Prediction intervals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520440"/>
            <a:ext cx="26060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350" b="0" i="0">
                <a:solidFill>
                  <a:srgbClr val="5C625A"/>
                </a:solidFill>
                <a:latin typeface="Segoe UI"/>
              </a:rPr>
              <a:t>Quantile regression at 10/90 to turn the dashed line into a shaded band — the honest version of the same signal.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3400" y="2286000"/>
            <a:ext cx="3291840" cy="2926080"/>
          </a:xfrm>
          <a:prstGeom prst="rect">
            <a:avLst/>
          </a:prstGeom>
          <a:solidFill>
            <a:srgbClr val="FCFBF7"/>
          </a:solidFill>
          <a:ln w="12700">
            <a:solidFill>
              <a:srgbClr val="DCD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2286000"/>
            <a:ext cx="45720" cy="2926080"/>
          </a:xfrm>
          <a:prstGeom prst="rect">
            <a:avLst/>
          </a:prstGeom>
          <a:solidFill>
            <a:srgbClr val="2F5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09160" y="2651760"/>
            <a:ext cx="2651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1" i="0">
                <a:solidFill>
                  <a:srgbClr val="191E19"/>
                </a:solidFill>
                <a:latin typeface="Georgia"/>
              </a:rPr>
              <a:t>Exogenous features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3520440"/>
            <a:ext cx="26060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350" b="0" i="0">
                <a:solidFill>
                  <a:srgbClr val="5C625A"/>
                </a:solidFill>
                <a:latin typeface="Segoe UI"/>
              </a:rPr>
              <a:t>Fuel price, rainfall, and the lunar calendar for festival demand. The categorical features contribute two percent; these might not.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63840" y="2286000"/>
            <a:ext cx="3291840" cy="2926080"/>
          </a:xfrm>
          <a:prstGeom prst="rect">
            <a:avLst/>
          </a:prstGeom>
          <a:solidFill>
            <a:srgbClr val="FCFBF7"/>
          </a:solidFill>
          <a:ln w="12700">
            <a:solidFill>
              <a:srgbClr val="DCD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863840" y="2286000"/>
            <a:ext cx="45720" cy="2926080"/>
          </a:xfrm>
          <a:prstGeom prst="rect">
            <a:avLst/>
          </a:prstGeom>
          <a:solidFill>
            <a:srgbClr val="2F5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2651760"/>
            <a:ext cx="2651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1" i="0">
                <a:solidFill>
                  <a:srgbClr val="191E19"/>
                </a:solidFill>
                <a:latin typeface="Georgia"/>
              </a:rPr>
              <a:t>Retraining on a schedule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3520440"/>
            <a:ext cx="26060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350" b="0" i="0">
                <a:solidFill>
                  <a:srgbClr val="5C625A"/>
                </a:solidFill>
                <a:latin typeface="Segoe UI"/>
              </a:rPr>
              <a:t>The export script already runs headless. A monthly job against the live HDX feed would keep every series current.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7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 i="0" spc="260">
                <a:solidFill>
                  <a:srgbClr val="2F5D46"/>
                </a:solidFill>
                <a:latin typeface="Consolas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65960"/>
            <a:ext cx="1054577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0" b="1" i="0">
                <a:solidFill>
                  <a:srgbClr val="191E19"/>
                </a:solidFill>
                <a:latin typeface="Georgia"/>
              </a:rPr>
              <a:t>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88920"/>
            <a:ext cx="1054577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0" b="0" i="1">
                <a:solidFill>
                  <a:srgbClr val="2F5D46"/>
                </a:solidFill>
                <a:latin typeface="Georgia"/>
              </a:rPr>
              <a:t>welcome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023360"/>
            <a:ext cx="2926080" cy="0"/>
          </a:xfrm>
          <a:prstGeom prst="line">
            <a:avLst/>
          </a:prstGeom>
          <a:ln w="19050">
            <a:solidFill>
              <a:srgbClr val="4D80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22960" y="438912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 i="0" spc="140">
                <a:solidFill>
                  <a:srgbClr val="5C625A"/>
                </a:solidFill>
                <a:latin typeface="Consolas"/>
              </a:rPr>
              <a:t>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36168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 i="0">
                <a:solidFill>
                  <a:srgbClr val="191E19"/>
                </a:solidFill>
                <a:latin typeface="Segoe UI"/>
              </a:rPr>
              <a:t>WFP Global Food Prices — Cambodia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80060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 i="0" spc="140">
                <a:solidFill>
                  <a:srgbClr val="5C625A"/>
                </a:solidFill>
                <a:latin typeface="Consolas"/>
              </a:rPr>
              <a:t>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477316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 i="0">
                <a:solidFill>
                  <a:srgbClr val="191E19"/>
                </a:solidFill>
                <a:latin typeface="Segoe UI"/>
              </a:rPr>
              <a:t>XGBoost · 400 trees · scikit-learn pipeline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21208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 i="0" spc="140">
                <a:solidFill>
                  <a:srgbClr val="5C625A"/>
                </a:solidFill>
                <a:latin typeface="Consolas"/>
              </a:rPr>
              <a:t>RUNTIME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7440" y="518464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 i="0">
                <a:solidFill>
                  <a:srgbClr val="191E19"/>
                </a:solidFill>
                <a:latin typeface="Segoe UI"/>
              </a:rPr>
              <a:t>Nuxt 4 · Nitro · TypeScript tree traversal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62356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 i="0" spc="140">
                <a:solidFill>
                  <a:srgbClr val="5C625A"/>
                </a:solidFill>
                <a:latin typeface="Consolas"/>
              </a:rPr>
              <a:t>SURFACES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7440" y="559612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 i="0">
                <a:solidFill>
                  <a:srgbClr val="191E19"/>
                </a:solidFill>
                <a:latin typeface="Segoe UI"/>
              </a:rPr>
              <a:t>Web app · Telegram bot · one shared engine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